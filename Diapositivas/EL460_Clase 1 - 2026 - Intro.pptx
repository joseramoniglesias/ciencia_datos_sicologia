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17"/>
  </p:notesMasterIdLst>
  <p:sldIdLst>
    <p:sldId id="282"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Lst>
  <p:sldSz cx="9144000" cy="5143500" type="screen16x9"/>
  <p:notesSz cx="6858000" cy="9144000"/>
  <p:embeddedFontLst>
    <p:embeddedFont>
      <p:font typeface="Economica" panose="020B0604020202020204" charset="0"/>
      <p:regular r:id="rId18"/>
      <p:bold r:id="rId19"/>
      <p:italic r:id="rId20"/>
      <p:boldItalic r:id="rId21"/>
    </p:embeddedFont>
    <p:embeddedFont>
      <p:font typeface="Georgia" panose="02040502050405020303" pitchFamily="18" charset="0"/>
      <p:regular r:id="rId22"/>
      <p:bold r:id="rId23"/>
      <p:italic r:id="rId24"/>
      <p:boldItalic r:id="rId25"/>
    </p:embeddedFont>
    <p:embeddedFont>
      <p:font typeface="Gill Sans MT" panose="020B0502020104020203" pitchFamily="34" charset="0"/>
      <p:regular r:id="rId26"/>
      <p:bold r:id="rId27"/>
      <p:italic r:id="rId28"/>
      <p:boldItalic r:id="rId29"/>
    </p:embeddedFont>
    <p:embeddedFont>
      <p:font typeface="Impact" panose="020B0806030902050204" pitchFamily="34" charset="0"/>
      <p:regular r:id="rId30"/>
    </p:embeddedFont>
    <p:embeddedFont>
      <p:font typeface="Open Sans" panose="020B0606030504020204" pitchFamily="34" charset="0"/>
      <p:regular r:id="rId31"/>
      <p:bold r:id="rId32"/>
      <p:italic r:id="rId33"/>
      <p:boldItalic r:id="rId34"/>
    </p:embeddedFont>
    <p:embeddedFont>
      <p:font typeface="Roboto" panose="02000000000000000000" pitchFamily="2" charset="0"/>
      <p:regular r:id="rId35"/>
      <p:bold r:id="rId36"/>
      <p:italic r:id="rId37"/>
      <p:boldItalic r:id="rId38"/>
    </p:embeddedFont>
    <p:embeddedFont>
      <p:font typeface="Trebuchet MS" panose="020B0603020202020204"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880">
          <p15:clr>
            <a:srgbClr val="9AA0A6"/>
          </p15:clr>
        </p15:guide>
        <p15:guide id="2" orient="horz" pos="596">
          <p15:clr>
            <a:srgbClr val="9AA0A6"/>
          </p15:clr>
        </p15:guide>
        <p15:guide id="3" orient="horz" pos="1871">
          <p15:clr>
            <a:srgbClr val="9AA0A6"/>
          </p15:clr>
        </p15:guide>
        <p15:guide id="4" pos="4233">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5" d="100"/>
          <a:sy n="85" d="100"/>
        </p:scale>
        <p:origin x="966" y="84"/>
      </p:cViewPr>
      <p:guideLst>
        <p:guide pos="2880"/>
        <p:guide orient="horz" pos="596"/>
        <p:guide orient="horz" pos="1871"/>
        <p:guide pos="423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font" Target="fonts/font22.fntdata"/><Relationship Id="rId21" Type="http://schemas.openxmlformats.org/officeDocument/2006/relationships/font" Target="fonts/font4.fntdata"/><Relationship Id="rId34" Type="http://schemas.openxmlformats.org/officeDocument/2006/relationships/font" Target="fonts/font17.fntdata"/><Relationship Id="rId42" Type="http://schemas.openxmlformats.org/officeDocument/2006/relationships/font" Target="fonts/font2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font" Target="fonts/font20.fntdata"/><Relationship Id="rId40" Type="http://schemas.openxmlformats.org/officeDocument/2006/relationships/font" Target="fonts/font23.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font" Target="fonts/font21.fntdata"/><Relationship Id="rId46" Type="http://schemas.openxmlformats.org/officeDocument/2006/relationships/tableStyles" Target="tableStyles.xml"/><Relationship Id="rId20" Type="http://schemas.openxmlformats.org/officeDocument/2006/relationships/font" Target="fonts/font3.fntdata"/><Relationship Id="rId41" Type="http://schemas.openxmlformats.org/officeDocument/2006/relationships/font" Target="fonts/font2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9to5google.com/2018/10/18/google-machine-learning-crash-course-ai-fairness/"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7ee27df0bf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7ee27df0bf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Para poder maximizar el aprendizaje durante esta materia, primero es importante tener un pantallazo general de lo que van a aprender durante toda la diplomatura y cómo es el trabajo de data scientists. De esta manera, podremos tener una idea de la utilidad de las herramientas que van a aprender durante este materia, y por que es crítico tener un entendimiento sólido de los conceptos de estadística y análisis de datos.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c608dbe3e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c608dbe3e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Un científico de datos que todos conocemos: Chandler Bing.</a:t>
            </a:r>
            <a:endParaRPr/>
          </a:p>
          <a:p>
            <a:pPr marL="0" lvl="0" indent="0" algn="l" rtl="0">
              <a:spcBef>
                <a:spcPts val="0"/>
              </a:spcBef>
              <a:spcAft>
                <a:spcPts val="0"/>
              </a:spcAft>
              <a:buNone/>
            </a:pPr>
            <a:r>
              <a:rPr lang="es"/>
              <a:t>Desde que existen datos y ciencia, hubo ciencia de datos. El concepto de lo que hoy conocemos como ciencia de datos evolucionó con los años, a medida que se popularizaron distintas fuentes de datos y herramientas computacionales. Lo que varía es el tipo de pregunta que podemos resolver. Además de ello, mientras más complejo se vuelve el campo de la ciencia de datos, aparecen más nichos y roles dentro de un equipo que se pueden desempeñar.</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c72b12ee31_0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c72b12ee31_0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Estos tres conceptos (análisis de datos, ciencia de datos y aprendizaje automático) no tienen definiciones que los separen completamente. Existen muchas áreas donde se superponen, e incluso podríamos hablar de que algunos engloban a los otros.</a:t>
            </a:r>
            <a:endParaRPr/>
          </a:p>
          <a:p>
            <a:pPr marL="0" lvl="0" indent="0" algn="l" rtl="0">
              <a:spcBef>
                <a:spcPts val="0"/>
              </a:spcBef>
              <a:spcAft>
                <a:spcPts val="0"/>
              </a:spcAft>
              <a:buNone/>
            </a:pPr>
            <a:r>
              <a:rPr lang="es" b="1"/>
              <a:t>Análisis de datos</a:t>
            </a:r>
            <a:r>
              <a:rPr lang="es"/>
              <a:t>: podemos pensar que el análisis de datos es lo que se hacía antes de que las herramientas de ciencia de datos y machine learning estuvieran disponibles para todo el mundo. Se plantea una pregunta, por ejemplo, ¿por qué nuestros clientes están comprando menos? y se procede a un análisis manual para responderla. Esto no quiere decir que no se utilicen herramientas automáticas, muchas veces muy complejas, pero el análisis está guiado por la intuición del analista, que prueba o descarta una serie de hipótesis pre-existentes. Esto lleva a que tenga un poder de análisis limitado, y por eso decimos que detecta patrones superficiales. No quiere decir que el fenómeno tenga que ser simple, sino que la respuesta a nuestra pregunta puede encontrarse en la “superficie” de nuestros datos, o dependemos de que el analista pueda hacerlos surgir combinando otros datos a partir de su conocimiento de dominio.</a:t>
            </a:r>
            <a:endParaRPr/>
          </a:p>
          <a:p>
            <a:pPr marL="0" lvl="0" indent="0" algn="l" rtl="0">
              <a:spcBef>
                <a:spcPts val="0"/>
              </a:spcBef>
              <a:spcAft>
                <a:spcPts val="0"/>
              </a:spcAft>
              <a:buNone/>
            </a:pPr>
            <a:r>
              <a:rPr lang="es" b="1"/>
              <a:t>Aprendizaje automático</a:t>
            </a:r>
            <a:r>
              <a:rPr lang="es"/>
              <a:t> (o machine learning): es una clase bastante particular de análisis de datos, que se basa en usar modelos matemáticos, generalmente muy complejos, para predecir o describir un conjunto de datos sin tener que explícitamente programar las instrucciones para ello. La interpretabilidad del modelo, en el sentido de descubrir los por qué de los fenómenos, muchas veces no es una prioridad. Las redes neuronales, uno de los métodos más populares, son cajas negras imposibles de interpretar, y aún así son ampliamente utilizadas. Por ejemplo, un tipo de pregunta a responder con machine learning es “cuánto va a gastar el cliente X durante el próximo mes?” Para ello, se crea un modelo, se entrena con datos de cuánto gastaron miles de clientes anteriormente, y se lo utiliza para predecir sobre cada cliente en particular. Dependiendo del modelo que se utilice, tal vez podemos saber qué características del cliente son utilizadas para estimar cuánto va a gastar, por ejemplo la edad, el género, el país de origen, el nivel de ingresos, etc. </a:t>
            </a:r>
            <a:endParaRPr/>
          </a:p>
          <a:p>
            <a:pPr marL="0" lvl="0" indent="0" algn="l" rtl="0">
              <a:spcBef>
                <a:spcPts val="0"/>
              </a:spcBef>
              <a:spcAft>
                <a:spcPts val="0"/>
              </a:spcAft>
              <a:buNone/>
            </a:pPr>
            <a:r>
              <a:rPr lang="es"/>
              <a:t>La gran ventaja del machine learning es que el modelo hace todo el análisis de los datos de entrada por sí sólo y sin intervención de un analista, por lo tanto, pueden procesar muchos más datos que un humano y descubrir patrones mucho más complejos. O al menos esa es la promesa, pero veremos durante las últimas 3 materias obligatorias más las optativas que elijan, cómo utilizar adecuadamente estos modelos. Hay que tener en cuenta también que la capacidad de los modelos actuales es limitada, por lo cual es todavía necesario un paso previo de análisis de datos para limitar y reconfigurar los datos de entrada de manera que el modelo tenga más chances de hacer bien su trabajo.</a:t>
            </a:r>
            <a:endParaRPr/>
          </a:p>
          <a:p>
            <a:pPr marL="0" lvl="0" indent="0" algn="l" rtl="0">
              <a:spcBef>
                <a:spcPts val="0"/>
              </a:spcBef>
              <a:spcAft>
                <a:spcPts val="0"/>
              </a:spcAft>
              <a:buNone/>
            </a:pPr>
            <a:r>
              <a:rPr lang="es" b="1"/>
              <a:t>Ciencia de datos</a:t>
            </a:r>
            <a:r>
              <a:rPr lang="es"/>
              <a:t>: la ciencia de datos es un término muy general, que</a:t>
            </a:r>
            <a:r>
              <a:rPr lang="es">
                <a:solidFill>
                  <a:schemeClr val="dk1"/>
                </a:solidFill>
              </a:rPr>
              <a:t> engloba un gran conjunto de herramientas y técnicas utilizadas en el análisis automático o semiautomático de grandes conjuntos de datos.</a:t>
            </a:r>
            <a:r>
              <a:rPr lang="es"/>
              <a:t> A eso tenemos que sumarle que muchas veces está siendo usada más para llamar la atención de posibles inversores que para definir el tipo de trabajo que se realiza. Por ello, es difícil responder qué es data science y qué no. Sin ir más lejos, la wikipedia lo define como una generalización de todas las técnicas disponibles, incluyendo el análisis de datos y el aprendizaje automático, e incluso llega a mencionarlo como un cuarto paradigma de la ciencia. Vamos a tratar de listar algunas diferencias entre la ciencia de datos y las otras dos áreas desde un punto de vista práctico:</a:t>
            </a:r>
            <a:endParaRPr/>
          </a:p>
          <a:p>
            <a:pPr marL="457200" lvl="0" indent="-298450" algn="l" rtl="0">
              <a:spcBef>
                <a:spcPts val="0"/>
              </a:spcBef>
              <a:spcAft>
                <a:spcPts val="0"/>
              </a:spcAft>
              <a:buSzPts val="1100"/>
              <a:buChar char="●"/>
            </a:pPr>
            <a:r>
              <a:rPr lang="es"/>
              <a:t>La ciencia de datos usa análisis y machine learning, pero muchas veces no profundiza en ellos. Por ejemplo, un machine learning engineer especializado en redes neuronales sabe hasta el último detalle de cómo funciona y podría desarrollar tipos nuevos de redes, mientras que un data scientist puede usar redes neuronales siguiendo alguna receta ya conocida, pero no necesariamente tener el conocimiento como para inventar recetas nuevas.</a:t>
            </a:r>
            <a:endParaRPr/>
          </a:p>
          <a:p>
            <a:pPr marL="457200" lvl="0" indent="-298450" algn="l" rtl="0">
              <a:spcBef>
                <a:spcPts val="0"/>
              </a:spcBef>
              <a:spcAft>
                <a:spcPts val="0"/>
              </a:spcAft>
              <a:buSzPts val="1100"/>
              <a:buChar char="●"/>
            </a:pPr>
            <a:r>
              <a:rPr lang="es"/>
              <a:t>La ciencia de datos sigue procesos analíticos y exploratorios. En la mayoría de los problemas reales (o sea, no en las competencias de Kaggle), las variables de interés están parcialmente definidas. Tenemos una idea aproximada de qué queremos encontrar, por ejemplo, “¿cómo hacer que los clientes gasten más dinero en nuestra plataforma?”. Antes de poder buscar un modelo que explique los datos, primero tenemos que entender qué datos queremos explicar, para qué, y cuáles son las métricas de impacto. Dentro de todo el proceso, probablemente haya una etapa de análisis de datos inicial para plantear hipótesis, una etapa de análisis automático para descubrir patrones, y finalmente una etapa de machine learning para generar el modelo más adecuado según lo que se aprendió en las etapas anteriores.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c608dbe3e8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c608dbe3e8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Estos son algunos ejemplos de problemas con los que se puede encontrar un data analyst, un data scientists o un machine learning engineer. Es posible que durante su trabajo, tengan que ir adoptando estos distintos roles para lograr un resultado más completo.</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7261ca5db5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7261ca5db5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200">
                <a:solidFill>
                  <a:schemeClr val="dk1"/>
                </a:solidFill>
                <a:latin typeface="Open Sans"/>
                <a:ea typeface="Open Sans"/>
                <a:cs typeface="Open Sans"/>
                <a:sym typeface="Open Sans"/>
              </a:rPr>
              <a:t>Lo que encontraremos es que el data science es un ciclo que siempre puede tener más iteraciones, y que generalmente está limitada por el tiempo o por el dinero. Este gráfico resume este concepto de manera “idealizada”. Dentro de un proyecto de ciencia de datos, pasamos muchas veces por distintas etapas y utilizamos todas las herramientas que tengamos disponibles, desde modelos super sofisticados hasta tests de hipótesis estadística. Una vez que obtuvimos resultados, estos son evaluados y aplicados, dando origen a nuevas necesidades de negocios que vuelven a  disparar el ciclo. Otras veces, se recomienza simplemente por la necesidad de mantenerse competitivo utilizando las últimas herramientas disponibles, y las tecnologías en data science avanzan </a:t>
            </a:r>
            <a:r>
              <a:rPr lang="es" sz="1200" i="1">
                <a:solidFill>
                  <a:schemeClr val="dk1"/>
                </a:solidFill>
                <a:latin typeface="Open Sans"/>
                <a:ea typeface="Open Sans"/>
                <a:cs typeface="Open Sans"/>
                <a:sym typeface="Open Sans"/>
              </a:rPr>
              <a:t>rápido</a:t>
            </a:r>
            <a:r>
              <a:rPr lang="es" sz="1200">
                <a:solidFill>
                  <a:schemeClr val="dk1"/>
                </a:solidFill>
                <a:latin typeface="Open Sans"/>
                <a:ea typeface="Open Sans"/>
                <a:cs typeface="Open Sans"/>
                <a:sym typeface="Open Sans"/>
              </a:rPr>
              <a:t>.</a:t>
            </a:r>
            <a:endParaRPr sz="1200">
              <a:solidFill>
                <a:schemeClr val="dk1"/>
              </a:solidFill>
              <a:latin typeface="Open Sans"/>
              <a:ea typeface="Open Sans"/>
              <a:cs typeface="Open Sans"/>
              <a:sym typeface="Open Sans"/>
            </a:endParaRPr>
          </a:p>
          <a:p>
            <a:pPr marL="0" lvl="0" indent="0" algn="l" rtl="0">
              <a:lnSpc>
                <a:spcPct val="115000"/>
              </a:lnSpc>
              <a:spcBef>
                <a:spcPts val="1600"/>
              </a:spcBef>
              <a:spcAft>
                <a:spcPts val="1600"/>
              </a:spcAft>
              <a:buClr>
                <a:schemeClr val="dk1"/>
              </a:buClr>
              <a:buSzPts val="1100"/>
              <a:buFont typeface="Arial"/>
              <a:buNone/>
            </a:pPr>
            <a:r>
              <a:rPr lang="es" sz="1200">
                <a:solidFill>
                  <a:schemeClr val="dk1"/>
                </a:solidFill>
                <a:latin typeface="Open Sans"/>
                <a:ea typeface="Open Sans"/>
                <a:cs typeface="Open Sans"/>
                <a:sym typeface="Open Sans"/>
              </a:rPr>
              <a:t>Otras materias también están fuertemente correlacionadas con las etapas 02 a 04 de este ciclo, y algunas visitan muchas partes. ¿Y qué pasa con la etapa 01? Esta la trabajarán durante las mentorías, donde tendrán un problema real para ejercitar el criterio que vayan aprendiendo a lo largo de las materias. Por eso, es </a:t>
            </a:r>
            <a:r>
              <a:rPr lang="es" sz="1200" b="1">
                <a:solidFill>
                  <a:schemeClr val="dk1"/>
                </a:solidFill>
                <a:latin typeface="Open Sans"/>
                <a:ea typeface="Open Sans"/>
                <a:cs typeface="Open Sans"/>
                <a:sym typeface="Open Sans"/>
              </a:rPr>
              <a:t>indispensable</a:t>
            </a:r>
            <a:r>
              <a:rPr lang="es" sz="1200">
                <a:solidFill>
                  <a:schemeClr val="dk1"/>
                </a:solidFill>
                <a:latin typeface="Open Sans"/>
                <a:ea typeface="Open Sans"/>
                <a:cs typeface="Open Sans"/>
                <a:sym typeface="Open Sans"/>
              </a:rPr>
              <a:t> que desarrollen un buen sistema de trabajo con su equipo y con su mentor.</a:t>
            </a:r>
            <a:endParaRPr sz="1200">
              <a:solidFill>
                <a:schemeClr val="dk1"/>
              </a:solidFill>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cf38fd610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cf38fd610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200">
                <a:solidFill>
                  <a:schemeClr val="dk1"/>
                </a:solidFill>
                <a:latin typeface="Open Sans"/>
                <a:ea typeface="Open Sans"/>
                <a:cs typeface="Open Sans"/>
                <a:sym typeface="Open Sans"/>
              </a:rPr>
              <a:t>Lo que encontraremos es que el data science es un ciclo que siempre puede tener más iteraciones, y que generalmente está limitada por el tiempo o por el dinero. Este gráfico resume este concepto de manera “idealizada”. Dentro de un proyecto de ciencia de datos, pasamos muchas veces por distintas etapas y utilizamos todas las herramientas que tengamos disponibles, desde modelos super sofisticados hasta tests de hipótesis estadística. Una vez que obtuvimos resultados, estos son evaluados y aplicados, dando origen a nuevas necesidades de negocios que vuelven a  disparar el ciclo. Otras veces, se recomienza simplemente por la necesidad de mantenerse competitivo utilizando las últimas herramientas disponibles, y las tecnologías en data science avanzan </a:t>
            </a:r>
            <a:r>
              <a:rPr lang="es" sz="1200" i="1">
                <a:solidFill>
                  <a:schemeClr val="dk1"/>
                </a:solidFill>
                <a:latin typeface="Open Sans"/>
                <a:ea typeface="Open Sans"/>
                <a:cs typeface="Open Sans"/>
                <a:sym typeface="Open Sans"/>
              </a:rPr>
              <a:t>rápido</a:t>
            </a:r>
            <a:r>
              <a:rPr lang="es" sz="1200">
                <a:solidFill>
                  <a:schemeClr val="dk1"/>
                </a:solidFill>
                <a:latin typeface="Open Sans"/>
                <a:ea typeface="Open Sans"/>
                <a:cs typeface="Open Sans"/>
                <a:sym typeface="Open Sans"/>
              </a:rPr>
              <a:t>.</a:t>
            </a:r>
            <a:endParaRPr sz="1200">
              <a:solidFill>
                <a:schemeClr val="dk1"/>
              </a:solidFill>
              <a:latin typeface="Open Sans"/>
              <a:ea typeface="Open Sans"/>
              <a:cs typeface="Open Sans"/>
              <a:sym typeface="Open Sans"/>
            </a:endParaRPr>
          </a:p>
          <a:p>
            <a:pPr marL="0" lvl="0" indent="0" algn="l" rtl="0">
              <a:lnSpc>
                <a:spcPct val="115000"/>
              </a:lnSpc>
              <a:spcBef>
                <a:spcPts val="1600"/>
              </a:spcBef>
              <a:spcAft>
                <a:spcPts val="1600"/>
              </a:spcAft>
              <a:buClr>
                <a:schemeClr val="dk1"/>
              </a:buClr>
              <a:buSzPts val="1100"/>
              <a:buFont typeface="Arial"/>
              <a:buNone/>
            </a:pPr>
            <a:r>
              <a:rPr lang="es" sz="1200">
                <a:solidFill>
                  <a:schemeClr val="dk1"/>
                </a:solidFill>
                <a:latin typeface="Open Sans"/>
                <a:ea typeface="Open Sans"/>
                <a:cs typeface="Open Sans"/>
                <a:sym typeface="Open Sans"/>
              </a:rPr>
              <a:t>Otras materias también están fuertemente correlacionadas con las etapas 02 a 04 de este ciclo, y algunas visitan muchas partes. ¿Y qué pasa con la etapa 01? Esta la trabajarán durante las mentorías, donde tendrán un problema real para ejercitar el criterio que vayan aprendiendo a lo largo de las materias. Por eso, es </a:t>
            </a:r>
            <a:r>
              <a:rPr lang="es" sz="1200" b="1">
                <a:solidFill>
                  <a:schemeClr val="dk1"/>
                </a:solidFill>
                <a:latin typeface="Open Sans"/>
                <a:ea typeface="Open Sans"/>
                <a:cs typeface="Open Sans"/>
                <a:sym typeface="Open Sans"/>
              </a:rPr>
              <a:t>indispensable</a:t>
            </a:r>
            <a:r>
              <a:rPr lang="es" sz="1200">
                <a:solidFill>
                  <a:schemeClr val="dk1"/>
                </a:solidFill>
                <a:latin typeface="Open Sans"/>
                <a:ea typeface="Open Sans"/>
                <a:cs typeface="Open Sans"/>
                <a:sym typeface="Open Sans"/>
              </a:rPr>
              <a:t> que desarrollen un buen sistema de trabajo con su equipo y con su mentor.</a:t>
            </a:r>
            <a:endParaRPr sz="1200">
              <a:solidFill>
                <a:schemeClr val="dk1"/>
              </a:solidFill>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11425d1278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11425d1278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endParaRPr sz="1200">
              <a:solidFill>
                <a:schemeClr val="dk1"/>
              </a:solidFill>
              <a:latin typeface="Open Sans"/>
              <a:ea typeface="Open Sans"/>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11f2476e452_4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11f2476e452_4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s" sz="1050">
                <a:solidFill>
                  <a:srgbClr val="757575"/>
                </a:solidFill>
                <a:highlight>
                  <a:srgbClr val="FFFFFF"/>
                </a:highlight>
              </a:rPr>
              <a:t>¿Respondió “bananas”? ¿Por qué no mencionó el rollo de bolsas de plástico? ¿O el color de las bananas? Este ejemplo proviene del</a:t>
            </a:r>
            <a:r>
              <a:rPr lang="es" sz="1050">
                <a:solidFill>
                  <a:srgbClr val="757575"/>
                </a:solidFill>
                <a:highlight>
                  <a:srgbClr val="FFFFFF"/>
                </a:highlight>
                <a:uFill>
                  <a:noFill/>
                </a:uFill>
                <a:hlinkClick r:id="rId3">
                  <a:extLst>
                    <a:ext uri="{A12FA001-AC4F-418D-AE19-62706E023703}">
                      <ahyp:hlinkClr xmlns:ahyp="http://schemas.microsoft.com/office/drawing/2018/hyperlinkcolor" val="tx"/>
                    </a:ext>
                  </a:extLst>
                </a:hlinkClick>
              </a:rPr>
              <a:t> </a:t>
            </a:r>
            <a:r>
              <a:rPr lang="es" sz="1050" u="sng">
                <a:solidFill>
                  <a:srgbClr val="2200CC"/>
                </a:solidFill>
                <a:highlight>
                  <a:srgbClr val="FFFFFF"/>
                </a:highlight>
                <a:hlinkClick r:id="rId3">
                  <a:extLst>
                    <a:ext uri="{A12FA001-AC4F-418D-AE19-62706E023703}">
                      <ahyp:hlinkClr xmlns:ahyp="http://schemas.microsoft.com/office/drawing/2018/hyperlinkcolor" val="tx"/>
                    </a:ext>
                  </a:extLst>
                </a:hlinkClick>
              </a:rPr>
              <a:t>curso de formación</a:t>
            </a:r>
            <a:r>
              <a:rPr lang="es" sz="1050">
                <a:solidFill>
                  <a:srgbClr val="757575"/>
                </a:solidFill>
                <a:highlight>
                  <a:srgbClr val="FFFFFF"/>
                </a:highlight>
              </a:rPr>
              <a:t> de “AI Fairness” (Justicia en IA) de Google y demuestra que aunque las tres respuestas son técnicamente correctas, por alguna razón tenemos un sesgo para preferir una de ellas. No todas las personas compartirán ese sesgo; lo que percibimos y cómo respondemos está influenciado por nuestras normas. Si vive en un planeta donde todas las bananas son azules, puede responder “bananas amarillas” aquí. Si nunca antes había visto una banana, puede decir “estantes con cosas amarillas”. También correcto…</a:t>
            </a:r>
            <a:endParaRPr sz="1200">
              <a:solidFill>
                <a:schemeClr val="dk1"/>
              </a:solidFill>
              <a:latin typeface="Open Sans"/>
              <a:ea typeface="Open Sans"/>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11f2476e452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11f2476e452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endParaRPr sz="1200">
              <a:solidFill>
                <a:schemeClr val="dk1"/>
              </a:solidFill>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1f2476e452_4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1f2476e452_4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endParaRPr sz="1200">
              <a:solidFill>
                <a:schemeClr val="dk1"/>
              </a:solidFill>
              <a:latin typeface="Open Sans"/>
              <a:ea typeface="Open Sans"/>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cf03aa71c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cf03aa71c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c608dbe3e8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c608dbe3e8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7261ca5db5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7261ca5db5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11ea8428b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1ea8428b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2" name="Google Shape;12;p2"/>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a:lvl1pPr>
            <a:lvl2pPr lvl="1" algn="ctr" rtl="0">
              <a:spcBef>
                <a:spcPts val="0"/>
              </a:spcBef>
              <a:spcAft>
                <a:spcPts val="0"/>
              </a:spcAft>
              <a:buSzPts val="4200"/>
              <a:buNone/>
              <a:defRPr/>
            </a:lvl2pPr>
            <a:lvl3pPr lvl="2" algn="ctr" rtl="0">
              <a:spcBef>
                <a:spcPts val="0"/>
              </a:spcBef>
              <a:spcAft>
                <a:spcPts val="0"/>
              </a:spcAft>
              <a:buSzPts val="4200"/>
              <a:buNone/>
              <a:defRPr/>
            </a:lvl3pPr>
            <a:lvl4pPr lvl="3" algn="ctr" rtl="0">
              <a:spcBef>
                <a:spcPts val="0"/>
              </a:spcBef>
              <a:spcAft>
                <a:spcPts val="0"/>
              </a:spcAft>
              <a:buSzPts val="4200"/>
              <a:buNone/>
              <a:defRPr/>
            </a:lvl4pPr>
            <a:lvl5pPr lvl="4" algn="ctr" rtl="0">
              <a:spcBef>
                <a:spcPts val="0"/>
              </a:spcBef>
              <a:spcAft>
                <a:spcPts val="0"/>
              </a:spcAft>
              <a:buSzPts val="4200"/>
              <a:buNone/>
              <a:defRPr/>
            </a:lvl5pPr>
            <a:lvl6pPr lvl="5" algn="ctr" rtl="0">
              <a:spcBef>
                <a:spcPts val="0"/>
              </a:spcBef>
              <a:spcAft>
                <a:spcPts val="0"/>
              </a:spcAft>
              <a:buSzPts val="4200"/>
              <a:buNone/>
              <a:defRPr/>
            </a:lvl6pPr>
            <a:lvl7pPr lvl="6" algn="ctr" rtl="0">
              <a:spcBef>
                <a:spcPts val="0"/>
              </a:spcBef>
              <a:spcAft>
                <a:spcPts val="0"/>
              </a:spcAft>
              <a:buSzPts val="4200"/>
              <a:buNone/>
              <a:defRPr/>
            </a:lvl7pPr>
            <a:lvl8pPr lvl="7" algn="ctr" rtl="0">
              <a:spcBef>
                <a:spcPts val="0"/>
              </a:spcBef>
              <a:spcAft>
                <a:spcPts val="0"/>
              </a:spcAft>
              <a:buSzPts val="4200"/>
              <a:buNone/>
              <a:defRPr/>
            </a:lvl8pPr>
            <a:lvl9pPr lvl="8" algn="ctr" rtl="0">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rtl="0">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rtl="0">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rtl="0">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rtl="0">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rtl="0">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rtl="0">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rtl="0">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rtl="0">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8" name="Google Shape;18;p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200"/>
              <a:buNone/>
              <a:defRPr/>
            </a:lvl1pPr>
            <a:lvl2pPr lvl="1" algn="ctr" rtl="0">
              <a:spcBef>
                <a:spcPts val="0"/>
              </a:spcBef>
              <a:spcAft>
                <a:spcPts val="0"/>
              </a:spcAft>
              <a:buSzPts val="4200"/>
              <a:buNone/>
              <a:defRPr/>
            </a:lvl2pPr>
            <a:lvl3pPr lvl="2" algn="ctr" rtl="0">
              <a:spcBef>
                <a:spcPts val="0"/>
              </a:spcBef>
              <a:spcAft>
                <a:spcPts val="0"/>
              </a:spcAft>
              <a:buSzPts val="4200"/>
              <a:buNone/>
              <a:defRPr/>
            </a:lvl3pPr>
            <a:lvl4pPr lvl="3" algn="ctr" rtl="0">
              <a:spcBef>
                <a:spcPts val="0"/>
              </a:spcBef>
              <a:spcAft>
                <a:spcPts val="0"/>
              </a:spcAft>
              <a:buSzPts val="4200"/>
              <a:buNone/>
              <a:defRPr/>
            </a:lvl4pPr>
            <a:lvl5pPr lvl="4" algn="ctr" rtl="0">
              <a:spcBef>
                <a:spcPts val="0"/>
              </a:spcBef>
              <a:spcAft>
                <a:spcPts val="0"/>
              </a:spcAft>
              <a:buSzPts val="4200"/>
              <a:buNone/>
              <a:defRPr/>
            </a:lvl5pPr>
            <a:lvl6pPr lvl="5" algn="ctr" rtl="0">
              <a:spcBef>
                <a:spcPts val="0"/>
              </a:spcBef>
              <a:spcAft>
                <a:spcPts val="0"/>
              </a:spcAft>
              <a:buSzPts val="4200"/>
              <a:buNone/>
              <a:defRPr/>
            </a:lvl6pPr>
            <a:lvl7pPr lvl="6" algn="ctr" rtl="0">
              <a:spcBef>
                <a:spcPts val="0"/>
              </a:spcBef>
              <a:spcAft>
                <a:spcPts val="0"/>
              </a:spcAft>
              <a:buSzPts val="4200"/>
              <a:buNone/>
              <a:defRPr/>
            </a:lvl7pPr>
            <a:lvl8pPr lvl="7" algn="ctr" rtl="0">
              <a:spcBef>
                <a:spcPts val="0"/>
              </a:spcBef>
              <a:spcAft>
                <a:spcPts val="0"/>
              </a:spcAft>
              <a:buSzPts val="4200"/>
              <a:buNone/>
              <a:defRPr/>
            </a:lvl8pPr>
            <a:lvl9pPr lvl="8" algn="ctr" rtl="0">
              <a:spcBef>
                <a:spcPts val="0"/>
              </a:spcBef>
              <a:spcAft>
                <a:spcPts val="0"/>
              </a:spcAft>
              <a:buSzPts val="4200"/>
              <a:buNone/>
              <a:defRPr/>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subtitulo">
  <p:cSld name="SECTION_HEADER_1">
    <p:spTree>
      <p:nvGrpSpPr>
        <p:cNvPr id="1" name="Shape 20"/>
        <p:cNvGrpSpPr/>
        <p:nvPr/>
      </p:nvGrpSpPr>
      <p:grpSpPr>
        <a:xfrm>
          <a:off x="0" y="0"/>
          <a:ext cx="0" cy="0"/>
          <a:chOff x="0" y="0"/>
          <a:chExt cx="0" cy="0"/>
        </a:xfrm>
      </p:grpSpPr>
      <p:sp>
        <p:nvSpPr>
          <p:cNvPr id="23" name="Google Shape;23;p4"/>
          <p:cNvSpPr txBox="1">
            <a:spLocks noGrp="1"/>
          </p:cNvSpPr>
          <p:nvPr>
            <p:ph type="title"/>
          </p:nvPr>
        </p:nvSpPr>
        <p:spPr>
          <a:xfrm>
            <a:off x="773700" y="1445625"/>
            <a:ext cx="7596600" cy="1530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a:lvl1pPr>
            <a:lvl2pPr lvl="1" algn="ctr" rtl="0">
              <a:spcBef>
                <a:spcPts val="0"/>
              </a:spcBef>
              <a:spcAft>
                <a:spcPts val="0"/>
              </a:spcAft>
              <a:buSzPts val="4200"/>
              <a:buNone/>
              <a:defRPr/>
            </a:lvl2pPr>
            <a:lvl3pPr lvl="2" algn="ctr" rtl="0">
              <a:spcBef>
                <a:spcPts val="0"/>
              </a:spcBef>
              <a:spcAft>
                <a:spcPts val="0"/>
              </a:spcAft>
              <a:buSzPts val="4200"/>
              <a:buNone/>
              <a:defRPr/>
            </a:lvl3pPr>
            <a:lvl4pPr lvl="3" algn="ctr" rtl="0">
              <a:spcBef>
                <a:spcPts val="0"/>
              </a:spcBef>
              <a:spcAft>
                <a:spcPts val="0"/>
              </a:spcAft>
              <a:buSzPts val="4200"/>
              <a:buNone/>
              <a:defRPr/>
            </a:lvl4pPr>
            <a:lvl5pPr lvl="4" algn="ctr" rtl="0">
              <a:spcBef>
                <a:spcPts val="0"/>
              </a:spcBef>
              <a:spcAft>
                <a:spcPts val="0"/>
              </a:spcAft>
              <a:buSzPts val="4200"/>
              <a:buNone/>
              <a:defRPr/>
            </a:lvl5pPr>
            <a:lvl6pPr lvl="5" algn="ctr" rtl="0">
              <a:spcBef>
                <a:spcPts val="0"/>
              </a:spcBef>
              <a:spcAft>
                <a:spcPts val="0"/>
              </a:spcAft>
              <a:buSzPts val="4200"/>
              <a:buNone/>
              <a:defRPr/>
            </a:lvl6pPr>
            <a:lvl7pPr lvl="6" algn="ctr" rtl="0">
              <a:spcBef>
                <a:spcPts val="0"/>
              </a:spcBef>
              <a:spcAft>
                <a:spcPts val="0"/>
              </a:spcAft>
              <a:buSzPts val="4200"/>
              <a:buNone/>
              <a:defRPr/>
            </a:lvl7pPr>
            <a:lvl8pPr lvl="7" algn="ctr" rtl="0">
              <a:spcBef>
                <a:spcPts val="0"/>
              </a:spcBef>
              <a:spcAft>
                <a:spcPts val="0"/>
              </a:spcAft>
              <a:buSzPts val="4200"/>
              <a:buNone/>
              <a:defRPr/>
            </a:lvl8pPr>
            <a:lvl9pPr lvl="8" algn="ctr" rtl="0">
              <a:spcBef>
                <a:spcPts val="0"/>
              </a:spcBef>
              <a:spcAft>
                <a:spcPts val="0"/>
              </a:spcAft>
              <a:buSzPts val="4200"/>
              <a:buNone/>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
        <p:nvSpPr>
          <p:cNvPr id="25" name="Google Shape;25;p4"/>
          <p:cNvSpPr txBox="1">
            <a:spLocks noGrp="1"/>
          </p:cNvSpPr>
          <p:nvPr>
            <p:ph type="title" idx="2"/>
          </p:nvPr>
        </p:nvSpPr>
        <p:spPr>
          <a:xfrm>
            <a:off x="773700" y="2876900"/>
            <a:ext cx="7596600" cy="928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2"/>
              </a:buClr>
              <a:buSzPts val="2600"/>
              <a:buNone/>
              <a:defRPr sz="2600">
                <a:solidFill>
                  <a:schemeClr val="accent2"/>
                </a:solidFill>
              </a:defRPr>
            </a:lvl1pPr>
            <a:lvl2pPr lvl="1" algn="ctr" rtl="0">
              <a:spcBef>
                <a:spcPts val="0"/>
              </a:spcBef>
              <a:spcAft>
                <a:spcPts val="0"/>
              </a:spcAft>
              <a:buClr>
                <a:schemeClr val="accent2"/>
              </a:buClr>
              <a:buSzPts val="2600"/>
              <a:buNone/>
              <a:defRPr sz="2600">
                <a:solidFill>
                  <a:schemeClr val="accent2"/>
                </a:solidFill>
              </a:defRPr>
            </a:lvl2pPr>
            <a:lvl3pPr lvl="2" algn="ctr" rtl="0">
              <a:spcBef>
                <a:spcPts val="0"/>
              </a:spcBef>
              <a:spcAft>
                <a:spcPts val="0"/>
              </a:spcAft>
              <a:buClr>
                <a:schemeClr val="accent2"/>
              </a:buClr>
              <a:buSzPts val="2600"/>
              <a:buNone/>
              <a:defRPr sz="2600">
                <a:solidFill>
                  <a:schemeClr val="accent2"/>
                </a:solidFill>
              </a:defRPr>
            </a:lvl3pPr>
            <a:lvl4pPr lvl="3" algn="ctr" rtl="0">
              <a:spcBef>
                <a:spcPts val="0"/>
              </a:spcBef>
              <a:spcAft>
                <a:spcPts val="0"/>
              </a:spcAft>
              <a:buClr>
                <a:schemeClr val="accent2"/>
              </a:buClr>
              <a:buSzPts val="2600"/>
              <a:buNone/>
              <a:defRPr sz="2600">
                <a:solidFill>
                  <a:schemeClr val="accent2"/>
                </a:solidFill>
              </a:defRPr>
            </a:lvl4pPr>
            <a:lvl5pPr lvl="4" algn="ctr" rtl="0">
              <a:spcBef>
                <a:spcPts val="0"/>
              </a:spcBef>
              <a:spcAft>
                <a:spcPts val="0"/>
              </a:spcAft>
              <a:buClr>
                <a:schemeClr val="accent2"/>
              </a:buClr>
              <a:buSzPts val="2600"/>
              <a:buNone/>
              <a:defRPr sz="2600">
                <a:solidFill>
                  <a:schemeClr val="accent2"/>
                </a:solidFill>
              </a:defRPr>
            </a:lvl5pPr>
            <a:lvl6pPr lvl="5" algn="ctr" rtl="0">
              <a:spcBef>
                <a:spcPts val="0"/>
              </a:spcBef>
              <a:spcAft>
                <a:spcPts val="0"/>
              </a:spcAft>
              <a:buClr>
                <a:schemeClr val="accent2"/>
              </a:buClr>
              <a:buSzPts val="2600"/>
              <a:buNone/>
              <a:defRPr sz="2600">
                <a:solidFill>
                  <a:schemeClr val="accent2"/>
                </a:solidFill>
              </a:defRPr>
            </a:lvl6pPr>
            <a:lvl7pPr lvl="6" algn="ctr" rtl="0">
              <a:spcBef>
                <a:spcPts val="0"/>
              </a:spcBef>
              <a:spcAft>
                <a:spcPts val="0"/>
              </a:spcAft>
              <a:buClr>
                <a:schemeClr val="accent2"/>
              </a:buClr>
              <a:buSzPts val="2600"/>
              <a:buNone/>
              <a:defRPr sz="2600">
                <a:solidFill>
                  <a:schemeClr val="accent2"/>
                </a:solidFill>
              </a:defRPr>
            </a:lvl7pPr>
            <a:lvl8pPr lvl="7" algn="ctr" rtl="0">
              <a:spcBef>
                <a:spcPts val="0"/>
              </a:spcBef>
              <a:spcAft>
                <a:spcPts val="0"/>
              </a:spcAft>
              <a:buClr>
                <a:schemeClr val="accent2"/>
              </a:buClr>
              <a:buSzPts val="2600"/>
              <a:buNone/>
              <a:defRPr sz="2600">
                <a:solidFill>
                  <a:schemeClr val="accent2"/>
                </a:solidFill>
              </a:defRPr>
            </a:lvl8pPr>
            <a:lvl9pPr lvl="8" algn="ctr" rtl="0">
              <a:spcBef>
                <a:spcPts val="0"/>
              </a:spcBef>
              <a:spcAft>
                <a:spcPts val="0"/>
              </a:spcAft>
              <a:buClr>
                <a:schemeClr val="accent2"/>
              </a:buClr>
              <a:buSzPts val="2600"/>
              <a:buNone/>
              <a:defRPr sz="2600">
                <a:solidFill>
                  <a:schemeClr val="accent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
        <p:cNvGrpSpPr/>
        <p:nvPr/>
      </p:nvGrpSpPr>
      <p:grpSpPr>
        <a:xfrm>
          <a:off x="0" y="0"/>
          <a:ext cx="0" cy="0"/>
          <a:chOff x="0" y="0"/>
          <a:chExt cx="0" cy="0"/>
        </a:xfrm>
      </p:grpSpPr>
      <p:sp>
        <p:nvSpPr>
          <p:cNvPr id="27" name="Google Shape;27;p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a:endParaRPr/>
          </a:p>
        </p:txBody>
      </p:sp>
      <p:sp>
        <p:nvSpPr>
          <p:cNvPr id="28" name="Google Shape;28;p5"/>
          <p:cNvSpPr txBox="1">
            <a:spLocks noGrp="1"/>
          </p:cNvSpPr>
          <p:nvPr>
            <p:ph type="body" idx="1"/>
          </p:nvPr>
        </p:nvSpPr>
        <p:spPr>
          <a:xfrm>
            <a:off x="311700" y="1225225"/>
            <a:ext cx="8520600" cy="3354000"/>
          </a:xfrm>
          <a:prstGeom prst="rect">
            <a:avLst/>
          </a:prstGeom>
        </p:spPr>
        <p:txBody>
          <a:bodyPr spcFirstLastPara="1" wrap="square" lIns="91425" tIns="91425" rIns="91425" bIns="91425" anchor="ctr" anchorCtr="0">
            <a:noAutofit/>
          </a:bodyPr>
          <a:lstStyle>
            <a:lvl1pPr marL="457200" lvl="0" indent="-292100" rtl="0">
              <a:spcBef>
                <a:spcPts val="0"/>
              </a:spcBef>
              <a:spcAft>
                <a:spcPts val="0"/>
              </a:spcAft>
              <a:buClr>
                <a:schemeClr val="accent2"/>
              </a:buClr>
              <a:buSzPts val="1000"/>
              <a:buChar char="●"/>
              <a:defRPr/>
            </a:lvl1pPr>
            <a:lvl2pPr marL="914400" lvl="1" indent="-292100" rtl="0">
              <a:spcBef>
                <a:spcPts val="1600"/>
              </a:spcBef>
              <a:spcAft>
                <a:spcPts val="0"/>
              </a:spcAft>
              <a:buClr>
                <a:schemeClr val="accent2"/>
              </a:buClr>
              <a:buSzPts val="1000"/>
              <a:buChar char="○"/>
              <a:defRPr/>
            </a:lvl2pPr>
            <a:lvl3pPr marL="1371600" lvl="2" indent="-292100" rtl="0">
              <a:spcBef>
                <a:spcPts val="1600"/>
              </a:spcBef>
              <a:spcAft>
                <a:spcPts val="0"/>
              </a:spcAft>
              <a:buClr>
                <a:schemeClr val="accent3"/>
              </a:buClr>
              <a:buSzPts val="10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extLst>
    <p:ext uri="{DCECCB84-F9BA-43D5-87BE-67443E8EF086}">
      <p15:sldGuideLst xmlns:p15="http://schemas.microsoft.com/office/powerpoint/2012/main">
        <p15:guide id="1" orient="horz" pos="596">
          <p15:clr>
            <a:srgbClr val="FA7B17"/>
          </p15:clr>
        </p15:guide>
        <p15:guide id="2" orient="horz" pos="567">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doble y cuerpo">
  <p:cSld name="TITLE_AND_BODY_1">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15925"/>
            <a:ext cx="8520600" cy="1488900"/>
          </a:xfrm>
          <a:prstGeom prst="rect">
            <a:avLst/>
          </a:prstGeom>
        </p:spPr>
        <p:txBody>
          <a:bodyPr spcFirstLastPara="1" wrap="square" lIns="91425" tIns="91425" rIns="91425" bIns="91425" anchor="ctr" anchorCtr="0">
            <a:no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a:endParaRPr/>
          </a:p>
        </p:txBody>
      </p:sp>
      <p:sp>
        <p:nvSpPr>
          <p:cNvPr id="32" name="Google Shape;32;p6"/>
          <p:cNvSpPr txBox="1">
            <a:spLocks noGrp="1"/>
          </p:cNvSpPr>
          <p:nvPr>
            <p:ph type="body" idx="1"/>
          </p:nvPr>
        </p:nvSpPr>
        <p:spPr>
          <a:xfrm>
            <a:off x="311700" y="1873275"/>
            <a:ext cx="8520600" cy="2706000"/>
          </a:xfrm>
          <a:prstGeom prst="rect">
            <a:avLst/>
          </a:prstGeom>
        </p:spPr>
        <p:txBody>
          <a:bodyPr spcFirstLastPara="1" wrap="square" lIns="91425" tIns="91425" rIns="91425" bIns="91425" anchor="ctr" anchorCtr="0">
            <a:noAutofit/>
          </a:bodyPr>
          <a:lstStyle>
            <a:lvl1pPr marL="457200" lvl="0" indent="-304800" rtl="0">
              <a:spcBef>
                <a:spcPts val="0"/>
              </a:spcBef>
              <a:spcAft>
                <a:spcPts val="0"/>
              </a:spcAft>
              <a:buClr>
                <a:schemeClr val="accent2"/>
              </a:buClr>
              <a:buSzPts val="1200"/>
              <a:buChar char="●"/>
              <a:defRPr/>
            </a:lvl1pPr>
            <a:lvl2pPr marL="914400" lvl="1" indent="-304800" rtl="0">
              <a:spcBef>
                <a:spcPts val="1600"/>
              </a:spcBef>
              <a:spcAft>
                <a:spcPts val="0"/>
              </a:spcAft>
              <a:buClr>
                <a:schemeClr val="accent2"/>
              </a:buClr>
              <a:buSzPts val="1200"/>
              <a:buChar char="○"/>
              <a:defRPr/>
            </a:lvl2pPr>
            <a:lvl3pPr marL="1371600" lvl="2" indent="-304800" rtl="0">
              <a:spcBef>
                <a:spcPts val="1600"/>
              </a:spcBef>
              <a:spcAft>
                <a:spcPts val="0"/>
              </a:spcAft>
              <a:buClr>
                <a:schemeClr val="accent3"/>
              </a:buClr>
              <a:buSzPts val="12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33" name="Google Shape;3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extLst>
    <p:ext uri="{DCECCB84-F9BA-43D5-87BE-67443E8EF086}">
      <p15:sldGuideLst xmlns:p15="http://schemas.microsoft.com/office/powerpoint/2012/main">
        <p15:guide id="1" orient="horz" pos="596">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7"/>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a:endParaRPr/>
          </a:p>
        </p:txBody>
      </p:sp>
      <p:sp>
        <p:nvSpPr>
          <p:cNvPr id="36" name="Google Shape;36;p7"/>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37" name="Google Shape;37;p7"/>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extLst>
    <p:ext uri="{DCECCB84-F9BA-43D5-87BE-67443E8EF086}">
      <p15:sldGuideLst xmlns:p15="http://schemas.microsoft.com/office/powerpoint/2012/main">
        <p15:guide id="1" orient="horz" pos="595">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9"/>
          <p:cNvSpPr txBox="1">
            <a:spLocks noGrp="1"/>
          </p:cNvSpPr>
          <p:nvPr>
            <p:ph type="title"/>
          </p:nvPr>
        </p:nvSpPr>
        <p:spPr>
          <a:xfrm>
            <a:off x="311700" y="316800"/>
            <a:ext cx="28080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4200"/>
              <a:buNone/>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44" name="Google Shape;44;p9"/>
          <p:cNvSpPr txBox="1">
            <a:spLocks noGrp="1"/>
          </p:cNvSpPr>
          <p:nvPr>
            <p:ph type="body" idx="1"/>
          </p:nvPr>
        </p:nvSpPr>
        <p:spPr>
          <a:xfrm>
            <a:off x="311700" y="1224000"/>
            <a:ext cx="2808000" cy="34392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45" name="Google Shape;4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10"/>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10"/>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49" name="Google Shape;49;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0"/>
        <p:cNvGrpSpPr/>
        <p:nvPr/>
      </p:nvGrpSpPr>
      <p:grpSpPr>
        <a:xfrm>
          <a:off x="0" y="0"/>
          <a:ext cx="0" cy="0"/>
          <a:chOff x="0" y="0"/>
          <a:chExt cx="0" cy="0"/>
        </a:xfrm>
      </p:grpSpPr>
      <p:sp>
        <p:nvSpPr>
          <p:cNvPr id="51" name="Google Shape;51;p11"/>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2" name="Google Shape;52;p11"/>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53" name="Google Shape;53;p11"/>
          <p:cNvSpPr txBox="1">
            <a:spLocks noGrp="1"/>
          </p:cNvSpPr>
          <p:nvPr>
            <p:ph type="title"/>
          </p:nvPr>
        </p:nvSpPr>
        <p:spPr>
          <a:xfrm>
            <a:off x="265500" y="929275"/>
            <a:ext cx="4045200" cy="1786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4200"/>
              <a:buNone/>
              <a:defRPr>
                <a:solidFill>
                  <a:schemeClr val="lt2"/>
                </a:solidFill>
              </a:defRPr>
            </a:lvl1pPr>
            <a:lvl2pPr lvl="1" algn="ctr" rtl="0">
              <a:spcBef>
                <a:spcPts val="0"/>
              </a:spcBef>
              <a:spcAft>
                <a:spcPts val="0"/>
              </a:spcAft>
              <a:buClr>
                <a:schemeClr val="lt2"/>
              </a:buClr>
              <a:buSzPts val="4200"/>
              <a:buNone/>
              <a:defRPr>
                <a:solidFill>
                  <a:schemeClr val="lt2"/>
                </a:solidFill>
              </a:defRPr>
            </a:lvl2pPr>
            <a:lvl3pPr lvl="2" algn="ctr" rtl="0">
              <a:spcBef>
                <a:spcPts val="0"/>
              </a:spcBef>
              <a:spcAft>
                <a:spcPts val="0"/>
              </a:spcAft>
              <a:buClr>
                <a:schemeClr val="lt2"/>
              </a:buClr>
              <a:buSzPts val="4200"/>
              <a:buNone/>
              <a:defRPr>
                <a:solidFill>
                  <a:schemeClr val="lt2"/>
                </a:solidFill>
              </a:defRPr>
            </a:lvl3pPr>
            <a:lvl4pPr lvl="3" algn="ctr" rtl="0">
              <a:spcBef>
                <a:spcPts val="0"/>
              </a:spcBef>
              <a:spcAft>
                <a:spcPts val="0"/>
              </a:spcAft>
              <a:buClr>
                <a:schemeClr val="lt2"/>
              </a:buClr>
              <a:buSzPts val="4200"/>
              <a:buNone/>
              <a:defRPr>
                <a:solidFill>
                  <a:schemeClr val="lt2"/>
                </a:solidFill>
              </a:defRPr>
            </a:lvl4pPr>
            <a:lvl5pPr lvl="4" algn="ctr" rtl="0">
              <a:spcBef>
                <a:spcPts val="0"/>
              </a:spcBef>
              <a:spcAft>
                <a:spcPts val="0"/>
              </a:spcAft>
              <a:buClr>
                <a:schemeClr val="lt2"/>
              </a:buClr>
              <a:buSzPts val="4200"/>
              <a:buNone/>
              <a:defRPr>
                <a:solidFill>
                  <a:schemeClr val="lt2"/>
                </a:solidFill>
              </a:defRPr>
            </a:lvl5pPr>
            <a:lvl6pPr lvl="5" algn="ctr" rtl="0">
              <a:spcBef>
                <a:spcPts val="0"/>
              </a:spcBef>
              <a:spcAft>
                <a:spcPts val="0"/>
              </a:spcAft>
              <a:buClr>
                <a:schemeClr val="lt2"/>
              </a:buClr>
              <a:buSzPts val="4200"/>
              <a:buNone/>
              <a:defRPr>
                <a:solidFill>
                  <a:schemeClr val="lt2"/>
                </a:solidFill>
              </a:defRPr>
            </a:lvl6pPr>
            <a:lvl7pPr lvl="6" algn="ctr" rtl="0">
              <a:spcBef>
                <a:spcPts val="0"/>
              </a:spcBef>
              <a:spcAft>
                <a:spcPts val="0"/>
              </a:spcAft>
              <a:buClr>
                <a:schemeClr val="lt2"/>
              </a:buClr>
              <a:buSzPts val="4200"/>
              <a:buNone/>
              <a:defRPr>
                <a:solidFill>
                  <a:schemeClr val="lt2"/>
                </a:solidFill>
              </a:defRPr>
            </a:lvl7pPr>
            <a:lvl8pPr lvl="7" algn="ctr" rtl="0">
              <a:spcBef>
                <a:spcPts val="0"/>
              </a:spcBef>
              <a:spcAft>
                <a:spcPts val="0"/>
              </a:spcAft>
              <a:buClr>
                <a:schemeClr val="lt2"/>
              </a:buClr>
              <a:buSzPts val="4200"/>
              <a:buNone/>
              <a:defRPr>
                <a:solidFill>
                  <a:schemeClr val="lt2"/>
                </a:solidFill>
              </a:defRPr>
            </a:lvl8pPr>
            <a:lvl9pPr lvl="8" algn="ctr" rtl="0">
              <a:spcBef>
                <a:spcPts val="0"/>
              </a:spcBef>
              <a:spcAft>
                <a:spcPts val="0"/>
              </a:spcAft>
              <a:buClr>
                <a:schemeClr val="lt2"/>
              </a:buClr>
              <a:buSzPts val="4200"/>
              <a:buNone/>
              <a:defRPr>
                <a:solidFill>
                  <a:schemeClr val="lt2"/>
                </a:solidFill>
              </a:defRPr>
            </a:lvl9pPr>
          </a:lstStyle>
          <a:p>
            <a:endParaRPr/>
          </a:p>
        </p:txBody>
      </p:sp>
      <p:sp>
        <p:nvSpPr>
          <p:cNvPr id="54" name="Google Shape;54;p11"/>
          <p:cNvSpPr txBox="1">
            <a:spLocks noGrp="1"/>
          </p:cNvSpPr>
          <p:nvPr>
            <p:ph type="subTitle" idx="1"/>
          </p:nvPr>
        </p:nvSpPr>
        <p:spPr>
          <a:xfrm>
            <a:off x="265500" y="2769001"/>
            <a:ext cx="4045200" cy="157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rtl="0">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rtl="0">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rtl="0">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rtl="0">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rtl="0">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rtl="0">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rtl="0">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rtl="0">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55" name="Google Shape;55;p1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Char char="●"/>
              <a:defRPr>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7"/>
        <p:cNvGrpSpPr/>
        <p:nvPr/>
      </p:nvGrpSpPr>
      <p:grpSpPr>
        <a:xfrm>
          <a:off x="0" y="0"/>
          <a:ext cx="0" cy="0"/>
          <a:chOff x="0" y="0"/>
          <a:chExt cx="0" cy="0"/>
        </a:xfrm>
      </p:grpSpPr>
      <p:sp>
        <p:nvSpPr>
          <p:cNvPr id="58" name="Google Shape;58;p12"/>
          <p:cNvSpPr txBox="1">
            <a:spLocks noGrp="1"/>
          </p:cNvSpPr>
          <p:nvPr>
            <p:ph type="body" idx="1"/>
          </p:nvPr>
        </p:nvSpPr>
        <p:spPr>
          <a:xfrm>
            <a:off x="319500" y="4218925"/>
            <a:ext cx="5998800" cy="598800"/>
          </a:xfrm>
          <a:prstGeom prst="rect">
            <a:avLst/>
          </a:prstGeom>
        </p:spPr>
        <p:txBody>
          <a:bodyPr spcFirstLastPara="1" wrap="square" lIns="91425" tIns="91425" rIns="91425" bIns="91425" anchor="b" anchorCtr="0">
            <a:noAutofit/>
          </a:bodyPr>
          <a:lstStyle>
            <a:lvl1pPr marL="457200" lvl="0" indent="-228600" rtl="0">
              <a:lnSpc>
                <a:spcPct val="100000"/>
              </a:lnSpc>
              <a:spcBef>
                <a:spcPts val="0"/>
              </a:spcBef>
              <a:spcAft>
                <a:spcPts val="0"/>
              </a:spcAft>
              <a:buSzPts val="3600"/>
              <a:buFont typeface="Economica"/>
              <a:buNone/>
              <a:defRPr sz="3600">
                <a:latin typeface="Economica"/>
                <a:ea typeface="Economica"/>
                <a:cs typeface="Economica"/>
                <a:sym typeface="Economica"/>
              </a:defRPr>
            </a:lvl1pPr>
          </a:lstStyle>
          <a:p>
            <a:endParaRPr/>
          </a:p>
        </p:txBody>
      </p:sp>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0"/>
        <p:cNvGrpSpPr/>
        <p:nvPr/>
      </p:nvGrpSpPr>
      <p:grpSpPr>
        <a:xfrm>
          <a:off x="0" y="0"/>
          <a:ext cx="0" cy="0"/>
          <a:chOff x="0" y="0"/>
          <a:chExt cx="0" cy="0"/>
        </a:xfrm>
      </p:grpSpPr>
      <p:sp>
        <p:nvSpPr>
          <p:cNvPr id="61" name="Google Shape;61;p13"/>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3"/>
          <p:cNvSpPr txBox="1">
            <a:spLocks noGrp="1"/>
          </p:cNvSpPr>
          <p:nvPr>
            <p:ph type="title" hasCustomPrompt="1"/>
          </p:nvPr>
        </p:nvSpPr>
        <p:spPr>
          <a:xfrm>
            <a:off x="311700" y="957125"/>
            <a:ext cx="8520600" cy="2128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2"/>
              </a:buClr>
              <a:buSzPts val="16000"/>
              <a:buNone/>
              <a:defRPr sz="16000">
                <a:solidFill>
                  <a:schemeClr val="lt2"/>
                </a:solidFill>
              </a:defRPr>
            </a:lvl1pPr>
            <a:lvl2pPr lvl="1" algn="ctr" rtl="0">
              <a:spcBef>
                <a:spcPts val="0"/>
              </a:spcBef>
              <a:spcAft>
                <a:spcPts val="0"/>
              </a:spcAft>
              <a:buClr>
                <a:schemeClr val="lt2"/>
              </a:buClr>
              <a:buSzPts val="16000"/>
              <a:buNone/>
              <a:defRPr sz="16000">
                <a:solidFill>
                  <a:schemeClr val="lt2"/>
                </a:solidFill>
              </a:defRPr>
            </a:lvl2pPr>
            <a:lvl3pPr lvl="2" algn="ctr" rtl="0">
              <a:spcBef>
                <a:spcPts val="0"/>
              </a:spcBef>
              <a:spcAft>
                <a:spcPts val="0"/>
              </a:spcAft>
              <a:buClr>
                <a:schemeClr val="lt2"/>
              </a:buClr>
              <a:buSzPts val="16000"/>
              <a:buNone/>
              <a:defRPr sz="16000">
                <a:solidFill>
                  <a:schemeClr val="lt2"/>
                </a:solidFill>
              </a:defRPr>
            </a:lvl3pPr>
            <a:lvl4pPr lvl="3" algn="ctr" rtl="0">
              <a:spcBef>
                <a:spcPts val="0"/>
              </a:spcBef>
              <a:spcAft>
                <a:spcPts val="0"/>
              </a:spcAft>
              <a:buClr>
                <a:schemeClr val="lt2"/>
              </a:buClr>
              <a:buSzPts val="16000"/>
              <a:buNone/>
              <a:defRPr sz="16000">
                <a:solidFill>
                  <a:schemeClr val="lt2"/>
                </a:solidFill>
              </a:defRPr>
            </a:lvl4pPr>
            <a:lvl5pPr lvl="4" algn="ctr" rtl="0">
              <a:spcBef>
                <a:spcPts val="0"/>
              </a:spcBef>
              <a:spcAft>
                <a:spcPts val="0"/>
              </a:spcAft>
              <a:buClr>
                <a:schemeClr val="lt2"/>
              </a:buClr>
              <a:buSzPts val="16000"/>
              <a:buNone/>
              <a:defRPr sz="16000">
                <a:solidFill>
                  <a:schemeClr val="lt2"/>
                </a:solidFill>
              </a:defRPr>
            </a:lvl5pPr>
            <a:lvl6pPr lvl="5" algn="ctr" rtl="0">
              <a:spcBef>
                <a:spcPts val="0"/>
              </a:spcBef>
              <a:spcAft>
                <a:spcPts val="0"/>
              </a:spcAft>
              <a:buClr>
                <a:schemeClr val="lt2"/>
              </a:buClr>
              <a:buSzPts val="16000"/>
              <a:buNone/>
              <a:defRPr sz="16000">
                <a:solidFill>
                  <a:schemeClr val="lt2"/>
                </a:solidFill>
              </a:defRPr>
            </a:lvl6pPr>
            <a:lvl7pPr lvl="6" algn="ctr" rtl="0">
              <a:spcBef>
                <a:spcPts val="0"/>
              </a:spcBef>
              <a:spcAft>
                <a:spcPts val="0"/>
              </a:spcAft>
              <a:buClr>
                <a:schemeClr val="lt2"/>
              </a:buClr>
              <a:buSzPts val="16000"/>
              <a:buNone/>
              <a:defRPr sz="16000">
                <a:solidFill>
                  <a:schemeClr val="lt2"/>
                </a:solidFill>
              </a:defRPr>
            </a:lvl7pPr>
            <a:lvl8pPr lvl="7" algn="ctr" rtl="0">
              <a:spcBef>
                <a:spcPts val="0"/>
              </a:spcBef>
              <a:spcAft>
                <a:spcPts val="0"/>
              </a:spcAft>
              <a:buClr>
                <a:schemeClr val="lt2"/>
              </a:buClr>
              <a:buSzPts val="16000"/>
              <a:buNone/>
              <a:defRPr sz="16000">
                <a:solidFill>
                  <a:schemeClr val="lt2"/>
                </a:solidFill>
              </a:defRPr>
            </a:lvl8pPr>
            <a:lvl9pPr lvl="8" algn="ctr" rtl="0">
              <a:spcBef>
                <a:spcPts val="0"/>
              </a:spcBef>
              <a:spcAft>
                <a:spcPts val="0"/>
              </a:spcAft>
              <a:buClr>
                <a:schemeClr val="lt2"/>
              </a:buClr>
              <a:buSzPts val="16000"/>
              <a:buNone/>
              <a:defRPr sz="16000">
                <a:solidFill>
                  <a:schemeClr val="lt2"/>
                </a:solidFill>
              </a:defRPr>
            </a:lvl9pPr>
          </a:lstStyle>
          <a:p>
            <a:r>
              <a:t>xx%</a:t>
            </a:r>
          </a:p>
        </p:txBody>
      </p:sp>
      <p:sp>
        <p:nvSpPr>
          <p:cNvPr id="63" name="Google Shape;63;p13"/>
          <p:cNvSpPr txBox="1">
            <a:spLocks noGrp="1"/>
          </p:cNvSpPr>
          <p:nvPr>
            <p:ph type="body" idx="1"/>
          </p:nvPr>
        </p:nvSpPr>
        <p:spPr>
          <a:xfrm>
            <a:off x="311700" y="3162000"/>
            <a:ext cx="8520600" cy="10716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64" name="Google Shape;64;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5"/>
        <p:cNvGrpSpPr/>
        <p:nvPr/>
      </p:nvGrpSpPr>
      <p:grpSpPr>
        <a:xfrm>
          <a:off x="0" y="0"/>
          <a:ext cx="0" cy="0"/>
          <a:chOff x="0" y="0"/>
          <a:chExt cx="0" cy="0"/>
        </a:xfrm>
      </p:grpSpPr>
      <p:sp>
        <p:nvSpPr>
          <p:cNvPr id="66" name="Google Shape;66;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rtl="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1"/>
                </a:solidFill>
                <a:latin typeface="Economica"/>
                <a:ea typeface="Economica"/>
                <a:cs typeface="Economica"/>
                <a:sym typeface="Economica"/>
              </a:defRPr>
            </a:lvl1pPr>
            <a:lvl2pPr lvl="1" algn="r" rtl="0">
              <a:buNone/>
              <a:defRPr sz="1000">
                <a:solidFill>
                  <a:schemeClr val="dk1"/>
                </a:solidFill>
                <a:latin typeface="Economica"/>
                <a:ea typeface="Economica"/>
                <a:cs typeface="Economica"/>
                <a:sym typeface="Economica"/>
              </a:defRPr>
            </a:lvl2pPr>
            <a:lvl3pPr lvl="2" algn="r" rtl="0">
              <a:buNone/>
              <a:defRPr sz="1000">
                <a:solidFill>
                  <a:schemeClr val="dk1"/>
                </a:solidFill>
                <a:latin typeface="Economica"/>
                <a:ea typeface="Economica"/>
                <a:cs typeface="Economica"/>
                <a:sym typeface="Economica"/>
              </a:defRPr>
            </a:lvl3pPr>
            <a:lvl4pPr lvl="3" algn="r" rtl="0">
              <a:buNone/>
              <a:defRPr sz="1000">
                <a:solidFill>
                  <a:schemeClr val="dk1"/>
                </a:solidFill>
                <a:latin typeface="Economica"/>
                <a:ea typeface="Economica"/>
                <a:cs typeface="Economica"/>
                <a:sym typeface="Economica"/>
              </a:defRPr>
            </a:lvl4pPr>
            <a:lvl5pPr lvl="4" algn="r" rtl="0">
              <a:buNone/>
              <a:defRPr sz="1000">
                <a:solidFill>
                  <a:schemeClr val="dk1"/>
                </a:solidFill>
                <a:latin typeface="Economica"/>
                <a:ea typeface="Economica"/>
                <a:cs typeface="Economica"/>
                <a:sym typeface="Economica"/>
              </a:defRPr>
            </a:lvl5pPr>
            <a:lvl6pPr lvl="5" algn="r" rtl="0">
              <a:buNone/>
              <a:defRPr sz="1000">
                <a:solidFill>
                  <a:schemeClr val="dk1"/>
                </a:solidFill>
                <a:latin typeface="Economica"/>
                <a:ea typeface="Economica"/>
                <a:cs typeface="Economica"/>
                <a:sym typeface="Economica"/>
              </a:defRPr>
            </a:lvl6pPr>
            <a:lvl7pPr lvl="6" algn="r" rtl="0">
              <a:buNone/>
              <a:defRPr sz="1000">
                <a:solidFill>
                  <a:schemeClr val="dk1"/>
                </a:solidFill>
                <a:latin typeface="Economica"/>
                <a:ea typeface="Economica"/>
                <a:cs typeface="Economica"/>
                <a:sym typeface="Economica"/>
              </a:defRPr>
            </a:lvl7pPr>
            <a:lvl8pPr lvl="7" algn="r" rtl="0">
              <a:buNone/>
              <a:defRPr sz="1000">
                <a:solidFill>
                  <a:schemeClr val="dk1"/>
                </a:solidFill>
                <a:latin typeface="Economica"/>
                <a:ea typeface="Economica"/>
                <a:cs typeface="Economica"/>
                <a:sym typeface="Economica"/>
              </a:defRPr>
            </a:lvl8pPr>
            <a:lvl9pPr lvl="8" algn="r" rtl="0">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876E2BE-1E76-0F44-8020-A654157CDF76}"/>
              </a:ext>
            </a:extLst>
          </p:cNvPr>
          <p:cNvSpPr txBox="1"/>
          <p:nvPr/>
        </p:nvSpPr>
        <p:spPr>
          <a:xfrm>
            <a:off x="1663818" y="2894244"/>
            <a:ext cx="2656496" cy="1211870"/>
          </a:xfrm>
          <a:prstGeom prst="rect">
            <a:avLst/>
          </a:prstGeom>
          <a:noFill/>
        </p:spPr>
        <p:txBody>
          <a:bodyPr wrap="none" rtlCol="0">
            <a:spAutoFit/>
          </a:bodyPr>
          <a:lstStyle/>
          <a:p>
            <a:pPr defTabSz="514350"/>
            <a:r>
              <a:rPr lang="en-US" sz="2025" dirty="0">
                <a:latin typeface="Gill Sans MT" panose="020B0502020104020203" pitchFamily="34" charset="77"/>
              </a:rPr>
              <a:t>Dr. José Ramón Iglesias</a:t>
            </a:r>
          </a:p>
          <a:p>
            <a:pPr defTabSz="514350"/>
            <a:r>
              <a:rPr lang="en-US" sz="1050" dirty="0">
                <a:solidFill>
                  <a:prstClr val="white">
                    <a:lumMod val="50000"/>
                  </a:prstClr>
                </a:solidFill>
                <a:latin typeface="Gill Sans MT" panose="020B0502020104020203" pitchFamily="34" charset="77"/>
              </a:rPr>
              <a:t>DSP-ASIC BUILDER GROUP</a:t>
            </a:r>
          </a:p>
          <a:p>
            <a:pPr defTabSz="514350"/>
            <a:r>
              <a:rPr lang="en-US" sz="1050" dirty="0">
                <a:solidFill>
                  <a:prstClr val="white">
                    <a:lumMod val="50000"/>
                  </a:prstClr>
                </a:solidFill>
                <a:latin typeface="Gill Sans MT" panose="020B0502020104020203" pitchFamily="34" charset="77"/>
              </a:rPr>
              <a:t>Director Semillero TRIAC</a:t>
            </a:r>
          </a:p>
          <a:p>
            <a:pPr defTabSz="514350"/>
            <a:r>
              <a:rPr lang="en-US" sz="1050" dirty="0">
                <a:solidFill>
                  <a:prstClr val="white">
                    <a:lumMod val="50000"/>
                  </a:prstClr>
                </a:solidFill>
                <a:latin typeface="Gill Sans MT" panose="020B0502020104020203" pitchFamily="34" charset="77"/>
              </a:rPr>
              <a:t>Ingenieria Electronica</a:t>
            </a:r>
          </a:p>
          <a:p>
            <a:pPr defTabSz="514350"/>
            <a:r>
              <a:rPr lang="en-US" sz="1050" dirty="0">
                <a:solidFill>
                  <a:prstClr val="white">
                    <a:lumMod val="50000"/>
                  </a:prstClr>
                </a:solidFill>
                <a:latin typeface="Gill Sans MT" panose="020B0502020104020203" pitchFamily="34" charset="77"/>
              </a:rPr>
              <a:t>Universidad Popular del Cesar</a:t>
            </a:r>
          </a:p>
          <a:p>
            <a:pPr defTabSz="514350"/>
            <a:endParaRPr lang="en-US" sz="1050" dirty="0">
              <a:solidFill>
                <a:prstClr val="white">
                  <a:lumMod val="50000"/>
                </a:prstClr>
              </a:solidFill>
              <a:latin typeface="Gill Sans MT" panose="020B0502020104020203" pitchFamily="34" charset="77"/>
            </a:endParaRPr>
          </a:p>
        </p:txBody>
      </p:sp>
      <p:sp>
        <p:nvSpPr>
          <p:cNvPr id="8" name="TextBox 7">
            <a:extLst>
              <a:ext uri="{FF2B5EF4-FFF2-40B4-BE49-F238E27FC236}">
                <a16:creationId xmlns:a16="http://schemas.microsoft.com/office/drawing/2014/main" id="{DA0B8274-BF81-6D48-B1EC-87E4CF24BC51}"/>
              </a:ext>
            </a:extLst>
          </p:cNvPr>
          <p:cNvSpPr txBox="1"/>
          <p:nvPr/>
        </p:nvSpPr>
        <p:spPr>
          <a:xfrm>
            <a:off x="1889184" y="1315456"/>
            <a:ext cx="5365632" cy="473206"/>
          </a:xfrm>
          <a:prstGeom prst="rect">
            <a:avLst/>
          </a:prstGeom>
          <a:noFill/>
        </p:spPr>
        <p:txBody>
          <a:bodyPr wrap="square" rtlCol="0">
            <a:spAutoFit/>
          </a:bodyPr>
          <a:lstStyle/>
          <a:p>
            <a:pPr defTabSz="514350"/>
            <a:r>
              <a:rPr lang="en-US" sz="2475" dirty="0" err="1">
                <a:latin typeface="Arial" panose="020B0604020202020204" pitchFamily="34" charset="0"/>
                <a:cs typeface="Arial" panose="020B0604020202020204" pitchFamily="34" charset="0"/>
              </a:rPr>
              <a:t>Ciencia</a:t>
            </a:r>
            <a:r>
              <a:rPr lang="en-US" sz="2475" dirty="0">
                <a:latin typeface="Arial" panose="020B0604020202020204" pitchFamily="34" charset="0"/>
                <a:cs typeface="Arial" panose="020B0604020202020204" pitchFamily="34" charset="0"/>
              </a:rPr>
              <a:t> de </a:t>
            </a:r>
            <a:r>
              <a:rPr lang="en-US" sz="2475" dirty="0" err="1">
                <a:latin typeface="Arial" panose="020B0604020202020204" pitchFamily="34" charset="0"/>
                <a:cs typeface="Arial" panose="020B0604020202020204" pitchFamily="34" charset="0"/>
              </a:rPr>
              <a:t>Datos</a:t>
            </a:r>
            <a:r>
              <a:rPr lang="en-US" sz="2475" dirty="0">
                <a:latin typeface="Arial" panose="020B0604020202020204" pitchFamily="34" charset="0"/>
                <a:cs typeface="Arial" panose="020B0604020202020204" pitchFamily="34" charset="0"/>
              </a:rPr>
              <a:t> y </a:t>
            </a:r>
            <a:r>
              <a:rPr lang="en-US" sz="2475" dirty="0" err="1">
                <a:latin typeface="Arial" panose="020B0604020202020204" pitchFamily="34" charset="0"/>
                <a:cs typeface="Arial" panose="020B0604020202020204" pitchFamily="34" charset="0"/>
              </a:rPr>
              <a:t>BigData</a:t>
            </a:r>
            <a:endParaRPr lang="en-US" sz="1125" dirty="0">
              <a:latin typeface="Gill Sans MT" panose="020B0502020104020203" pitchFamily="34" charset="77"/>
            </a:endParaRPr>
          </a:p>
        </p:txBody>
      </p:sp>
      <p:pic>
        <p:nvPicPr>
          <p:cNvPr id="5" name="Google Shape;30;p1">
            <a:extLst>
              <a:ext uri="{FF2B5EF4-FFF2-40B4-BE49-F238E27FC236}">
                <a16:creationId xmlns:a16="http://schemas.microsoft.com/office/drawing/2014/main" id="{4339DFEC-8BF3-4650-90E0-2B1293346692}"/>
              </a:ext>
            </a:extLst>
          </p:cNvPr>
          <p:cNvPicPr preferRelativeResize="0"/>
          <p:nvPr/>
        </p:nvPicPr>
        <p:blipFill rotWithShape="1">
          <a:blip r:embed="rId2">
            <a:alphaModFix/>
          </a:blip>
          <a:srcRect/>
          <a:stretch/>
        </p:blipFill>
        <p:spPr>
          <a:xfrm>
            <a:off x="1246153" y="679742"/>
            <a:ext cx="1942857" cy="635714"/>
          </a:xfrm>
          <a:prstGeom prst="rect">
            <a:avLst/>
          </a:prstGeom>
          <a:noFill/>
          <a:ln>
            <a:noFill/>
          </a:ln>
        </p:spPr>
      </p:pic>
      <p:sp>
        <p:nvSpPr>
          <p:cNvPr id="6" name="TextBox 1">
            <a:extLst>
              <a:ext uri="{FF2B5EF4-FFF2-40B4-BE49-F238E27FC236}">
                <a16:creationId xmlns:a16="http://schemas.microsoft.com/office/drawing/2014/main" id="{F0B24A3F-60C1-46BB-9F38-67F6A9D0EA23}"/>
              </a:ext>
            </a:extLst>
          </p:cNvPr>
          <p:cNvSpPr txBox="1"/>
          <p:nvPr/>
        </p:nvSpPr>
        <p:spPr>
          <a:xfrm>
            <a:off x="1143001" y="2273300"/>
            <a:ext cx="6858000" cy="369332"/>
          </a:xfrm>
          <a:prstGeom prst="rect">
            <a:avLst/>
          </a:prstGeom>
          <a:noFill/>
        </p:spPr>
        <p:txBody>
          <a:bodyPr wrap="square" rtlCol="0">
            <a:spAutoFit/>
          </a:bodyPr>
          <a:lstStyle/>
          <a:p>
            <a:pPr algn="ctr"/>
            <a:r>
              <a:rPr lang="es-CL" sz="1800" b="1" dirty="0">
                <a:latin typeface="Trebuchet MS"/>
                <a:cs typeface="Trebuchet MS"/>
              </a:rPr>
              <a:t>Análisis y Visualización de Datos </a:t>
            </a:r>
          </a:p>
        </p:txBody>
      </p:sp>
    </p:spTree>
    <p:extLst>
      <p:ext uri="{BB962C8B-B14F-4D97-AF65-F5344CB8AC3E}">
        <p14:creationId xmlns:p14="http://schemas.microsoft.com/office/powerpoint/2010/main" val="242494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9"/>
          <p:cNvSpPr txBox="1">
            <a:spLocks noGrp="1"/>
          </p:cNvSpPr>
          <p:nvPr>
            <p:ph type="title"/>
          </p:nvPr>
        </p:nvSpPr>
        <p:spPr>
          <a:xfrm>
            <a:off x="773700" y="607675"/>
            <a:ext cx="7596600" cy="87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s" sz="4400"/>
              <a:t>¿Qué es la Ciencia de Datos?</a:t>
            </a:r>
            <a:endParaRPr sz="4400" b="1" u="sng">
              <a:solidFill>
                <a:srgbClr val="990000"/>
              </a:solidFill>
            </a:endParaRPr>
          </a:p>
        </p:txBody>
      </p:sp>
      <p:sp>
        <p:nvSpPr>
          <p:cNvPr id="105" name="Google Shape;105;p19"/>
          <p:cNvSpPr txBox="1"/>
          <p:nvPr/>
        </p:nvSpPr>
        <p:spPr>
          <a:xfrm>
            <a:off x="710900" y="1681075"/>
            <a:ext cx="3693900" cy="283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rgbClr val="000000"/>
              </a:buClr>
              <a:buSzPts val="1100"/>
              <a:buFont typeface="Arial"/>
              <a:buNone/>
            </a:pPr>
            <a:r>
              <a:rPr lang="es" sz="3200">
                <a:solidFill>
                  <a:schemeClr val="dk1"/>
                </a:solidFill>
                <a:latin typeface="Economica"/>
                <a:ea typeface="Economica"/>
                <a:cs typeface="Economica"/>
                <a:sym typeface="Economica"/>
              </a:rPr>
              <a:t>Conjunto de disciplinas que utiliza métodos científicos para obtener conocimientos a partir de los datos dándoles un mayor valor.</a:t>
            </a:r>
            <a:endParaRPr sz="1250" b="1">
              <a:solidFill>
                <a:srgbClr val="4D5053"/>
              </a:solidFill>
              <a:highlight>
                <a:srgbClr val="FFFFFF"/>
              </a:highlight>
            </a:endParaRPr>
          </a:p>
          <a:p>
            <a:pPr marL="0" lvl="0" indent="0" algn="l" rtl="0">
              <a:spcBef>
                <a:spcPts val="0"/>
              </a:spcBef>
              <a:spcAft>
                <a:spcPts val="0"/>
              </a:spcAft>
              <a:buNone/>
            </a:pPr>
            <a:endParaRPr sz="1200"/>
          </a:p>
        </p:txBody>
      </p:sp>
      <p:pic>
        <p:nvPicPr>
          <p:cNvPr id="106" name="Google Shape;106;p19"/>
          <p:cNvPicPr preferRelativeResize="0"/>
          <p:nvPr/>
        </p:nvPicPr>
        <p:blipFill>
          <a:blip r:embed="rId3">
            <a:alphaModFix/>
          </a:blip>
          <a:stretch>
            <a:fillRect/>
          </a:stretch>
        </p:blipFill>
        <p:spPr>
          <a:xfrm>
            <a:off x="4731275" y="1672700"/>
            <a:ext cx="3693900" cy="2804835"/>
          </a:xfrm>
          <a:prstGeom prst="rect">
            <a:avLst/>
          </a:prstGeom>
          <a:noFill/>
          <a:ln>
            <a:noFill/>
          </a:ln>
        </p:spPr>
      </p:pic>
      <p:sp>
        <p:nvSpPr>
          <p:cNvPr id="107" name="Google Shape;107;p19"/>
          <p:cNvSpPr/>
          <p:nvPr/>
        </p:nvSpPr>
        <p:spPr>
          <a:xfrm>
            <a:off x="7429500" y="4153825"/>
            <a:ext cx="850500" cy="2928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04"/>
                                        </p:tgtEl>
                                        <p:attrNameLst>
                                          <p:attrName>style.visibility</p:attrName>
                                        </p:attrNameLst>
                                      </p:cBhvr>
                                      <p:to>
                                        <p:strVal val="visible"/>
                                      </p:to>
                                    </p:set>
                                    <p:anim calcmode="lin" valueType="num">
                                      <p:cBhvr additive="base">
                                        <p:cTn id="7" dur="2700"/>
                                        <p:tgtEl>
                                          <p:spTgt spid="104"/>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05"/>
                                        </p:tgtEl>
                                        <p:attrNameLst>
                                          <p:attrName>style.visibility</p:attrName>
                                        </p:attrNameLst>
                                      </p:cBhvr>
                                      <p:to>
                                        <p:strVal val="visible"/>
                                      </p:to>
                                    </p:set>
                                    <p:anim calcmode="lin" valueType="num">
                                      <p:cBhvr additive="base">
                                        <p:cTn id="12" dur="2500"/>
                                        <p:tgtEl>
                                          <p:spTgt spid="105"/>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106"/>
                                        </p:tgtEl>
                                        <p:attrNameLst>
                                          <p:attrName>style.visibility</p:attrName>
                                        </p:attrNameLst>
                                      </p:cBhvr>
                                      <p:to>
                                        <p:strVal val="visible"/>
                                      </p:to>
                                    </p:set>
                                    <p:anim calcmode="lin" valueType="num">
                                      <p:cBhvr additive="base">
                                        <p:cTn id="17" dur="2400"/>
                                        <p:tgtEl>
                                          <p:spTgt spid="10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a:spLocks noGrp="1"/>
          </p:cNvSpPr>
          <p:nvPr>
            <p:ph type="title" idx="4294967295"/>
          </p:nvPr>
        </p:nvSpPr>
        <p:spPr>
          <a:xfrm>
            <a:off x="5700500" y="1806450"/>
            <a:ext cx="2846100" cy="1530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s" sz="4400"/>
              <a:t>Statistical analysis and data reconfiguration</a:t>
            </a:r>
            <a:endParaRPr sz="4400" b="1" u="sng">
              <a:solidFill>
                <a:srgbClr val="990000"/>
              </a:solidFill>
            </a:endParaRPr>
          </a:p>
        </p:txBody>
      </p:sp>
      <p:pic>
        <p:nvPicPr>
          <p:cNvPr id="113" name="Google Shape;113;p20"/>
          <p:cNvPicPr preferRelativeResize="0"/>
          <p:nvPr/>
        </p:nvPicPr>
        <p:blipFill>
          <a:blip r:embed="rId3">
            <a:alphaModFix/>
          </a:blip>
          <a:stretch>
            <a:fillRect/>
          </a:stretch>
        </p:blipFill>
        <p:spPr>
          <a:xfrm>
            <a:off x="0" y="0"/>
            <a:ext cx="5143500" cy="5143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2"/>
                                        </p:tgtEl>
                                        <p:attrNameLst>
                                          <p:attrName>style.visibility</p:attrName>
                                        </p:attrNameLst>
                                      </p:cBhvr>
                                      <p:to>
                                        <p:strVal val="visible"/>
                                      </p:to>
                                    </p:set>
                                    <p:animEffect transition="in" filter="fade">
                                      <p:cBhvr>
                                        <p:cTn id="7" dur="10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1"/>
          <p:cNvSpPr/>
          <p:nvPr/>
        </p:nvSpPr>
        <p:spPr>
          <a:xfrm>
            <a:off x="596075" y="536450"/>
            <a:ext cx="2557800" cy="41382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119" name="Google Shape;119;p21"/>
          <p:cNvSpPr/>
          <p:nvPr/>
        </p:nvSpPr>
        <p:spPr>
          <a:xfrm>
            <a:off x="3240500" y="392650"/>
            <a:ext cx="2781300" cy="43896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120" name="Google Shape;120;p21"/>
          <p:cNvSpPr/>
          <p:nvPr/>
        </p:nvSpPr>
        <p:spPr>
          <a:xfrm>
            <a:off x="6108525" y="504750"/>
            <a:ext cx="2557800" cy="41382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121" name="Google Shape;121;p21"/>
          <p:cNvSpPr txBox="1"/>
          <p:nvPr/>
        </p:nvSpPr>
        <p:spPr>
          <a:xfrm>
            <a:off x="787173" y="705111"/>
            <a:ext cx="2163300" cy="51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700" b="1">
                <a:solidFill>
                  <a:schemeClr val="accent2"/>
                </a:solidFill>
                <a:latin typeface="Open Sans"/>
                <a:ea typeface="Open Sans"/>
                <a:cs typeface="Open Sans"/>
                <a:sym typeface="Open Sans"/>
              </a:rPr>
              <a:t>Data Analysis</a:t>
            </a:r>
            <a:endParaRPr sz="1700" b="1">
              <a:solidFill>
                <a:schemeClr val="accent2"/>
              </a:solidFill>
              <a:latin typeface="Open Sans"/>
              <a:ea typeface="Open Sans"/>
              <a:cs typeface="Open Sans"/>
              <a:sym typeface="Open Sans"/>
            </a:endParaRPr>
          </a:p>
        </p:txBody>
      </p:sp>
      <p:sp>
        <p:nvSpPr>
          <p:cNvPr id="122" name="Google Shape;122;p21"/>
          <p:cNvSpPr txBox="1"/>
          <p:nvPr/>
        </p:nvSpPr>
        <p:spPr>
          <a:xfrm>
            <a:off x="3549443" y="623109"/>
            <a:ext cx="2163300" cy="51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900" b="1">
                <a:solidFill>
                  <a:schemeClr val="accent2"/>
                </a:solidFill>
                <a:latin typeface="Open Sans"/>
                <a:ea typeface="Open Sans"/>
                <a:cs typeface="Open Sans"/>
                <a:sym typeface="Open Sans"/>
              </a:rPr>
              <a:t>Data Science</a:t>
            </a:r>
            <a:endParaRPr sz="1900" b="1">
              <a:solidFill>
                <a:schemeClr val="accent2"/>
              </a:solidFill>
              <a:latin typeface="Open Sans"/>
              <a:ea typeface="Open Sans"/>
              <a:cs typeface="Open Sans"/>
              <a:sym typeface="Open Sans"/>
            </a:endParaRPr>
          </a:p>
        </p:txBody>
      </p:sp>
      <p:sp>
        <p:nvSpPr>
          <p:cNvPr id="123" name="Google Shape;123;p21"/>
          <p:cNvSpPr txBox="1"/>
          <p:nvPr/>
        </p:nvSpPr>
        <p:spPr>
          <a:xfrm>
            <a:off x="6311725" y="705111"/>
            <a:ext cx="2163300" cy="51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700" b="1">
                <a:solidFill>
                  <a:schemeClr val="accent2"/>
                </a:solidFill>
                <a:latin typeface="Open Sans"/>
                <a:ea typeface="Open Sans"/>
                <a:cs typeface="Open Sans"/>
                <a:sym typeface="Open Sans"/>
              </a:rPr>
              <a:t>Machine Learning</a:t>
            </a:r>
            <a:endParaRPr sz="1700" b="1">
              <a:solidFill>
                <a:schemeClr val="accent2"/>
              </a:solidFill>
              <a:latin typeface="Open Sans"/>
              <a:ea typeface="Open Sans"/>
              <a:cs typeface="Open Sans"/>
              <a:sym typeface="Open Sans"/>
            </a:endParaRPr>
          </a:p>
        </p:txBody>
      </p:sp>
      <p:sp>
        <p:nvSpPr>
          <p:cNvPr id="124" name="Google Shape;124;p21"/>
          <p:cNvSpPr txBox="1"/>
          <p:nvPr/>
        </p:nvSpPr>
        <p:spPr>
          <a:xfrm>
            <a:off x="733525" y="1285824"/>
            <a:ext cx="2306400" cy="334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500">
                <a:solidFill>
                  <a:schemeClr val="dk1"/>
                </a:solidFill>
                <a:latin typeface="Open Sans"/>
                <a:ea typeface="Open Sans"/>
                <a:cs typeface="Open Sans"/>
                <a:sym typeface="Open Sans"/>
              </a:rPr>
              <a:t>Parte de preguntas concretas</a:t>
            </a:r>
            <a:endParaRPr sz="1500">
              <a:solidFill>
                <a:schemeClr val="dk1"/>
              </a:solidFill>
              <a:latin typeface="Open Sans"/>
              <a:ea typeface="Open Sans"/>
              <a:cs typeface="Open Sans"/>
              <a:sym typeface="Open Sans"/>
            </a:endParaRPr>
          </a:p>
          <a:p>
            <a:pPr marL="0" lvl="0" indent="0" algn="ctr" rtl="0">
              <a:spcBef>
                <a:spcPts val="3000"/>
              </a:spcBef>
              <a:spcAft>
                <a:spcPts val="0"/>
              </a:spcAft>
              <a:buNone/>
            </a:pPr>
            <a:r>
              <a:rPr lang="es" sz="1500">
                <a:solidFill>
                  <a:schemeClr val="dk1"/>
                </a:solidFill>
                <a:latin typeface="Open Sans"/>
                <a:ea typeface="Open Sans"/>
                <a:cs typeface="Open Sans"/>
                <a:sym typeface="Open Sans"/>
              </a:rPr>
              <a:t>Busca explicar los datos para tomar decisiones</a:t>
            </a:r>
            <a:endParaRPr sz="1500">
              <a:solidFill>
                <a:schemeClr val="dk1"/>
              </a:solidFill>
              <a:latin typeface="Open Sans"/>
              <a:ea typeface="Open Sans"/>
              <a:cs typeface="Open Sans"/>
              <a:sym typeface="Open Sans"/>
            </a:endParaRPr>
          </a:p>
          <a:p>
            <a:pPr marL="0" lvl="0" indent="0" algn="ctr" rtl="0">
              <a:spcBef>
                <a:spcPts val="3000"/>
              </a:spcBef>
              <a:spcAft>
                <a:spcPts val="0"/>
              </a:spcAft>
              <a:buNone/>
            </a:pPr>
            <a:r>
              <a:rPr lang="es" sz="1500">
                <a:solidFill>
                  <a:schemeClr val="dk1"/>
                </a:solidFill>
                <a:latin typeface="Open Sans"/>
                <a:ea typeface="Open Sans"/>
                <a:cs typeface="Open Sans"/>
                <a:sym typeface="Open Sans"/>
              </a:rPr>
              <a:t>Guiado por la intuición del analista</a:t>
            </a:r>
            <a:endParaRPr sz="1500">
              <a:solidFill>
                <a:schemeClr val="dk1"/>
              </a:solidFill>
              <a:latin typeface="Open Sans"/>
              <a:ea typeface="Open Sans"/>
              <a:cs typeface="Open Sans"/>
              <a:sym typeface="Open Sans"/>
            </a:endParaRPr>
          </a:p>
          <a:p>
            <a:pPr marL="0" lvl="0" indent="0" algn="ctr" rtl="0">
              <a:spcBef>
                <a:spcPts val="3000"/>
              </a:spcBef>
              <a:spcAft>
                <a:spcPts val="3000"/>
              </a:spcAft>
              <a:buNone/>
            </a:pPr>
            <a:r>
              <a:rPr lang="es" sz="1500">
                <a:solidFill>
                  <a:schemeClr val="dk1"/>
                </a:solidFill>
                <a:latin typeface="Open Sans"/>
                <a:ea typeface="Open Sans"/>
                <a:cs typeface="Open Sans"/>
                <a:sym typeface="Open Sans"/>
              </a:rPr>
              <a:t>Detecta patrones superficiales</a:t>
            </a:r>
            <a:endParaRPr sz="1500">
              <a:solidFill>
                <a:schemeClr val="dk1"/>
              </a:solidFill>
              <a:latin typeface="Open Sans"/>
              <a:ea typeface="Open Sans"/>
              <a:cs typeface="Open Sans"/>
              <a:sym typeface="Open Sans"/>
            </a:endParaRPr>
          </a:p>
        </p:txBody>
      </p:sp>
      <p:sp>
        <p:nvSpPr>
          <p:cNvPr id="125" name="Google Shape;125;p21"/>
          <p:cNvSpPr txBox="1"/>
          <p:nvPr/>
        </p:nvSpPr>
        <p:spPr>
          <a:xfrm>
            <a:off x="3326375" y="1285825"/>
            <a:ext cx="2609400" cy="320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s" sz="1500">
                <a:solidFill>
                  <a:schemeClr val="dk1"/>
                </a:solidFill>
                <a:latin typeface="Open Sans"/>
                <a:ea typeface="Open Sans"/>
                <a:cs typeface="Open Sans"/>
                <a:sym typeface="Open Sans"/>
              </a:rPr>
              <a:t>Parte de una situación problemática</a:t>
            </a:r>
            <a:endParaRPr sz="1500">
              <a:solidFill>
                <a:schemeClr val="dk1"/>
              </a:solidFill>
              <a:latin typeface="Open Sans"/>
              <a:ea typeface="Open Sans"/>
              <a:cs typeface="Open Sans"/>
              <a:sym typeface="Open Sans"/>
            </a:endParaRPr>
          </a:p>
          <a:p>
            <a:pPr marL="0" marR="0" lvl="0" indent="0" algn="ctr" rtl="0">
              <a:lnSpc>
                <a:spcPct val="100000"/>
              </a:lnSpc>
              <a:spcBef>
                <a:spcPts val="3000"/>
              </a:spcBef>
              <a:spcAft>
                <a:spcPts val="0"/>
              </a:spcAft>
              <a:buNone/>
            </a:pPr>
            <a:r>
              <a:rPr lang="es" sz="1500">
                <a:solidFill>
                  <a:schemeClr val="dk1"/>
                </a:solidFill>
                <a:latin typeface="Open Sans"/>
                <a:ea typeface="Open Sans"/>
                <a:cs typeface="Open Sans"/>
                <a:sym typeface="Open Sans"/>
              </a:rPr>
              <a:t>Busca un producto de datos</a:t>
            </a:r>
            <a:endParaRPr sz="1500">
              <a:solidFill>
                <a:schemeClr val="dk1"/>
              </a:solidFill>
              <a:latin typeface="Open Sans"/>
              <a:ea typeface="Open Sans"/>
              <a:cs typeface="Open Sans"/>
              <a:sym typeface="Open Sans"/>
            </a:endParaRPr>
          </a:p>
          <a:p>
            <a:pPr marL="0" marR="0" lvl="0" indent="0" algn="ctr" rtl="0">
              <a:lnSpc>
                <a:spcPct val="100000"/>
              </a:lnSpc>
              <a:spcBef>
                <a:spcPts val="3000"/>
              </a:spcBef>
              <a:spcAft>
                <a:spcPts val="0"/>
              </a:spcAft>
              <a:buNone/>
            </a:pPr>
            <a:r>
              <a:rPr lang="es" sz="1500">
                <a:solidFill>
                  <a:schemeClr val="dk1"/>
                </a:solidFill>
                <a:latin typeface="Open Sans"/>
                <a:ea typeface="Open Sans"/>
                <a:cs typeface="Open Sans"/>
                <a:sym typeface="Open Sans"/>
              </a:rPr>
              <a:t>Guiado por interpretación de resultados</a:t>
            </a:r>
            <a:endParaRPr sz="1500">
              <a:solidFill>
                <a:schemeClr val="dk1"/>
              </a:solidFill>
              <a:latin typeface="Open Sans"/>
              <a:ea typeface="Open Sans"/>
              <a:cs typeface="Open Sans"/>
              <a:sym typeface="Open Sans"/>
            </a:endParaRPr>
          </a:p>
          <a:p>
            <a:pPr marL="0" lvl="0" indent="0" algn="ctr" rtl="0">
              <a:spcBef>
                <a:spcPts val="3000"/>
              </a:spcBef>
              <a:spcAft>
                <a:spcPts val="0"/>
              </a:spcAft>
              <a:buNone/>
            </a:pPr>
            <a:r>
              <a:rPr lang="es" sz="1500">
                <a:solidFill>
                  <a:schemeClr val="dk1"/>
                </a:solidFill>
                <a:latin typeface="Open Sans"/>
                <a:ea typeface="Open Sans"/>
                <a:cs typeface="Open Sans"/>
                <a:sym typeface="Open Sans"/>
              </a:rPr>
              <a:t>Hace emerger patrones profundos</a:t>
            </a:r>
            <a:endParaRPr sz="1500">
              <a:solidFill>
                <a:schemeClr val="dk1"/>
              </a:solidFill>
              <a:latin typeface="Open Sans"/>
              <a:ea typeface="Open Sans"/>
              <a:cs typeface="Open Sans"/>
              <a:sym typeface="Open Sans"/>
            </a:endParaRPr>
          </a:p>
          <a:p>
            <a:pPr marL="0" lvl="0" indent="0" algn="ctr" rtl="0">
              <a:spcBef>
                <a:spcPts val="3000"/>
              </a:spcBef>
              <a:spcAft>
                <a:spcPts val="3000"/>
              </a:spcAft>
              <a:buNone/>
            </a:pPr>
            <a:endParaRPr sz="1500">
              <a:solidFill>
                <a:schemeClr val="dk1"/>
              </a:solidFill>
              <a:latin typeface="Open Sans"/>
              <a:ea typeface="Open Sans"/>
              <a:cs typeface="Open Sans"/>
              <a:sym typeface="Open Sans"/>
            </a:endParaRPr>
          </a:p>
        </p:txBody>
      </p:sp>
      <p:sp>
        <p:nvSpPr>
          <p:cNvPr id="126" name="Google Shape;126;p21"/>
          <p:cNvSpPr txBox="1"/>
          <p:nvPr/>
        </p:nvSpPr>
        <p:spPr>
          <a:xfrm>
            <a:off x="6222295" y="1285824"/>
            <a:ext cx="2306400" cy="3346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s" sz="1500">
                <a:solidFill>
                  <a:schemeClr val="dk1"/>
                </a:solidFill>
                <a:latin typeface="Open Sans"/>
                <a:ea typeface="Open Sans"/>
                <a:cs typeface="Open Sans"/>
                <a:sym typeface="Open Sans"/>
              </a:rPr>
              <a:t>Parte de una tarea y un conjunto de datos</a:t>
            </a:r>
            <a:endParaRPr sz="1500">
              <a:solidFill>
                <a:schemeClr val="dk1"/>
              </a:solidFill>
              <a:latin typeface="Open Sans"/>
              <a:ea typeface="Open Sans"/>
              <a:cs typeface="Open Sans"/>
              <a:sym typeface="Open Sans"/>
            </a:endParaRPr>
          </a:p>
          <a:p>
            <a:pPr marL="0" marR="0" lvl="0" indent="0" algn="ctr" rtl="0">
              <a:lnSpc>
                <a:spcPct val="100000"/>
              </a:lnSpc>
              <a:spcBef>
                <a:spcPts val="3000"/>
              </a:spcBef>
              <a:spcAft>
                <a:spcPts val="0"/>
              </a:spcAft>
              <a:buNone/>
            </a:pPr>
            <a:r>
              <a:rPr lang="es" sz="1500">
                <a:solidFill>
                  <a:schemeClr val="dk1"/>
                </a:solidFill>
                <a:latin typeface="Open Sans"/>
                <a:ea typeface="Open Sans"/>
                <a:cs typeface="Open Sans"/>
                <a:sym typeface="Open Sans"/>
              </a:rPr>
              <a:t>Busca optimizar una métrica de desempeño</a:t>
            </a:r>
            <a:endParaRPr sz="1500">
              <a:solidFill>
                <a:schemeClr val="dk1"/>
              </a:solidFill>
              <a:latin typeface="Open Sans"/>
              <a:ea typeface="Open Sans"/>
              <a:cs typeface="Open Sans"/>
              <a:sym typeface="Open Sans"/>
            </a:endParaRPr>
          </a:p>
          <a:p>
            <a:pPr marL="0" marR="0" lvl="0" indent="0" algn="ctr" rtl="0">
              <a:lnSpc>
                <a:spcPct val="100000"/>
              </a:lnSpc>
              <a:spcBef>
                <a:spcPts val="3000"/>
              </a:spcBef>
              <a:spcAft>
                <a:spcPts val="0"/>
              </a:spcAft>
              <a:buNone/>
            </a:pPr>
            <a:r>
              <a:rPr lang="es" sz="1500">
                <a:solidFill>
                  <a:schemeClr val="dk1"/>
                </a:solidFill>
                <a:latin typeface="Open Sans"/>
                <a:ea typeface="Open Sans"/>
                <a:cs typeface="Open Sans"/>
                <a:sym typeface="Open Sans"/>
              </a:rPr>
              <a:t>Guiado por la teoría de los modelos</a:t>
            </a:r>
            <a:endParaRPr sz="1500">
              <a:solidFill>
                <a:schemeClr val="dk1"/>
              </a:solidFill>
              <a:latin typeface="Open Sans"/>
              <a:ea typeface="Open Sans"/>
              <a:cs typeface="Open Sans"/>
              <a:sym typeface="Open Sans"/>
            </a:endParaRPr>
          </a:p>
          <a:p>
            <a:pPr marL="0" lvl="0" indent="0" algn="ctr" rtl="0">
              <a:spcBef>
                <a:spcPts val="3000"/>
              </a:spcBef>
              <a:spcAft>
                <a:spcPts val="0"/>
              </a:spcAft>
              <a:buNone/>
            </a:pPr>
            <a:r>
              <a:rPr lang="es" sz="1500">
                <a:solidFill>
                  <a:schemeClr val="dk1"/>
                </a:solidFill>
                <a:latin typeface="Open Sans"/>
                <a:ea typeface="Open Sans"/>
                <a:cs typeface="Open Sans"/>
                <a:sym typeface="Open Sans"/>
              </a:rPr>
              <a:t>Detecta patrones profundos</a:t>
            </a:r>
            <a:endParaRPr sz="1500">
              <a:solidFill>
                <a:schemeClr val="dk1"/>
              </a:solidFill>
              <a:latin typeface="Open Sans"/>
              <a:ea typeface="Open Sans"/>
              <a:cs typeface="Open Sans"/>
              <a:sym typeface="Open Sans"/>
            </a:endParaRPr>
          </a:p>
          <a:p>
            <a:pPr marL="0" lvl="0" indent="0" algn="ctr" rtl="0">
              <a:spcBef>
                <a:spcPts val="3000"/>
              </a:spcBef>
              <a:spcAft>
                <a:spcPts val="3000"/>
              </a:spcAft>
              <a:buNone/>
            </a:pPr>
            <a:endParaRPr sz="1500">
              <a:solidFill>
                <a:schemeClr val="dk1"/>
              </a:solidFill>
              <a:latin typeface="Open Sans"/>
              <a:ea typeface="Open Sans"/>
              <a:cs typeface="Open Sans"/>
              <a:sym typeface="Open Sans"/>
            </a:endParaRPr>
          </a:p>
        </p:txBody>
      </p:sp>
      <p:cxnSp>
        <p:nvCxnSpPr>
          <p:cNvPr id="127" name="Google Shape;127;p21"/>
          <p:cNvCxnSpPr/>
          <p:nvPr/>
        </p:nvCxnSpPr>
        <p:spPr>
          <a:xfrm>
            <a:off x="382625" y="1999650"/>
            <a:ext cx="8474400" cy="0"/>
          </a:xfrm>
          <a:prstGeom prst="straightConnector1">
            <a:avLst/>
          </a:prstGeom>
          <a:noFill/>
          <a:ln w="19050" cap="flat" cmpd="sng">
            <a:solidFill>
              <a:schemeClr val="dk2"/>
            </a:solidFill>
            <a:prstDash val="dot"/>
            <a:round/>
            <a:headEnd type="diamond" w="med" len="med"/>
            <a:tailEnd type="diamond" w="med" len="med"/>
          </a:ln>
        </p:spPr>
      </p:cxnSp>
      <p:cxnSp>
        <p:nvCxnSpPr>
          <p:cNvPr id="128" name="Google Shape;128;p21"/>
          <p:cNvCxnSpPr/>
          <p:nvPr/>
        </p:nvCxnSpPr>
        <p:spPr>
          <a:xfrm>
            <a:off x="382625" y="2830824"/>
            <a:ext cx="8474400" cy="0"/>
          </a:xfrm>
          <a:prstGeom prst="straightConnector1">
            <a:avLst/>
          </a:prstGeom>
          <a:noFill/>
          <a:ln w="19050" cap="flat" cmpd="sng">
            <a:solidFill>
              <a:schemeClr val="dk2"/>
            </a:solidFill>
            <a:prstDash val="dot"/>
            <a:round/>
            <a:headEnd type="diamond" w="med" len="med"/>
            <a:tailEnd type="diamond" w="med" len="med"/>
          </a:ln>
        </p:spPr>
      </p:cxnSp>
      <p:cxnSp>
        <p:nvCxnSpPr>
          <p:cNvPr id="129" name="Google Shape;129;p21"/>
          <p:cNvCxnSpPr/>
          <p:nvPr/>
        </p:nvCxnSpPr>
        <p:spPr>
          <a:xfrm>
            <a:off x="382625" y="3709800"/>
            <a:ext cx="8474400" cy="0"/>
          </a:xfrm>
          <a:prstGeom prst="straightConnector1">
            <a:avLst/>
          </a:prstGeom>
          <a:noFill/>
          <a:ln w="19050" cap="flat" cmpd="sng">
            <a:solidFill>
              <a:schemeClr val="dk2"/>
            </a:solidFill>
            <a:prstDash val="dot"/>
            <a:round/>
            <a:headEnd type="diamond" w="med" len="med"/>
            <a:tailEnd type="diamond"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7"/>
                                        </p:tgtEl>
                                        <p:attrNameLst>
                                          <p:attrName>style.visibility</p:attrName>
                                        </p:attrNameLst>
                                      </p:cBhvr>
                                      <p:to>
                                        <p:strVal val="visible"/>
                                      </p:to>
                                    </p:set>
                                    <p:anim calcmode="lin" valueType="num">
                                      <p:cBhvr additive="base">
                                        <p:cTn id="7" dur="1000"/>
                                        <p:tgtEl>
                                          <p:spTgt spid="127"/>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128"/>
                                        </p:tgtEl>
                                        <p:attrNameLst>
                                          <p:attrName>style.visibility</p:attrName>
                                        </p:attrNameLst>
                                      </p:cBhvr>
                                      <p:to>
                                        <p:strVal val="visible"/>
                                      </p:to>
                                    </p:set>
                                    <p:anim calcmode="lin" valueType="num">
                                      <p:cBhvr additive="base">
                                        <p:cTn id="10" dur="1000"/>
                                        <p:tgtEl>
                                          <p:spTgt spid="128"/>
                                        </p:tgtEl>
                                        <p:attrNameLst>
                                          <p:attrName>ppt_x</p:attrName>
                                        </p:attrNameLst>
                                      </p:cBhvr>
                                      <p:tavLst>
                                        <p:tav tm="0">
                                          <p:val>
                                            <p:strVal val="#ppt_x-1"/>
                                          </p:val>
                                        </p:tav>
                                        <p:tav tm="100000">
                                          <p:val>
                                            <p:strVal val="#ppt_x"/>
                                          </p:val>
                                        </p:tav>
                                      </p:tavLst>
                                    </p:anim>
                                  </p:childTnLst>
                                </p:cTn>
                              </p:par>
                              <p:par>
                                <p:cTn id="11" presetID="2" presetClass="entr" presetSubtype="8" fill="hold" nodeType="withEffect">
                                  <p:stCondLst>
                                    <p:cond delay="0"/>
                                  </p:stCondLst>
                                  <p:childTnLst>
                                    <p:set>
                                      <p:cBhvr>
                                        <p:cTn id="12" dur="1" fill="hold">
                                          <p:stCondLst>
                                            <p:cond delay="0"/>
                                          </p:stCondLst>
                                        </p:cTn>
                                        <p:tgtEl>
                                          <p:spTgt spid="129"/>
                                        </p:tgtEl>
                                        <p:attrNameLst>
                                          <p:attrName>style.visibility</p:attrName>
                                        </p:attrNameLst>
                                      </p:cBhvr>
                                      <p:to>
                                        <p:strVal val="visible"/>
                                      </p:to>
                                    </p:set>
                                    <p:anim calcmode="lin" valueType="num">
                                      <p:cBhvr additive="base">
                                        <p:cTn id="13" dur="1000"/>
                                        <p:tgtEl>
                                          <p:spTgt spid="129"/>
                                        </p:tgtEl>
                                        <p:attrNameLst>
                                          <p:attrName>ppt_x</p:attrName>
                                        </p:attrNameLst>
                                      </p:cBhvr>
                                      <p:tavLst>
                                        <p:tav tm="0">
                                          <p:val>
                                            <p:strVal val="#ppt_x-1"/>
                                          </p:val>
                                        </p:tav>
                                        <p:tav tm="100000">
                                          <p:val>
                                            <p:strVal val="#ppt_x"/>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24">
                                            <p:txEl>
                                              <p:pRg st="0" end="0"/>
                                            </p:txEl>
                                          </p:spTgt>
                                        </p:tgtEl>
                                        <p:attrNameLst>
                                          <p:attrName>style.visibility</p:attrName>
                                        </p:attrNameLst>
                                      </p:cBhvr>
                                      <p:to>
                                        <p:strVal val="visible"/>
                                      </p:to>
                                    </p:set>
                                    <p:animEffect transition="in" filter="fade">
                                      <p:cBhvr>
                                        <p:cTn id="18" dur="1000"/>
                                        <p:tgtEl>
                                          <p:spTgt spid="124">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4">
                                            <p:txEl>
                                              <p:pRg st="1" end="1"/>
                                            </p:txEl>
                                          </p:spTgt>
                                        </p:tgtEl>
                                        <p:attrNameLst>
                                          <p:attrName>style.visibility</p:attrName>
                                        </p:attrNameLst>
                                      </p:cBhvr>
                                      <p:to>
                                        <p:strVal val="visible"/>
                                      </p:to>
                                    </p:set>
                                    <p:animEffect transition="in" filter="fade">
                                      <p:cBhvr>
                                        <p:cTn id="23" dur="1000"/>
                                        <p:tgtEl>
                                          <p:spTgt spid="124">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24">
                                            <p:txEl>
                                              <p:pRg st="2" end="2"/>
                                            </p:txEl>
                                          </p:spTgt>
                                        </p:tgtEl>
                                        <p:attrNameLst>
                                          <p:attrName>style.visibility</p:attrName>
                                        </p:attrNameLst>
                                      </p:cBhvr>
                                      <p:to>
                                        <p:strVal val="visible"/>
                                      </p:to>
                                    </p:set>
                                    <p:animEffect transition="in" filter="fade">
                                      <p:cBhvr>
                                        <p:cTn id="28" dur="1000"/>
                                        <p:tgtEl>
                                          <p:spTgt spid="124">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24">
                                            <p:txEl>
                                              <p:pRg st="3" end="3"/>
                                            </p:txEl>
                                          </p:spTgt>
                                        </p:tgtEl>
                                        <p:attrNameLst>
                                          <p:attrName>style.visibility</p:attrName>
                                        </p:attrNameLst>
                                      </p:cBhvr>
                                      <p:to>
                                        <p:strVal val="visible"/>
                                      </p:to>
                                    </p:set>
                                    <p:animEffect transition="in" filter="fade">
                                      <p:cBhvr>
                                        <p:cTn id="33" dur="1000"/>
                                        <p:tgtEl>
                                          <p:spTgt spid="124">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26">
                                            <p:txEl>
                                              <p:pRg st="0" end="0"/>
                                            </p:txEl>
                                          </p:spTgt>
                                        </p:tgtEl>
                                        <p:attrNameLst>
                                          <p:attrName>style.visibility</p:attrName>
                                        </p:attrNameLst>
                                      </p:cBhvr>
                                      <p:to>
                                        <p:strVal val="visible"/>
                                      </p:to>
                                    </p:set>
                                    <p:animEffect transition="in" filter="fade">
                                      <p:cBhvr>
                                        <p:cTn id="38" dur="1000"/>
                                        <p:tgtEl>
                                          <p:spTgt spid="126">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26">
                                            <p:txEl>
                                              <p:pRg st="1" end="1"/>
                                            </p:txEl>
                                          </p:spTgt>
                                        </p:tgtEl>
                                        <p:attrNameLst>
                                          <p:attrName>style.visibility</p:attrName>
                                        </p:attrNameLst>
                                      </p:cBhvr>
                                      <p:to>
                                        <p:strVal val="visible"/>
                                      </p:to>
                                    </p:set>
                                    <p:animEffect transition="in" filter="fade">
                                      <p:cBhvr>
                                        <p:cTn id="43" dur="1000"/>
                                        <p:tgtEl>
                                          <p:spTgt spid="126">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26">
                                            <p:txEl>
                                              <p:pRg st="2" end="2"/>
                                            </p:txEl>
                                          </p:spTgt>
                                        </p:tgtEl>
                                        <p:attrNameLst>
                                          <p:attrName>style.visibility</p:attrName>
                                        </p:attrNameLst>
                                      </p:cBhvr>
                                      <p:to>
                                        <p:strVal val="visible"/>
                                      </p:to>
                                    </p:set>
                                    <p:animEffect transition="in" filter="fade">
                                      <p:cBhvr>
                                        <p:cTn id="48" dur="1000"/>
                                        <p:tgtEl>
                                          <p:spTgt spid="126">
                                            <p:txEl>
                                              <p:pRg st="2"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26">
                                            <p:txEl>
                                              <p:pRg st="3" end="3"/>
                                            </p:txEl>
                                          </p:spTgt>
                                        </p:tgtEl>
                                        <p:attrNameLst>
                                          <p:attrName>style.visibility</p:attrName>
                                        </p:attrNameLst>
                                      </p:cBhvr>
                                      <p:to>
                                        <p:strVal val="visible"/>
                                      </p:to>
                                    </p:set>
                                    <p:animEffect transition="in" filter="fade">
                                      <p:cBhvr>
                                        <p:cTn id="53" dur="1000"/>
                                        <p:tgtEl>
                                          <p:spTgt spid="126">
                                            <p:txEl>
                                              <p:pRg st="3" end="3"/>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26">
                                            <p:txEl>
                                              <p:pRg st="4" end="4"/>
                                            </p:txEl>
                                          </p:spTgt>
                                        </p:tgtEl>
                                        <p:attrNameLst>
                                          <p:attrName>style.visibility</p:attrName>
                                        </p:attrNameLst>
                                      </p:cBhvr>
                                      <p:to>
                                        <p:strVal val="visible"/>
                                      </p:to>
                                    </p:set>
                                    <p:animEffect transition="in" filter="fade">
                                      <p:cBhvr>
                                        <p:cTn id="58" dur="1000"/>
                                        <p:tgtEl>
                                          <p:spTgt spid="126">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25">
                                            <p:txEl>
                                              <p:pRg st="0" end="0"/>
                                            </p:txEl>
                                          </p:spTgt>
                                        </p:tgtEl>
                                        <p:attrNameLst>
                                          <p:attrName>style.visibility</p:attrName>
                                        </p:attrNameLst>
                                      </p:cBhvr>
                                      <p:to>
                                        <p:strVal val="visible"/>
                                      </p:to>
                                    </p:set>
                                    <p:animEffect transition="in" filter="fade">
                                      <p:cBhvr>
                                        <p:cTn id="63" dur="1000"/>
                                        <p:tgtEl>
                                          <p:spTgt spid="125">
                                            <p:txEl>
                                              <p:pRg st="0" end="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25">
                                            <p:txEl>
                                              <p:pRg st="1" end="1"/>
                                            </p:txEl>
                                          </p:spTgt>
                                        </p:tgtEl>
                                        <p:attrNameLst>
                                          <p:attrName>style.visibility</p:attrName>
                                        </p:attrNameLst>
                                      </p:cBhvr>
                                      <p:to>
                                        <p:strVal val="visible"/>
                                      </p:to>
                                    </p:set>
                                    <p:animEffect transition="in" filter="fade">
                                      <p:cBhvr>
                                        <p:cTn id="68" dur="1000"/>
                                        <p:tgtEl>
                                          <p:spTgt spid="125">
                                            <p:txEl>
                                              <p:pRg st="1" end="1"/>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125">
                                            <p:txEl>
                                              <p:pRg st="2" end="2"/>
                                            </p:txEl>
                                          </p:spTgt>
                                        </p:tgtEl>
                                        <p:attrNameLst>
                                          <p:attrName>style.visibility</p:attrName>
                                        </p:attrNameLst>
                                      </p:cBhvr>
                                      <p:to>
                                        <p:strVal val="visible"/>
                                      </p:to>
                                    </p:set>
                                    <p:animEffect transition="in" filter="fade">
                                      <p:cBhvr>
                                        <p:cTn id="73" dur="1000"/>
                                        <p:tgtEl>
                                          <p:spTgt spid="125">
                                            <p:txEl>
                                              <p:pRg st="2" end="2"/>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125">
                                            <p:txEl>
                                              <p:pRg st="3" end="3"/>
                                            </p:txEl>
                                          </p:spTgt>
                                        </p:tgtEl>
                                        <p:attrNameLst>
                                          <p:attrName>style.visibility</p:attrName>
                                        </p:attrNameLst>
                                      </p:cBhvr>
                                      <p:to>
                                        <p:strVal val="visible"/>
                                      </p:to>
                                    </p:set>
                                    <p:animEffect transition="in" filter="fade">
                                      <p:cBhvr>
                                        <p:cTn id="78" dur="1000"/>
                                        <p:tgtEl>
                                          <p:spTgt spid="125">
                                            <p:txEl>
                                              <p:pRg st="3" end="3"/>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125">
                                            <p:txEl>
                                              <p:pRg st="4" end="4"/>
                                            </p:txEl>
                                          </p:spTgt>
                                        </p:tgtEl>
                                        <p:attrNameLst>
                                          <p:attrName>style.visibility</p:attrName>
                                        </p:attrNameLst>
                                      </p:cBhvr>
                                      <p:to>
                                        <p:strVal val="visible"/>
                                      </p:to>
                                    </p:set>
                                    <p:animEffect transition="in" filter="fade">
                                      <p:cBhvr>
                                        <p:cTn id="83" dur="1000"/>
                                        <p:tgtEl>
                                          <p:spTgt spid="125">
                                            <p:txEl>
                                              <p:pRg st="4" end="4"/>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2" presetClass="exit" presetSubtype="8" fill="hold" nodeType="clickEffect">
                                  <p:stCondLst>
                                    <p:cond delay="0"/>
                                  </p:stCondLst>
                                  <p:childTnLst>
                                    <p:anim calcmode="lin" valueType="num">
                                      <p:cBhvr additive="base">
                                        <p:cTn id="87" dur="1000"/>
                                        <p:tgtEl>
                                          <p:spTgt spid="127"/>
                                        </p:tgtEl>
                                        <p:attrNameLst>
                                          <p:attrName>ppt_x</p:attrName>
                                        </p:attrNameLst>
                                      </p:cBhvr>
                                      <p:tavLst>
                                        <p:tav tm="0">
                                          <p:val>
                                            <p:strVal val="#ppt_x"/>
                                          </p:val>
                                        </p:tav>
                                        <p:tav tm="100000">
                                          <p:val>
                                            <p:strVal val="#ppt_x-1"/>
                                          </p:val>
                                        </p:tav>
                                      </p:tavLst>
                                    </p:anim>
                                    <p:set>
                                      <p:cBhvr>
                                        <p:cTn id="88" dur="1" fill="hold">
                                          <p:stCondLst>
                                            <p:cond delay="1000"/>
                                          </p:stCondLst>
                                        </p:cTn>
                                        <p:tgtEl>
                                          <p:spTgt spid="127"/>
                                        </p:tgtEl>
                                        <p:attrNameLst>
                                          <p:attrName>style.visibility</p:attrName>
                                        </p:attrNameLst>
                                      </p:cBhvr>
                                      <p:to>
                                        <p:strVal val="hidden"/>
                                      </p:to>
                                    </p:set>
                                  </p:childTnLst>
                                </p:cTn>
                              </p:par>
                              <p:par>
                                <p:cTn id="89" presetID="2" presetClass="exit" presetSubtype="8" fill="hold" nodeType="withEffect">
                                  <p:stCondLst>
                                    <p:cond delay="0"/>
                                  </p:stCondLst>
                                  <p:childTnLst>
                                    <p:anim calcmode="lin" valueType="num">
                                      <p:cBhvr additive="base">
                                        <p:cTn id="90" dur="1000"/>
                                        <p:tgtEl>
                                          <p:spTgt spid="128"/>
                                        </p:tgtEl>
                                        <p:attrNameLst>
                                          <p:attrName>ppt_x</p:attrName>
                                        </p:attrNameLst>
                                      </p:cBhvr>
                                      <p:tavLst>
                                        <p:tav tm="0">
                                          <p:val>
                                            <p:strVal val="#ppt_x"/>
                                          </p:val>
                                        </p:tav>
                                        <p:tav tm="100000">
                                          <p:val>
                                            <p:strVal val="#ppt_x-1"/>
                                          </p:val>
                                        </p:tav>
                                      </p:tavLst>
                                    </p:anim>
                                    <p:set>
                                      <p:cBhvr>
                                        <p:cTn id="91" dur="1" fill="hold">
                                          <p:stCondLst>
                                            <p:cond delay="1000"/>
                                          </p:stCondLst>
                                        </p:cTn>
                                        <p:tgtEl>
                                          <p:spTgt spid="128"/>
                                        </p:tgtEl>
                                        <p:attrNameLst>
                                          <p:attrName>style.visibility</p:attrName>
                                        </p:attrNameLst>
                                      </p:cBhvr>
                                      <p:to>
                                        <p:strVal val="hidden"/>
                                      </p:to>
                                    </p:set>
                                  </p:childTnLst>
                                </p:cTn>
                              </p:par>
                              <p:par>
                                <p:cTn id="92" presetID="2" presetClass="exit" presetSubtype="8" fill="hold" nodeType="withEffect">
                                  <p:stCondLst>
                                    <p:cond delay="0"/>
                                  </p:stCondLst>
                                  <p:childTnLst>
                                    <p:anim calcmode="lin" valueType="num">
                                      <p:cBhvr additive="base">
                                        <p:cTn id="93" dur="1000"/>
                                        <p:tgtEl>
                                          <p:spTgt spid="129"/>
                                        </p:tgtEl>
                                        <p:attrNameLst>
                                          <p:attrName>ppt_x</p:attrName>
                                        </p:attrNameLst>
                                      </p:cBhvr>
                                      <p:tavLst>
                                        <p:tav tm="0">
                                          <p:val>
                                            <p:strVal val="#ppt_x"/>
                                          </p:val>
                                        </p:tav>
                                        <p:tav tm="100000">
                                          <p:val>
                                            <p:strVal val="#ppt_x-1"/>
                                          </p:val>
                                        </p:tav>
                                      </p:tavLst>
                                    </p:anim>
                                    <p:set>
                                      <p:cBhvr>
                                        <p:cTn id="94" dur="1" fill="hold">
                                          <p:stCondLst>
                                            <p:cond delay="1000"/>
                                          </p:stCondLst>
                                        </p:cTn>
                                        <p:tgtEl>
                                          <p:spTgt spid="129"/>
                                        </p:tgtEl>
                                        <p:attrNameLst>
                                          <p:attrName>style.visibility</p:attrName>
                                        </p:attrNameLst>
                                      </p:cBhvr>
                                      <p:to>
                                        <p:strVal val="hidden"/>
                                      </p:to>
                                    </p:set>
                                  </p:childTnLst>
                                </p:cTn>
                              </p:par>
                              <p:par>
                                <p:cTn id="95" presetID="10" presetClass="exit" presetSubtype="0" fill="hold" nodeType="withEffect">
                                  <p:stCondLst>
                                    <p:cond delay="0"/>
                                  </p:stCondLst>
                                  <p:childTnLst>
                                    <p:animEffect transition="out" filter="fade">
                                      <p:cBhvr>
                                        <p:cTn id="96" dur="1000"/>
                                        <p:tgtEl>
                                          <p:spTgt spid="124"/>
                                        </p:tgtEl>
                                      </p:cBhvr>
                                    </p:animEffect>
                                    <p:set>
                                      <p:cBhvr>
                                        <p:cTn id="97" dur="1" fill="hold">
                                          <p:stCondLst>
                                            <p:cond delay="1000"/>
                                          </p:stCondLst>
                                        </p:cTn>
                                        <p:tgtEl>
                                          <p:spTgt spid="124"/>
                                        </p:tgtEl>
                                        <p:attrNameLst>
                                          <p:attrName>style.visibility</p:attrName>
                                        </p:attrNameLst>
                                      </p:cBhvr>
                                      <p:to>
                                        <p:strVal val="hidden"/>
                                      </p:to>
                                    </p:set>
                                  </p:childTnLst>
                                </p:cTn>
                              </p:par>
                              <p:par>
                                <p:cTn id="98" presetID="10" presetClass="exit" presetSubtype="0" fill="hold" nodeType="withEffect">
                                  <p:stCondLst>
                                    <p:cond delay="0"/>
                                  </p:stCondLst>
                                  <p:childTnLst>
                                    <p:animEffect transition="out" filter="fade">
                                      <p:cBhvr>
                                        <p:cTn id="99" dur="1000"/>
                                        <p:tgtEl>
                                          <p:spTgt spid="125"/>
                                        </p:tgtEl>
                                      </p:cBhvr>
                                    </p:animEffect>
                                    <p:set>
                                      <p:cBhvr>
                                        <p:cTn id="100" dur="1" fill="hold">
                                          <p:stCondLst>
                                            <p:cond delay="1000"/>
                                          </p:stCondLst>
                                        </p:cTn>
                                        <p:tgtEl>
                                          <p:spTgt spid="125"/>
                                        </p:tgtEl>
                                        <p:attrNameLst>
                                          <p:attrName>style.visibility</p:attrName>
                                        </p:attrNameLst>
                                      </p:cBhvr>
                                      <p:to>
                                        <p:strVal val="hidden"/>
                                      </p:to>
                                    </p:set>
                                  </p:childTnLst>
                                </p:cTn>
                              </p:par>
                              <p:par>
                                <p:cTn id="101" presetID="10" presetClass="exit" presetSubtype="0" fill="hold" nodeType="withEffect">
                                  <p:stCondLst>
                                    <p:cond delay="0"/>
                                  </p:stCondLst>
                                  <p:childTnLst>
                                    <p:animEffect transition="out" filter="fade">
                                      <p:cBhvr>
                                        <p:cTn id="102" dur="1000"/>
                                        <p:tgtEl>
                                          <p:spTgt spid="126"/>
                                        </p:tgtEl>
                                      </p:cBhvr>
                                    </p:animEffect>
                                    <p:set>
                                      <p:cBhvr>
                                        <p:cTn id="103" dur="1" fill="hold">
                                          <p:stCondLst>
                                            <p:cond delay="1000"/>
                                          </p:stCondLst>
                                        </p:cTn>
                                        <p:tgtEl>
                                          <p:spTgt spid="1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2"/>
          <p:cNvSpPr/>
          <p:nvPr/>
        </p:nvSpPr>
        <p:spPr>
          <a:xfrm>
            <a:off x="596075" y="536450"/>
            <a:ext cx="2557800" cy="41382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135" name="Google Shape;135;p22"/>
          <p:cNvSpPr/>
          <p:nvPr/>
        </p:nvSpPr>
        <p:spPr>
          <a:xfrm>
            <a:off x="3240500" y="392650"/>
            <a:ext cx="2781300" cy="43896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136" name="Google Shape;136;p22"/>
          <p:cNvSpPr/>
          <p:nvPr/>
        </p:nvSpPr>
        <p:spPr>
          <a:xfrm>
            <a:off x="6108525" y="504750"/>
            <a:ext cx="2557800" cy="41382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137" name="Google Shape;137;p22"/>
          <p:cNvSpPr txBox="1"/>
          <p:nvPr/>
        </p:nvSpPr>
        <p:spPr>
          <a:xfrm>
            <a:off x="787173" y="705111"/>
            <a:ext cx="2163300" cy="51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700" b="1">
                <a:solidFill>
                  <a:schemeClr val="accent2"/>
                </a:solidFill>
                <a:latin typeface="Open Sans"/>
                <a:ea typeface="Open Sans"/>
                <a:cs typeface="Open Sans"/>
                <a:sym typeface="Open Sans"/>
              </a:rPr>
              <a:t>Data Analysis</a:t>
            </a:r>
            <a:endParaRPr sz="1700" b="1">
              <a:solidFill>
                <a:schemeClr val="accent2"/>
              </a:solidFill>
              <a:latin typeface="Open Sans"/>
              <a:ea typeface="Open Sans"/>
              <a:cs typeface="Open Sans"/>
              <a:sym typeface="Open Sans"/>
            </a:endParaRPr>
          </a:p>
        </p:txBody>
      </p:sp>
      <p:sp>
        <p:nvSpPr>
          <p:cNvPr id="138" name="Google Shape;138;p22"/>
          <p:cNvSpPr txBox="1"/>
          <p:nvPr/>
        </p:nvSpPr>
        <p:spPr>
          <a:xfrm>
            <a:off x="3549443" y="623109"/>
            <a:ext cx="2163300" cy="51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900" b="1">
                <a:solidFill>
                  <a:schemeClr val="accent2"/>
                </a:solidFill>
                <a:latin typeface="Open Sans"/>
                <a:ea typeface="Open Sans"/>
                <a:cs typeface="Open Sans"/>
                <a:sym typeface="Open Sans"/>
              </a:rPr>
              <a:t>Data Science</a:t>
            </a:r>
            <a:endParaRPr sz="1900" b="1">
              <a:solidFill>
                <a:schemeClr val="accent2"/>
              </a:solidFill>
              <a:latin typeface="Open Sans"/>
              <a:ea typeface="Open Sans"/>
              <a:cs typeface="Open Sans"/>
              <a:sym typeface="Open Sans"/>
            </a:endParaRPr>
          </a:p>
        </p:txBody>
      </p:sp>
      <p:sp>
        <p:nvSpPr>
          <p:cNvPr id="139" name="Google Shape;139;p22"/>
          <p:cNvSpPr txBox="1"/>
          <p:nvPr/>
        </p:nvSpPr>
        <p:spPr>
          <a:xfrm>
            <a:off x="6311725" y="705111"/>
            <a:ext cx="2163300" cy="51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700" b="1">
                <a:solidFill>
                  <a:schemeClr val="accent2"/>
                </a:solidFill>
                <a:latin typeface="Open Sans"/>
                <a:ea typeface="Open Sans"/>
                <a:cs typeface="Open Sans"/>
                <a:sym typeface="Open Sans"/>
              </a:rPr>
              <a:t>Machine Learning</a:t>
            </a:r>
            <a:endParaRPr sz="1700" b="1">
              <a:solidFill>
                <a:schemeClr val="accent2"/>
              </a:solidFill>
              <a:latin typeface="Open Sans"/>
              <a:ea typeface="Open Sans"/>
              <a:cs typeface="Open Sans"/>
              <a:sym typeface="Open Sans"/>
            </a:endParaRPr>
          </a:p>
        </p:txBody>
      </p:sp>
      <p:sp>
        <p:nvSpPr>
          <p:cNvPr id="140" name="Google Shape;140;p22"/>
          <p:cNvSpPr txBox="1"/>
          <p:nvPr/>
        </p:nvSpPr>
        <p:spPr>
          <a:xfrm>
            <a:off x="835925" y="1614225"/>
            <a:ext cx="2078100" cy="24036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s" sz="1600">
                <a:solidFill>
                  <a:schemeClr val="dk1"/>
                </a:solidFill>
                <a:latin typeface="Open Sans"/>
                <a:ea typeface="Open Sans"/>
                <a:cs typeface="Open Sans"/>
                <a:sym typeface="Open Sans"/>
              </a:rPr>
              <a:t>Explicar por qué se observa que los usuarios dejan de utilizar la plataforma pasados 6 meses</a:t>
            </a:r>
            <a:endParaRPr sz="1600">
              <a:solidFill>
                <a:schemeClr val="dk1"/>
              </a:solidFill>
              <a:latin typeface="Open Sans"/>
              <a:ea typeface="Open Sans"/>
              <a:cs typeface="Open Sans"/>
              <a:sym typeface="Open Sans"/>
            </a:endParaRPr>
          </a:p>
        </p:txBody>
      </p:sp>
      <p:sp>
        <p:nvSpPr>
          <p:cNvPr id="141" name="Google Shape;141;p22"/>
          <p:cNvSpPr txBox="1"/>
          <p:nvPr/>
        </p:nvSpPr>
        <p:spPr>
          <a:xfrm>
            <a:off x="3522201" y="1614225"/>
            <a:ext cx="2217900" cy="24036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s" sz="1600">
                <a:solidFill>
                  <a:schemeClr val="dk1"/>
                </a:solidFill>
                <a:latin typeface="Open Sans"/>
                <a:ea typeface="Open Sans"/>
                <a:cs typeface="Open Sans"/>
                <a:sym typeface="Open Sans"/>
              </a:rPr>
              <a:t>Encontrar grupos de usuarios (segmentos) que tienen patrones de compras similares, para elegir distintas estrategias de marketing</a:t>
            </a:r>
            <a:endParaRPr sz="1600">
              <a:solidFill>
                <a:schemeClr val="dk1"/>
              </a:solidFill>
              <a:latin typeface="Open Sans"/>
              <a:ea typeface="Open Sans"/>
              <a:cs typeface="Open Sans"/>
              <a:sym typeface="Open Sans"/>
            </a:endParaRPr>
          </a:p>
        </p:txBody>
      </p:sp>
      <p:sp>
        <p:nvSpPr>
          <p:cNvPr id="142" name="Google Shape;142;p22"/>
          <p:cNvSpPr txBox="1"/>
          <p:nvPr/>
        </p:nvSpPr>
        <p:spPr>
          <a:xfrm>
            <a:off x="6278475" y="1614225"/>
            <a:ext cx="2217900" cy="24036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s" sz="1600">
                <a:solidFill>
                  <a:schemeClr val="dk1"/>
                </a:solidFill>
                <a:latin typeface="Open Sans"/>
                <a:ea typeface="Open Sans"/>
                <a:cs typeface="Open Sans"/>
                <a:sym typeface="Open Sans"/>
              </a:rPr>
              <a:t>Clasificar usuarios en “high value” vs “low value” de acuerdo a cuánto se predice que gastarán en la plataforma</a:t>
            </a:r>
            <a:endParaRPr sz="1600">
              <a:solidFill>
                <a:schemeClr val="dk1"/>
              </a:solidFill>
              <a:latin typeface="Open Sans"/>
              <a:ea typeface="Open Sans"/>
              <a:cs typeface="Open Sans"/>
              <a:sym typeface="Open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1"/>
                                        </p:tgtEl>
                                        <p:attrNameLst>
                                          <p:attrName>style.visibility</p:attrName>
                                        </p:attrNameLst>
                                      </p:cBhvr>
                                      <p:to>
                                        <p:strVal val="visible"/>
                                      </p:to>
                                    </p:set>
                                    <p:animEffect transition="in" filter="fade">
                                      <p:cBhvr>
                                        <p:cTn id="7" dur="1000"/>
                                        <p:tgtEl>
                                          <p:spTgt spid="1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0"/>
                                        </p:tgtEl>
                                        <p:attrNameLst>
                                          <p:attrName>style.visibility</p:attrName>
                                        </p:attrNameLst>
                                      </p:cBhvr>
                                      <p:to>
                                        <p:strVal val="visible"/>
                                      </p:to>
                                    </p:set>
                                    <p:animEffect transition="in" filter="fade">
                                      <p:cBhvr>
                                        <p:cTn id="12" dur="1000"/>
                                        <p:tgtEl>
                                          <p:spTgt spid="1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2"/>
                                        </p:tgtEl>
                                        <p:attrNameLst>
                                          <p:attrName>style.visibility</p:attrName>
                                        </p:attrNameLst>
                                      </p:cBhvr>
                                      <p:to>
                                        <p:strVal val="visible"/>
                                      </p:to>
                                    </p:set>
                                    <p:animEffect transition="in" filter="fade">
                                      <p:cBhvr>
                                        <p:cTn id="17" dur="1000"/>
                                        <p:tgtEl>
                                          <p:spTgt spid="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3"/>
          <p:cNvSpPr txBox="1">
            <a:spLocks noGrp="1"/>
          </p:cNvSpPr>
          <p:nvPr>
            <p:ph type="title"/>
          </p:nvPr>
        </p:nvSpPr>
        <p:spPr>
          <a:xfrm>
            <a:off x="311700" y="316800"/>
            <a:ext cx="28080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El ciclo sin fin</a:t>
            </a:r>
            <a:endParaRPr/>
          </a:p>
        </p:txBody>
      </p:sp>
      <p:sp>
        <p:nvSpPr>
          <p:cNvPr id="148" name="Google Shape;148;p23"/>
          <p:cNvSpPr/>
          <p:nvPr/>
        </p:nvSpPr>
        <p:spPr>
          <a:xfrm>
            <a:off x="4640824" y="725317"/>
            <a:ext cx="3078900" cy="3194400"/>
          </a:xfrm>
          <a:prstGeom prst="donut">
            <a:avLst>
              <a:gd name="adj" fmla="val 16067"/>
            </a:avLst>
          </a:prstGeom>
          <a:noFill/>
          <a:ln w="2857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 name="Google Shape;149;p23"/>
          <p:cNvGrpSpPr/>
          <p:nvPr/>
        </p:nvGrpSpPr>
        <p:grpSpPr>
          <a:xfrm>
            <a:off x="6964190" y="178033"/>
            <a:ext cx="2252510" cy="1008092"/>
            <a:chOff x="5214006" y="730510"/>
            <a:chExt cx="1858200" cy="801600"/>
          </a:xfrm>
        </p:grpSpPr>
        <p:cxnSp>
          <p:nvCxnSpPr>
            <p:cNvPr id="150" name="Google Shape;150;p23"/>
            <p:cNvCxnSpPr>
              <a:stCxn id="151" idx="1"/>
            </p:cNvCxnSpPr>
            <p:nvPr/>
          </p:nvCxnSpPr>
          <p:spPr>
            <a:xfrm flipH="1">
              <a:off x="5214006" y="1065310"/>
              <a:ext cx="363000" cy="466800"/>
            </a:xfrm>
            <a:prstGeom prst="straightConnector1">
              <a:avLst/>
            </a:prstGeom>
            <a:noFill/>
            <a:ln w="19050" cap="flat" cmpd="sng">
              <a:solidFill>
                <a:schemeClr val="dk2"/>
              </a:solidFill>
              <a:prstDash val="solid"/>
              <a:round/>
              <a:headEnd type="oval" w="med" len="med"/>
              <a:tailEnd type="none" w="sm" len="sm"/>
            </a:ln>
          </p:spPr>
        </p:cxnSp>
        <p:sp>
          <p:nvSpPr>
            <p:cNvPr id="151" name="Google Shape;151;p23"/>
            <p:cNvSpPr txBox="1"/>
            <p:nvPr/>
          </p:nvSpPr>
          <p:spPr>
            <a:xfrm>
              <a:off x="5577006" y="730510"/>
              <a:ext cx="1495200" cy="66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400" b="1">
                  <a:latin typeface="Economica"/>
                  <a:ea typeface="Economica"/>
                  <a:cs typeface="Economica"/>
                  <a:sym typeface="Economica"/>
                </a:rPr>
                <a:t>01</a:t>
              </a:r>
              <a:endParaRPr sz="2400" b="1">
                <a:latin typeface="Economica"/>
                <a:ea typeface="Economica"/>
                <a:cs typeface="Economica"/>
                <a:sym typeface="Economica"/>
              </a:endParaRPr>
            </a:p>
            <a:p>
              <a:pPr marL="0" lvl="0" indent="0" algn="l" rtl="0">
                <a:lnSpc>
                  <a:spcPct val="115000"/>
                </a:lnSpc>
                <a:spcBef>
                  <a:spcPts val="0"/>
                </a:spcBef>
                <a:spcAft>
                  <a:spcPts val="0"/>
                </a:spcAft>
                <a:buNone/>
              </a:pPr>
              <a:r>
                <a:rPr lang="es">
                  <a:latin typeface="Economica"/>
                  <a:ea typeface="Economica"/>
                  <a:cs typeface="Economica"/>
                  <a:sym typeface="Economica"/>
                </a:rPr>
                <a:t>DEFINICIÓN DEL PROBLEMA DE NEGOCIOS</a:t>
              </a:r>
              <a:endParaRPr b="1">
                <a:latin typeface="Economica"/>
                <a:ea typeface="Economica"/>
                <a:cs typeface="Economica"/>
                <a:sym typeface="Economica"/>
              </a:endParaRPr>
            </a:p>
          </p:txBody>
        </p:sp>
      </p:grpSp>
      <p:grpSp>
        <p:nvGrpSpPr>
          <p:cNvPr id="152" name="Google Shape;152;p23"/>
          <p:cNvGrpSpPr/>
          <p:nvPr/>
        </p:nvGrpSpPr>
        <p:grpSpPr>
          <a:xfrm>
            <a:off x="3039721" y="330433"/>
            <a:ext cx="2265238" cy="855671"/>
            <a:chOff x="2039391" y="851693"/>
            <a:chExt cx="1868700" cy="680400"/>
          </a:xfrm>
        </p:grpSpPr>
        <p:cxnSp>
          <p:nvCxnSpPr>
            <p:cNvPr id="153" name="Google Shape;153;p23"/>
            <p:cNvCxnSpPr>
              <a:stCxn id="154" idx="3"/>
            </p:cNvCxnSpPr>
            <p:nvPr/>
          </p:nvCxnSpPr>
          <p:spPr>
            <a:xfrm>
              <a:off x="3534591" y="1186493"/>
              <a:ext cx="373500" cy="345600"/>
            </a:xfrm>
            <a:prstGeom prst="straightConnector1">
              <a:avLst/>
            </a:prstGeom>
            <a:noFill/>
            <a:ln w="19050" cap="flat" cmpd="sng">
              <a:solidFill>
                <a:schemeClr val="accent6"/>
              </a:solidFill>
              <a:prstDash val="solid"/>
              <a:round/>
              <a:headEnd type="oval" w="med" len="med"/>
              <a:tailEnd type="none" w="sm" len="sm"/>
            </a:ln>
          </p:spPr>
        </p:cxnSp>
        <p:sp>
          <p:nvSpPr>
            <p:cNvPr id="154" name="Google Shape;154;p23"/>
            <p:cNvSpPr txBox="1"/>
            <p:nvPr/>
          </p:nvSpPr>
          <p:spPr>
            <a:xfrm>
              <a:off x="2039391" y="851693"/>
              <a:ext cx="1495200" cy="6696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s" sz="2400" b="1">
                  <a:solidFill>
                    <a:schemeClr val="dk1"/>
                  </a:solidFill>
                  <a:latin typeface="Economica"/>
                  <a:ea typeface="Economica"/>
                  <a:cs typeface="Economica"/>
                  <a:sym typeface="Economica"/>
                </a:rPr>
                <a:t>05</a:t>
              </a:r>
              <a:endParaRPr sz="2400" b="1">
                <a:solidFill>
                  <a:schemeClr val="dk1"/>
                </a:solidFill>
                <a:latin typeface="Economica"/>
                <a:ea typeface="Economica"/>
                <a:cs typeface="Economica"/>
                <a:sym typeface="Economica"/>
              </a:endParaRPr>
            </a:p>
            <a:p>
              <a:pPr marL="0" lvl="0" indent="0" algn="r" rtl="0">
                <a:lnSpc>
                  <a:spcPct val="115000"/>
                </a:lnSpc>
                <a:spcBef>
                  <a:spcPts val="0"/>
                </a:spcBef>
                <a:spcAft>
                  <a:spcPts val="0"/>
                </a:spcAft>
                <a:buNone/>
              </a:pPr>
              <a:r>
                <a:rPr lang="es">
                  <a:solidFill>
                    <a:schemeClr val="dk1"/>
                  </a:solidFill>
                  <a:latin typeface="Economica"/>
                  <a:ea typeface="Economica"/>
                  <a:cs typeface="Economica"/>
                  <a:sym typeface="Economica"/>
                </a:rPr>
                <a:t>COMUNICACIÓN DE RESULTADOS</a:t>
              </a:r>
              <a:endParaRPr sz="800">
                <a:latin typeface="Roboto"/>
                <a:ea typeface="Roboto"/>
                <a:cs typeface="Roboto"/>
                <a:sym typeface="Roboto"/>
              </a:endParaRPr>
            </a:p>
          </p:txBody>
        </p:sp>
      </p:grpSp>
      <p:grpSp>
        <p:nvGrpSpPr>
          <p:cNvPr id="155" name="Google Shape;155;p23"/>
          <p:cNvGrpSpPr/>
          <p:nvPr/>
        </p:nvGrpSpPr>
        <p:grpSpPr>
          <a:xfrm>
            <a:off x="7462972" y="2511700"/>
            <a:ext cx="1920231" cy="842089"/>
            <a:chOff x="5625475" y="2586161"/>
            <a:chExt cx="1584087" cy="669600"/>
          </a:xfrm>
        </p:grpSpPr>
        <p:cxnSp>
          <p:nvCxnSpPr>
            <p:cNvPr id="156" name="Google Shape;156;p23"/>
            <p:cNvCxnSpPr/>
            <p:nvPr/>
          </p:nvCxnSpPr>
          <p:spPr>
            <a:xfrm rot="10800000">
              <a:off x="5625475" y="2771675"/>
              <a:ext cx="442200" cy="153300"/>
            </a:xfrm>
            <a:prstGeom prst="straightConnector1">
              <a:avLst/>
            </a:prstGeom>
            <a:noFill/>
            <a:ln w="19050" cap="flat" cmpd="sng">
              <a:solidFill>
                <a:schemeClr val="lt2"/>
              </a:solidFill>
              <a:prstDash val="solid"/>
              <a:round/>
              <a:headEnd type="oval" w="med" len="med"/>
              <a:tailEnd type="none" w="sm" len="sm"/>
            </a:ln>
          </p:spPr>
        </p:cxnSp>
        <p:sp>
          <p:nvSpPr>
            <p:cNvPr id="157" name="Google Shape;157;p23"/>
            <p:cNvSpPr txBox="1"/>
            <p:nvPr/>
          </p:nvSpPr>
          <p:spPr>
            <a:xfrm>
              <a:off x="6077362" y="2586161"/>
              <a:ext cx="1132200" cy="66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400" b="1">
                  <a:latin typeface="Economica"/>
                  <a:ea typeface="Economica"/>
                  <a:cs typeface="Economica"/>
                  <a:sym typeface="Economica"/>
                </a:rPr>
                <a:t>02</a:t>
              </a:r>
              <a:endParaRPr sz="2400" b="1">
                <a:latin typeface="Economica"/>
                <a:ea typeface="Economica"/>
                <a:cs typeface="Economica"/>
                <a:sym typeface="Economica"/>
              </a:endParaRPr>
            </a:p>
            <a:p>
              <a:pPr marL="0" lvl="0" indent="0" algn="l" rtl="0">
                <a:lnSpc>
                  <a:spcPct val="115000"/>
                </a:lnSpc>
                <a:spcBef>
                  <a:spcPts val="0"/>
                </a:spcBef>
                <a:spcAft>
                  <a:spcPts val="0"/>
                </a:spcAft>
                <a:buNone/>
              </a:pPr>
              <a:r>
                <a:rPr lang="es">
                  <a:latin typeface="Economica"/>
                  <a:ea typeface="Economica"/>
                  <a:cs typeface="Economica"/>
                  <a:sym typeface="Economica"/>
                </a:rPr>
                <a:t>ANÁLISIS Y EXPLORACIÓN DE DATOS</a:t>
              </a:r>
              <a:endParaRPr b="1">
                <a:latin typeface="Economica"/>
                <a:ea typeface="Economica"/>
                <a:cs typeface="Economica"/>
                <a:sym typeface="Economica"/>
              </a:endParaRPr>
            </a:p>
          </p:txBody>
        </p:sp>
      </p:grpSp>
      <p:grpSp>
        <p:nvGrpSpPr>
          <p:cNvPr id="158" name="Google Shape;158;p23"/>
          <p:cNvGrpSpPr/>
          <p:nvPr/>
        </p:nvGrpSpPr>
        <p:grpSpPr>
          <a:xfrm>
            <a:off x="2968151" y="2493475"/>
            <a:ext cx="1930048" cy="842089"/>
            <a:chOff x="1917489" y="2571669"/>
            <a:chExt cx="1592186" cy="669600"/>
          </a:xfrm>
        </p:grpSpPr>
        <p:cxnSp>
          <p:nvCxnSpPr>
            <p:cNvPr id="159" name="Google Shape;159;p23"/>
            <p:cNvCxnSpPr/>
            <p:nvPr/>
          </p:nvCxnSpPr>
          <p:spPr>
            <a:xfrm rot="10800000" flipH="1">
              <a:off x="3059375" y="2771675"/>
              <a:ext cx="450300" cy="145200"/>
            </a:xfrm>
            <a:prstGeom prst="straightConnector1">
              <a:avLst/>
            </a:prstGeom>
            <a:noFill/>
            <a:ln w="19050" cap="flat" cmpd="sng">
              <a:solidFill>
                <a:schemeClr val="accent3"/>
              </a:solidFill>
              <a:prstDash val="solid"/>
              <a:round/>
              <a:headEnd type="oval" w="med" len="med"/>
              <a:tailEnd type="none" w="sm" len="sm"/>
            </a:ln>
          </p:spPr>
        </p:cxnSp>
        <p:sp>
          <p:nvSpPr>
            <p:cNvPr id="160" name="Google Shape;160;p23"/>
            <p:cNvSpPr txBox="1"/>
            <p:nvPr/>
          </p:nvSpPr>
          <p:spPr>
            <a:xfrm>
              <a:off x="1917489" y="2571669"/>
              <a:ext cx="1132200" cy="6696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s" sz="2400" b="1">
                  <a:solidFill>
                    <a:schemeClr val="dk1"/>
                  </a:solidFill>
                  <a:latin typeface="Economica"/>
                  <a:ea typeface="Economica"/>
                  <a:cs typeface="Economica"/>
                  <a:sym typeface="Economica"/>
                </a:rPr>
                <a:t>04</a:t>
              </a:r>
              <a:endParaRPr sz="2400" b="1">
                <a:solidFill>
                  <a:schemeClr val="dk1"/>
                </a:solidFill>
                <a:latin typeface="Economica"/>
                <a:ea typeface="Economica"/>
                <a:cs typeface="Economica"/>
                <a:sym typeface="Economica"/>
              </a:endParaRPr>
            </a:p>
            <a:p>
              <a:pPr marL="0" lvl="0" indent="0" algn="r" rtl="0">
                <a:lnSpc>
                  <a:spcPct val="115000"/>
                </a:lnSpc>
                <a:spcBef>
                  <a:spcPts val="0"/>
                </a:spcBef>
                <a:spcAft>
                  <a:spcPts val="0"/>
                </a:spcAft>
                <a:buNone/>
              </a:pPr>
              <a:r>
                <a:rPr lang="es">
                  <a:solidFill>
                    <a:schemeClr val="dk1"/>
                  </a:solidFill>
                  <a:latin typeface="Economica"/>
                  <a:ea typeface="Economica"/>
                  <a:cs typeface="Economica"/>
                  <a:sym typeface="Economica"/>
                </a:rPr>
                <a:t>MODELADO PREDICTIVO</a:t>
              </a:r>
              <a:endParaRPr sz="1200">
                <a:latin typeface="Roboto"/>
                <a:ea typeface="Roboto"/>
                <a:cs typeface="Roboto"/>
                <a:sym typeface="Roboto"/>
              </a:endParaRPr>
            </a:p>
          </p:txBody>
        </p:sp>
      </p:grpSp>
      <p:grpSp>
        <p:nvGrpSpPr>
          <p:cNvPr id="161" name="Google Shape;161;p23"/>
          <p:cNvGrpSpPr/>
          <p:nvPr/>
        </p:nvGrpSpPr>
        <p:grpSpPr>
          <a:xfrm>
            <a:off x="5078226" y="3712506"/>
            <a:ext cx="2176141" cy="1431070"/>
            <a:chOff x="3658187" y="3541000"/>
            <a:chExt cx="1795200" cy="1137938"/>
          </a:xfrm>
        </p:grpSpPr>
        <p:cxnSp>
          <p:nvCxnSpPr>
            <p:cNvPr id="162" name="Google Shape;162;p23"/>
            <p:cNvCxnSpPr/>
            <p:nvPr/>
          </p:nvCxnSpPr>
          <p:spPr>
            <a:xfrm rot="10800000">
              <a:off x="4563402" y="3541000"/>
              <a:ext cx="0" cy="489600"/>
            </a:xfrm>
            <a:prstGeom prst="straightConnector1">
              <a:avLst/>
            </a:prstGeom>
            <a:noFill/>
            <a:ln w="19050" cap="flat" cmpd="sng">
              <a:solidFill>
                <a:srgbClr val="155B54"/>
              </a:solidFill>
              <a:prstDash val="solid"/>
              <a:round/>
              <a:headEnd type="oval" w="med" len="med"/>
              <a:tailEnd type="none" w="sm" len="sm"/>
            </a:ln>
          </p:spPr>
        </p:cxnSp>
        <p:sp>
          <p:nvSpPr>
            <p:cNvPr id="163" name="Google Shape;163;p23"/>
            <p:cNvSpPr txBox="1"/>
            <p:nvPr/>
          </p:nvSpPr>
          <p:spPr>
            <a:xfrm>
              <a:off x="3658187" y="4009338"/>
              <a:ext cx="1795200" cy="6696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s" sz="2400" b="1">
                  <a:solidFill>
                    <a:schemeClr val="dk1"/>
                  </a:solidFill>
                  <a:latin typeface="Economica"/>
                  <a:ea typeface="Economica"/>
                  <a:cs typeface="Economica"/>
                  <a:sym typeface="Economica"/>
                </a:rPr>
                <a:t>03</a:t>
              </a:r>
              <a:endParaRPr sz="2400" b="1">
                <a:solidFill>
                  <a:schemeClr val="dk1"/>
                </a:solidFill>
                <a:latin typeface="Economica"/>
                <a:ea typeface="Economica"/>
                <a:cs typeface="Economica"/>
                <a:sym typeface="Economica"/>
              </a:endParaRPr>
            </a:p>
            <a:p>
              <a:pPr marL="0" lvl="0" indent="0" algn="ctr" rtl="0">
                <a:lnSpc>
                  <a:spcPct val="115000"/>
                </a:lnSpc>
                <a:spcBef>
                  <a:spcPts val="0"/>
                </a:spcBef>
                <a:spcAft>
                  <a:spcPts val="0"/>
                </a:spcAft>
                <a:buNone/>
              </a:pPr>
              <a:r>
                <a:rPr lang="es">
                  <a:solidFill>
                    <a:schemeClr val="dk1"/>
                  </a:solidFill>
                  <a:latin typeface="Economica"/>
                  <a:ea typeface="Economica"/>
                  <a:cs typeface="Economica"/>
                  <a:sym typeface="Economica"/>
                </a:rPr>
                <a:t>INGENIERÍA DE CARACTERÍSTICAS</a:t>
              </a:r>
              <a:endParaRPr sz="800">
                <a:latin typeface="Roboto"/>
                <a:ea typeface="Roboto"/>
                <a:cs typeface="Roboto"/>
                <a:sym typeface="Roboto"/>
              </a:endParaRPr>
            </a:p>
          </p:txBody>
        </p:sp>
      </p:grpSp>
      <p:sp>
        <p:nvSpPr>
          <p:cNvPr id="164" name="Google Shape;164;p23"/>
          <p:cNvSpPr/>
          <p:nvPr/>
        </p:nvSpPr>
        <p:spPr>
          <a:xfrm rot="1855247">
            <a:off x="4531288" y="640657"/>
            <a:ext cx="3292774" cy="3353618"/>
          </a:xfrm>
          <a:prstGeom prst="blockArc">
            <a:avLst>
              <a:gd name="adj1" fmla="val 14414370"/>
              <a:gd name="adj2" fmla="val 18998613"/>
              <a:gd name="adj3" fmla="val 8907"/>
            </a:avLst>
          </a:prstGeom>
          <a:solidFill>
            <a:schemeClr val="dk2"/>
          </a:solidFill>
          <a:ln w="9525" cap="flat" cmpd="sng">
            <a:solidFill>
              <a:schemeClr val="dk2"/>
            </a:solidFill>
            <a:prstDash val="solid"/>
            <a:round/>
            <a:headEnd type="none" w="sm" len="sm"/>
            <a:tailEnd type="none" w="sm" len="sm"/>
          </a:ln>
          <a:effectLst>
            <a:outerShdw blurRad="71438" dist="9525" dir="5400000" algn="bl"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3"/>
          <p:cNvSpPr/>
          <p:nvPr/>
        </p:nvSpPr>
        <p:spPr>
          <a:xfrm rot="-8945667" flipH="1">
            <a:off x="4538398" y="638626"/>
            <a:ext cx="3291900" cy="3352918"/>
          </a:xfrm>
          <a:prstGeom prst="blockArc">
            <a:avLst>
              <a:gd name="adj1" fmla="val 20178804"/>
              <a:gd name="adj2" fmla="val 2623923"/>
              <a:gd name="adj3" fmla="val 8858"/>
            </a:avLst>
          </a:prstGeom>
          <a:solidFill>
            <a:schemeClr val="lt2"/>
          </a:solidFill>
          <a:ln w="9525" cap="flat" cmpd="sng">
            <a:solidFill>
              <a:schemeClr val="lt2"/>
            </a:solidFill>
            <a:prstDash val="solid"/>
            <a:round/>
            <a:headEnd type="none" w="sm" len="sm"/>
            <a:tailEnd type="none" w="sm" len="sm"/>
          </a:ln>
          <a:effectLst>
            <a:outerShdw blurRad="71438" dist="9525" dir="5400000" algn="bl"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3"/>
          <p:cNvSpPr txBox="1"/>
          <p:nvPr/>
        </p:nvSpPr>
        <p:spPr>
          <a:xfrm>
            <a:off x="5305424" y="1845435"/>
            <a:ext cx="1749900" cy="10113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s" sz="1800" b="1">
                <a:solidFill>
                  <a:srgbClr val="020202"/>
                </a:solidFill>
                <a:latin typeface="Economica"/>
                <a:ea typeface="Economica"/>
                <a:cs typeface="Economica"/>
                <a:sym typeface="Economica"/>
              </a:rPr>
              <a:t>Ciclo de un proyecto de Data Science</a:t>
            </a:r>
            <a:endParaRPr sz="1800" b="1">
              <a:solidFill>
                <a:srgbClr val="020202"/>
              </a:solidFill>
              <a:latin typeface="Economica"/>
              <a:ea typeface="Economica"/>
              <a:cs typeface="Economica"/>
              <a:sym typeface="Economica"/>
            </a:endParaRPr>
          </a:p>
        </p:txBody>
      </p:sp>
      <p:sp>
        <p:nvSpPr>
          <p:cNvPr id="167" name="Google Shape;167;p23"/>
          <p:cNvSpPr/>
          <p:nvPr/>
        </p:nvSpPr>
        <p:spPr>
          <a:xfrm rot="-3832564">
            <a:off x="7372905" y="1602457"/>
            <a:ext cx="453086" cy="443652"/>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3"/>
          <p:cNvSpPr/>
          <p:nvPr/>
        </p:nvSpPr>
        <p:spPr>
          <a:xfrm rot="-1855253" flipH="1">
            <a:off x="4525457" y="635645"/>
            <a:ext cx="3299771" cy="3361136"/>
          </a:xfrm>
          <a:prstGeom prst="blockArc">
            <a:avLst>
              <a:gd name="adj1" fmla="val 14334136"/>
              <a:gd name="adj2" fmla="val 18854681"/>
              <a:gd name="adj3" fmla="val 8846"/>
            </a:avLst>
          </a:prstGeom>
          <a:solidFill>
            <a:schemeClr val="accent6"/>
          </a:solidFill>
          <a:ln w="9525" cap="flat" cmpd="sng">
            <a:solidFill>
              <a:schemeClr val="accent6"/>
            </a:solidFill>
            <a:prstDash val="solid"/>
            <a:round/>
            <a:headEnd type="none" w="sm" len="sm"/>
            <a:tailEnd type="none" w="sm" len="sm"/>
          </a:ln>
          <a:effectLst>
            <a:outerShdw blurRad="71438" dist="9525" dir="5400000" algn="bl"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3"/>
          <p:cNvSpPr/>
          <p:nvPr/>
        </p:nvSpPr>
        <p:spPr>
          <a:xfrm rot="8945667">
            <a:off x="4516110" y="642178"/>
            <a:ext cx="3291900" cy="3352918"/>
          </a:xfrm>
          <a:prstGeom prst="blockArc">
            <a:avLst>
              <a:gd name="adj1" fmla="val 20184517"/>
              <a:gd name="adj2" fmla="val 3007258"/>
              <a:gd name="adj3" fmla="val 9336"/>
            </a:avLst>
          </a:prstGeom>
          <a:solidFill>
            <a:schemeClr val="accent3"/>
          </a:solidFill>
          <a:ln w="9525" cap="flat" cmpd="sng">
            <a:solidFill>
              <a:schemeClr val="accent3"/>
            </a:solidFill>
            <a:prstDash val="solid"/>
            <a:round/>
            <a:headEnd type="none" w="sm" len="sm"/>
            <a:tailEnd type="none" w="sm" len="sm"/>
          </a:ln>
          <a:effectLst>
            <a:outerShdw blurRad="71438" dist="9525" dir="5400000" algn="bl"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3"/>
          <p:cNvSpPr/>
          <p:nvPr/>
        </p:nvSpPr>
        <p:spPr>
          <a:xfrm rot="-8945667" flipH="1">
            <a:off x="4516352" y="644096"/>
            <a:ext cx="3291900" cy="3352918"/>
          </a:xfrm>
          <a:prstGeom prst="blockArc">
            <a:avLst>
              <a:gd name="adj1" fmla="val 15738599"/>
              <a:gd name="adj2" fmla="val 20008131"/>
              <a:gd name="adj3" fmla="val 9063"/>
            </a:avLst>
          </a:prstGeom>
          <a:solidFill>
            <a:schemeClr val="accent2"/>
          </a:solidFill>
          <a:ln>
            <a:noFill/>
          </a:ln>
          <a:effectLst>
            <a:outerShdw blurRad="71438" dist="9525" dir="5400000" algn="bl"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3"/>
          <p:cNvSpPr/>
          <p:nvPr/>
        </p:nvSpPr>
        <p:spPr>
          <a:xfrm rot="9191544">
            <a:off x="4537415" y="1596746"/>
            <a:ext cx="443685" cy="454145"/>
          </a:xfrm>
          <a:prstGeom prst="rtTriangle">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3"/>
          <p:cNvSpPr/>
          <p:nvPr/>
        </p:nvSpPr>
        <p:spPr>
          <a:xfrm rot="493771">
            <a:off x="6849665" y="3332924"/>
            <a:ext cx="440132" cy="455886"/>
          </a:xfrm>
          <a:prstGeom prst="rtTriangl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3"/>
          <p:cNvSpPr/>
          <p:nvPr/>
        </p:nvSpPr>
        <p:spPr>
          <a:xfrm rot="4877981">
            <a:off x="5064582" y="3340875"/>
            <a:ext cx="456149" cy="440277"/>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3"/>
          <p:cNvSpPr/>
          <p:nvPr/>
        </p:nvSpPr>
        <p:spPr>
          <a:xfrm rot="-8038212">
            <a:off x="5952112" y="555567"/>
            <a:ext cx="448520" cy="448520"/>
          </a:xfrm>
          <a:prstGeom prst="rtTriangle">
            <a:avLst/>
          </a:pr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9"/>
                                        </p:tgtEl>
                                        <p:attrNameLst>
                                          <p:attrName>style.visibility</p:attrName>
                                        </p:attrNameLst>
                                      </p:cBhvr>
                                      <p:to>
                                        <p:strVal val="visible"/>
                                      </p:to>
                                    </p:set>
                                    <p:animEffect transition="in" filter="fade">
                                      <p:cBhvr>
                                        <p:cTn id="7" dur="1000"/>
                                        <p:tgtEl>
                                          <p:spTgt spid="14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5"/>
                                        </p:tgtEl>
                                        <p:attrNameLst>
                                          <p:attrName>style.visibility</p:attrName>
                                        </p:attrNameLst>
                                      </p:cBhvr>
                                      <p:to>
                                        <p:strVal val="visible"/>
                                      </p:to>
                                    </p:set>
                                    <p:animEffect transition="in" filter="fade">
                                      <p:cBhvr>
                                        <p:cTn id="12" dur="1000"/>
                                        <p:tgtEl>
                                          <p:spTgt spid="15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1"/>
                                        </p:tgtEl>
                                        <p:attrNameLst>
                                          <p:attrName>style.visibility</p:attrName>
                                        </p:attrNameLst>
                                      </p:cBhvr>
                                      <p:to>
                                        <p:strVal val="visible"/>
                                      </p:to>
                                    </p:set>
                                    <p:animEffect transition="in" filter="fade">
                                      <p:cBhvr>
                                        <p:cTn id="17" dur="1000"/>
                                        <p:tgtEl>
                                          <p:spTgt spid="16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8"/>
                                        </p:tgtEl>
                                        <p:attrNameLst>
                                          <p:attrName>style.visibility</p:attrName>
                                        </p:attrNameLst>
                                      </p:cBhvr>
                                      <p:to>
                                        <p:strVal val="visible"/>
                                      </p:to>
                                    </p:set>
                                    <p:animEffect transition="in" filter="fade">
                                      <p:cBhvr>
                                        <p:cTn id="22" dur="1000"/>
                                        <p:tgtEl>
                                          <p:spTgt spid="15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2"/>
                                        </p:tgtEl>
                                        <p:attrNameLst>
                                          <p:attrName>style.visibility</p:attrName>
                                        </p:attrNameLst>
                                      </p:cBhvr>
                                      <p:to>
                                        <p:strVal val="visible"/>
                                      </p:to>
                                    </p:set>
                                    <p:animEffect transition="in" filter="fade">
                                      <p:cBhvr>
                                        <p:cTn id="27" dur="1000"/>
                                        <p:tgtEl>
                                          <p:spTgt spid="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4"/>
          <p:cNvSpPr txBox="1">
            <a:spLocks noGrp="1"/>
          </p:cNvSpPr>
          <p:nvPr>
            <p:ph type="title"/>
          </p:nvPr>
        </p:nvSpPr>
        <p:spPr>
          <a:xfrm>
            <a:off x="311700" y="316800"/>
            <a:ext cx="28080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El ciclo sin fin</a:t>
            </a:r>
            <a:endParaRPr/>
          </a:p>
        </p:txBody>
      </p:sp>
      <p:sp>
        <p:nvSpPr>
          <p:cNvPr id="180" name="Google Shape;180;p24"/>
          <p:cNvSpPr txBox="1">
            <a:spLocks noGrp="1"/>
          </p:cNvSpPr>
          <p:nvPr>
            <p:ph type="body" idx="1"/>
          </p:nvPr>
        </p:nvSpPr>
        <p:spPr>
          <a:xfrm>
            <a:off x="311700" y="1224000"/>
            <a:ext cx="2808000" cy="3439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 sz="1300"/>
              <a:t>Durante esta materia, veremos conceptos involucrados en:</a:t>
            </a:r>
            <a:endParaRPr sz="1300"/>
          </a:p>
          <a:p>
            <a:pPr marL="457200" lvl="0" indent="-311150" algn="l" rtl="0">
              <a:spcBef>
                <a:spcPts val="1600"/>
              </a:spcBef>
              <a:spcAft>
                <a:spcPts val="0"/>
              </a:spcAft>
              <a:buSzPts val="1300"/>
              <a:buAutoNum type="arabicPeriod"/>
            </a:pPr>
            <a:r>
              <a:rPr lang="es" sz="1300"/>
              <a:t>Herramientas estadísticas y visualizaciones para la </a:t>
            </a:r>
            <a:r>
              <a:rPr lang="es" sz="1300">
                <a:highlight>
                  <a:schemeClr val="lt2"/>
                </a:highlight>
              </a:rPr>
              <a:t>etapa 02</a:t>
            </a:r>
            <a:r>
              <a:rPr lang="es" sz="1300"/>
              <a:t>.</a:t>
            </a:r>
            <a:endParaRPr sz="1300"/>
          </a:p>
          <a:p>
            <a:pPr marL="457200" lvl="0" indent="-311150" algn="l" rtl="0">
              <a:spcBef>
                <a:spcPts val="0"/>
              </a:spcBef>
              <a:spcAft>
                <a:spcPts val="0"/>
              </a:spcAft>
              <a:buSzPts val="1300"/>
              <a:buAutoNum type="arabicPeriod"/>
            </a:pPr>
            <a:r>
              <a:rPr lang="es" sz="1300"/>
              <a:t>Herramientas estadísticas necesarias para interpretar los resultados de la </a:t>
            </a:r>
            <a:r>
              <a:rPr lang="es" sz="1300">
                <a:highlight>
                  <a:schemeClr val="accent3"/>
                </a:highlight>
              </a:rPr>
              <a:t>etapa 04</a:t>
            </a:r>
            <a:r>
              <a:rPr lang="es" sz="1300"/>
              <a:t>.</a:t>
            </a:r>
            <a:endParaRPr sz="1300"/>
          </a:p>
          <a:p>
            <a:pPr marL="457200" lvl="0" indent="-311150" algn="l" rtl="0">
              <a:spcBef>
                <a:spcPts val="0"/>
              </a:spcBef>
              <a:spcAft>
                <a:spcPts val="0"/>
              </a:spcAft>
              <a:buSzPts val="1300"/>
              <a:buAutoNum type="arabicPeriod"/>
            </a:pPr>
            <a:r>
              <a:rPr lang="es" sz="1300"/>
              <a:t>Visualización y comunicación efectiva para la </a:t>
            </a:r>
            <a:r>
              <a:rPr lang="es" sz="1300">
                <a:highlight>
                  <a:schemeClr val="accent6"/>
                </a:highlight>
              </a:rPr>
              <a:t>etapa 05</a:t>
            </a:r>
            <a:r>
              <a:rPr lang="es" sz="1300"/>
              <a:t>.</a:t>
            </a:r>
            <a:endParaRPr sz="1300"/>
          </a:p>
        </p:txBody>
      </p:sp>
      <p:grpSp>
        <p:nvGrpSpPr>
          <p:cNvPr id="181" name="Google Shape;181;p24"/>
          <p:cNvGrpSpPr/>
          <p:nvPr/>
        </p:nvGrpSpPr>
        <p:grpSpPr>
          <a:xfrm>
            <a:off x="2968151" y="-87"/>
            <a:ext cx="6415051" cy="5143664"/>
            <a:chOff x="1314151" y="0"/>
            <a:chExt cx="6415051" cy="5143664"/>
          </a:xfrm>
        </p:grpSpPr>
        <p:sp>
          <p:nvSpPr>
            <p:cNvPr id="182" name="Google Shape;182;p24"/>
            <p:cNvSpPr/>
            <p:nvPr/>
          </p:nvSpPr>
          <p:spPr>
            <a:xfrm>
              <a:off x="2986824" y="725405"/>
              <a:ext cx="3078900" cy="3194400"/>
            </a:xfrm>
            <a:prstGeom prst="donut">
              <a:avLst>
                <a:gd name="adj" fmla="val 16067"/>
              </a:avLst>
            </a:prstGeom>
            <a:noFill/>
            <a:ln w="2857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3" name="Google Shape;183;p24"/>
            <p:cNvGrpSpPr/>
            <p:nvPr/>
          </p:nvGrpSpPr>
          <p:grpSpPr>
            <a:xfrm>
              <a:off x="5310190" y="178121"/>
              <a:ext cx="2252510" cy="1008092"/>
              <a:chOff x="5214006" y="730510"/>
              <a:chExt cx="1858200" cy="801600"/>
            </a:xfrm>
          </p:grpSpPr>
          <p:cxnSp>
            <p:nvCxnSpPr>
              <p:cNvPr id="184" name="Google Shape;184;p24"/>
              <p:cNvCxnSpPr>
                <a:stCxn id="185" idx="1"/>
              </p:cNvCxnSpPr>
              <p:nvPr/>
            </p:nvCxnSpPr>
            <p:spPr>
              <a:xfrm flipH="1">
                <a:off x="5214006" y="1065310"/>
                <a:ext cx="363000" cy="466800"/>
              </a:xfrm>
              <a:prstGeom prst="straightConnector1">
                <a:avLst/>
              </a:prstGeom>
              <a:noFill/>
              <a:ln w="19050" cap="flat" cmpd="sng">
                <a:solidFill>
                  <a:schemeClr val="dk2"/>
                </a:solidFill>
                <a:prstDash val="solid"/>
                <a:round/>
                <a:headEnd type="oval" w="med" len="med"/>
                <a:tailEnd type="none" w="sm" len="sm"/>
              </a:ln>
            </p:spPr>
          </p:cxnSp>
          <p:sp>
            <p:nvSpPr>
              <p:cNvPr id="185" name="Google Shape;185;p24"/>
              <p:cNvSpPr txBox="1"/>
              <p:nvPr/>
            </p:nvSpPr>
            <p:spPr>
              <a:xfrm>
                <a:off x="5577006" y="730510"/>
                <a:ext cx="1495200" cy="66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400" b="1">
                    <a:latin typeface="Economica"/>
                    <a:ea typeface="Economica"/>
                    <a:cs typeface="Economica"/>
                    <a:sym typeface="Economica"/>
                  </a:rPr>
                  <a:t>01</a:t>
                </a:r>
                <a:endParaRPr sz="2400" b="1">
                  <a:latin typeface="Economica"/>
                  <a:ea typeface="Economica"/>
                  <a:cs typeface="Economica"/>
                  <a:sym typeface="Economica"/>
                </a:endParaRPr>
              </a:p>
              <a:p>
                <a:pPr marL="0" lvl="0" indent="0" algn="l" rtl="0">
                  <a:lnSpc>
                    <a:spcPct val="115000"/>
                  </a:lnSpc>
                  <a:spcBef>
                    <a:spcPts val="0"/>
                  </a:spcBef>
                  <a:spcAft>
                    <a:spcPts val="0"/>
                  </a:spcAft>
                  <a:buNone/>
                </a:pPr>
                <a:r>
                  <a:rPr lang="es">
                    <a:latin typeface="Economica"/>
                    <a:ea typeface="Economica"/>
                    <a:cs typeface="Economica"/>
                    <a:sym typeface="Economica"/>
                  </a:rPr>
                  <a:t>DEFINICIÓN DEL PROBLEMA DE NEGOCIOS</a:t>
                </a:r>
                <a:endParaRPr b="1">
                  <a:latin typeface="Economica"/>
                  <a:ea typeface="Economica"/>
                  <a:cs typeface="Economica"/>
                  <a:sym typeface="Economica"/>
                </a:endParaRPr>
              </a:p>
            </p:txBody>
          </p:sp>
        </p:grpSp>
        <p:grpSp>
          <p:nvGrpSpPr>
            <p:cNvPr id="186" name="Google Shape;186;p24"/>
            <p:cNvGrpSpPr/>
            <p:nvPr/>
          </p:nvGrpSpPr>
          <p:grpSpPr>
            <a:xfrm>
              <a:off x="1385721" y="330521"/>
              <a:ext cx="2265238" cy="855671"/>
              <a:chOff x="2039391" y="851693"/>
              <a:chExt cx="1868700" cy="680400"/>
            </a:xfrm>
          </p:grpSpPr>
          <p:cxnSp>
            <p:nvCxnSpPr>
              <p:cNvPr id="187" name="Google Shape;187;p24"/>
              <p:cNvCxnSpPr>
                <a:stCxn id="188" idx="3"/>
              </p:cNvCxnSpPr>
              <p:nvPr/>
            </p:nvCxnSpPr>
            <p:spPr>
              <a:xfrm>
                <a:off x="3534591" y="1186493"/>
                <a:ext cx="373500" cy="345600"/>
              </a:xfrm>
              <a:prstGeom prst="straightConnector1">
                <a:avLst/>
              </a:prstGeom>
              <a:noFill/>
              <a:ln w="19050" cap="flat" cmpd="sng">
                <a:solidFill>
                  <a:schemeClr val="accent6"/>
                </a:solidFill>
                <a:prstDash val="solid"/>
                <a:round/>
                <a:headEnd type="oval" w="med" len="med"/>
                <a:tailEnd type="none" w="sm" len="sm"/>
              </a:ln>
            </p:spPr>
          </p:cxnSp>
          <p:sp>
            <p:nvSpPr>
              <p:cNvPr id="188" name="Google Shape;188;p24"/>
              <p:cNvSpPr txBox="1"/>
              <p:nvPr/>
            </p:nvSpPr>
            <p:spPr>
              <a:xfrm>
                <a:off x="2039391" y="851693"/>
                <a:ext cx="1495200" cy="6696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s" sz="2400" b="1">
                    <a:solidFill>
                      <a:schemeClr val="dk1"/>
                    </a:solidFill>
                    <a:latin typeface="Economica"/>
                    <a:ea typeface="Economica"/>
                    <a:cs typeface="Economica"/>
                    <a:sym typeface="Economica"/>
                  </a:rPr>
                  <a:t>05</a:t>
                </a:r>
                <a:endParaRPr sz="2400" b="1">
                  <a:solidFill>
                    <a:schemeClr val="dk1"/>
                  </a:solidFill>
                  <a:latin typeface="Economica"/>
                  <a:ea typeface="Economica"/>
                  <a:cs typeface="Economica"/>
                  <a:sym typeface="Economica"/>
                </a:endParaRPr>
              </a:p>
              <a:p>
                <a:pPr marL="0" lvl="0" indent="0" algn="r" rtl="0">
                  <a:lnSpc>
                    <a:spcPct val="115000"/>
                  </a:lnSpc>
                  <a:spcBef>
                    <a:spcPts val="0"/>
                  </a:spcBef>
                  <a:spcAft>
                    <a:spcPts val="0"/>
                  </a:spcAft>
                  <a:buNone/>
                </a:pPr>
                <a:r>
                  <a:rPr lang="es">
                    <a:solidFill>
                      <a:schemeClr val="dk1"/>
                    </a:solidFill>
                    <a:latin typeface="Economica"/>
                    <a:ea typeface="Economica"/>
                    <a:cs typeface="Economica"/>
                    <a:sym typeface="Economica"/>
                  </a:rPr>
                  <a:t>COMUNICACIÓN DE RESULTADOS</a:t>
                </a:r>
                <a:endParaRPr sz="800">
                  <a:latin typeface="Roboto"/>
                  <a:ea typeface="Roboto"/>
                  <a:cs typeface="Roboto"/>
                  <a:sym typeface="Roboto"/>
                </a:endParaRPr>
              </a:p>
            </p:txBody>
          </p:sp>
        </p:grpSp>
        <p:grpSp>
          <p:nvGrpSpPr>
            <p:cNvPr id="189" name="Google Shape;189;p24"/>
            <p:cNvGrpSpPr/>
            <p:nvPr/>
          </p:nvGrpSpPr>
          <p:grpSpPr>
            <a:xfrm>
              <a:off x="5808972" y="2511787"/>
              <a:ext cx="1920231" cy="842089"/>
              <a:chOff x="5625475" y="2586161"/>
              <a:chExt cx="1584087" cy="669600"/>
            </a:xfrm>
          </p:grpSpPr>
          <p:cxnSp>
            <p:nvCxnSpPr>
              <p:cNvPr id="190" name="Google Shape;190;p24"/>
              <p:cNvCxnSpPr/>
              <p:nvPr/>
            </p:nvCxnSpPr>
            <p:spPr>
              <a:xfrm rot="10800000">
                <a:off x="5625475" y="2771675"/>
                <a:ext cx="442200" cy="153300"/>
              </a:xfrm>
              <a:prstGeom prst="straightConnector1">
                <a:avLst/>
              </a:prstGeom>
              <a:noFill/>
              <a:ln w="19050" cap="flat" cmpd="sng">
                <a:solidFill>
                  <a:schemeClr val="lt2"/>
                </a:solidFill>
                <a:prstDash val="solid"/>
                <a:round/>
                <a:headEnd type="oval" w="med" len="med"/>
                <a:tailEnd type="none" w="sm" len="sm"/>
              </a:ln>
            </p:spPr>
          </p:cxnSp>
          <p:sp>
            <p:nvSpPr>
              <p:cNvPr id="191" name="Google Shape;191;p24"/>
              <p:cNvSpPr txBox="1"/>
              <p:nvPr/>
            </p:nvSpPr>
            <p:spPr>
              <a:xfrm>
                <a:off x="6077362" y="2586161"/>
                <a:ext cx="1132200" cy="66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400" b="1">
                    <a:latin typeface="Economica"/>
                    <a:ea typeface="Economica"/>
                    <a:cs typeface="Economica"/>
                    <a:sym typeface="Economica"/>
                  </a:rPr>
                  <a:t>02</a:t>
                </a:r>
                <a:endParaRPr sz="2400" b="1">
                  <a:latin typeface="Economica"/>
                  <a:ea typeface="Economica"/>
                  <a:cs typeface="Economica"/>
                  <a:sym typeface="Economica"/>
                </a:endParaRPr>
              </a:p>
              <a:p>
                <a:pPr marL="0" lvl="0" indent="0" algn="l" rtl="0">
                  <a:lnSpc>
                    <a:spcPct val="115000"/>
                  </a:lnSpc>
                  <a:spcBef>
                    <a:spcPts val="0"/>
                  </a:spcBef>
                  <a:spcAft>
                    <a:spcPts val="0"/>
                  </a:spcAft>
                  <a:buNone/>
                </a:pPr>
                <a:r>
                  <a:rPr lang="es">
                    <a:latin typeface="Economica"/>
                    <a:ea typeface="Economica"/>
                    <a:cs typeface="Economica"/>
                    <a:sym typeface="Economica"/>
                  </a:rPr>
                  <a:t>ANÁLISIS Y EXPLORACIÓN DE DATOS</a:t>
                </a:r>
                <a:endParaRPr b="1">
                  <a:latin typeface="Economica"/>
                  <a:ea typeface="Economica"/>
                  <a:cs typeface="Economica"/>
                  <a:sym typeface="Economica"/>
                </a:endParaRPr>
              </a:p>
            </p:txBody>
          </p:sp>
        </p:grpSp>
        <p:grpSp>
          <p:nvGrpSpPr>
            <p:cNvPr id="192" name="Google Shape;192;p24"/>
            <p:cNvGrpSpPr/>
            <p:nvPr/>
          </p:nvGrpSpPr>
          <p:grpSpPr>
            <a:xfrm>
              <a:off x="1314151" y="2493563"/>
              <a:ext cx="1930048" cy="842089"/>
              <a:chOff x="1917489" y="2571669"/>
              <a:chExt cx="1592186" cy="669600"/>
            </a:xfrm>
          </p:grpSpPr>
          <p:cxnSp>
            <p:nvCxnSpPr>
              <p:cNvPr id="193" name="Google Shape;193;p24"/>
              <p:cNvCxnSpPr/>
              <p:nvPr/>
            </p:nvCxnSpPr>
            <p:spPr>
              <a:xfrm rot="10800000" flipH="1">
                <a:off x="3059375" y="2771675"/>
                <a:ext cx="450300" cy="145200"/>
              </a:xfrm>
              <a:prstGeom prst="straightConnector1">
                <a:avLst/>
              </a:prstGeom>
              <a:noFill/>
              <a:ln w="19050" cap="flat" cmpd="sng">
                <a:solidFill>
                  <a:schemeClr val="accent3"/>
                </a:solidFill>
                <a:prstDash val="solid"/>
                <a:round/>
                <a:headEnd type="oval" w="med" len="med"/>
                <a:tailEnd type="none" w="sm" len="sm"/>
              </a:ln>
            </p:spPr>
          </p:cxnSp>
          <p:sp>
            <p:nvSpPr>
              <p:cNvPr id="194" name="Google Shape;194;p24"/>
              <p:cNvSpPr txBox="1"/>
              <p:nvPr/>
            </p:nvSpPr>
            <p:spPr>
              <a:xfrm>
                <a:off x="1917489" y="2571669"/>
                <a:ext cx="1132200" cy="6696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s" sz="2400" b="1">
                    <a:solidFill>
                      <a:schemeClr val="dk1"/>
                    </a:solidFill>
                    <a:latin typeface="Economica"/>
                    <a:ea typeface="Economica"/>
                    <a:cs typeface="Economica"/>
                    <a:sym typeface="Economica"/>
                  </a:rPr>
                  <a:t>04</a:t>
                </a:r>
                <a:endParaRPr sz="2400" b="1">
                  <a:solidFill>
                    <a:schemeClr val="dk1"/>
                  </a:solidFill>
                  <a:latin typeface="Economica"/>
                  <a:ea typeface="Economica"/>
                  <a:cs typeface="Economica"/>
                  <a:sym typeface="Economica"/>
                </a:endParaRPr>
              </a:p>
              <a:p>
                <a:pPr marL="0" lvl="0" indent="0" algn="r" rtl="0">
                  <a:lnSpc>
                    <a:spcPct val="115000"/>
                  </a:lnSpc>
                  <a:spcBef>
                    <a:spcPts val="0"/>
                  </a:spcBef>
                  <a:spcAft>
                    <a:spcPts val="0"/>
                  </a:spcAft>
                  <a:buNone/>
                </a:pPr>
                <a:r>
                  <a:rPr lang="es">
                    <a:solidFill>
                      <a:schemeClr val="dk1"/>
                    </a:solidFill>
                    <a:latin typeface="Economica"/>
                    <a:ea typeface="Economica"/>
                    <a:cs typeface="Economica"/>
                    <a:sym typeface="Economica"/>
                  </a:rPr>
                  <a:t>MODELADO PREDICTIVO</a:t>
                </a:r>
                <a:endParaRPr sz="1200">
                  <a:latin typeface="Roboto"/>
                  <a:ea typeface="Roboto"/>
                  <a:cs typeface="Roboto"/>
                  <a:sym typeface="Roboto"/>
                </a:endParaRPr>
              </a:p>
            </p:txBody>
          </p:sp>
        </p:grpSp>
        <p:grpSp>
          <p:nvGrpSpPr>
            <p:cNvPr id="195" name="Google Shape;195;p24"/>
            <p:cNvGrpSpPr/>
            <p:nvPr/>
          </p:nvGrpSpPr>
          <p:grpSpPr>
            <a:xfrm>
              <a:off x="3424226" y="3712594"/>
              <a:ext cx="2176141" cy="1431070"/>
              <a:chOff x="3658187" y="3541000"/>
              <a:chExt cx="1795200" cy="1137938"/>
            </a:xfrm>
          </p:grpSpPr>
          <p:cxnSp>
            <p:nvCxnSpPr>
              <p:cNvPr id="196" name="Google Shape;196;p24"/>
              <p:cNvCxnSpPr/>
              <p:nvPr/>
            </p:nvCxnSpPr>
            <p:spPr>
              <a:xfrm rot="10800000">
                <a:off x="4563402" y="3541000"/>
                <a:ext cx="0" cy="489600"/>
              </a:xfrm>
              <a:prstGeom prst="straightConnector1">
                <a:avLst/>
              </a:prstGeom>
              <a:noFill/>
              <a:ln w="19050" cap="flat" cmpd="sng">
                <a:solidFill>
                  <a:srgbClr val="155B54"/>
                </a:solidFill>
                <a:prstDash val="solid"/>
                <a:round/>
                <a:headEnd type="oval" w="med" len="med"/>
                <a:tailEnd type="none" w="sm" len="sm"/>
              </a:ln>
            </p:spPr>
          </p:cxnSp>
          <p:sp>
            <p:nvSpPr>
              <p:cNvPr id="197" name="Google Shape;197;p24"/>
              <p:cNvSpPr txBox="1"/>
              <p:nvPr/>
            </p:nvSpPr>
            <p:spPr>
              <a:xfrm>
                <a:off x="3658187" y="4009338"/>
                <a:ext cx="1795200" cy="6696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s" sz="2400" b="1">
                    <a:solidFill>
                      <a:schemeClr val="dk1"/>
                    </a:solidFill>
                    <a:latin typeface="Economica"/>
                    <a:ea typeface="Economica"/>
                    <a:cs typeface="Economica"/>
                    <a:sym typeface="Economica"/>
                  </a:rPr>
                  <a:t>03</a:t>
                </a:r>
                <a:endParaRPr sz="2400" b="1">
                  <a:solidFill>
                    <a:schemeClr val="dk1"/>
                  </a:solidFill>
                  <a:latin typeface="Economica"/>
                  <a:ea typeface="Economica"/>
                  <a:cs typeface="Economica"/>
                  <a:sym typeface="Economica"/>
                </a:endParaRPr>
              </a:p>
              <a:p>
                <a:pPr marL="0" lvl="0" indent="0" algn="ctr" rtl="0">
                  <a:lnSpc>
                    <a:spcPct val="115000"/>
                  </a:lnSpc>
                  <a:spcBef>
                    <a:spcPts val="0"/>
                  </a:spcBef>
                  <a:spcAft>
                    <a:spcPts val="0"/>
                  </a:spcAft>
                  <a:buNone/>
                </a:pPr>
                <a:r>
                  <a:rPr lang="es">
                    <a:solidFill>
                      <a:schemeClr val="dk1"/>
                    </a:solidFill>
                    <a:latin typeface="Economica"/>
                    <a:ea typeface="Economica"/>
                    <a:cs typeface="Economica"/>
                    <a:sym typeface="Economica"/>
                  </a:rPr>
                  <a:t>INGENIERÍA DE CARACTERÍSTICAS</a:t>
                </a:r>
                <a:endParaRPr sz="800">
                  <a:latin typeface="Roboto"/>
                  <a:ea typeface="Roboto"/>
                  <a:cs typeface="Roboto"/>
                  <a:sym typeface="Roboto"/>
                </a:endParaRPr>
              </a:p>
            </p:txBody>
          </p:sp>
        </p:grpSp>
        <p:sp>
          <p:nvSpPr>
            <p:cNvPr id="198" name="Google Shape;198;p24"/>
            <p:cNvSpPr/>
            <p:nvPr/>
          </p:nvSpPr>
          <p:spPr>
            <a:xfrm rot="1855247">
              <a:off x="2877288" y="640745"/>
              <a:ext cx="3292774" cy="3353618"/>
            </a:xfrm>
            <a:prstGeom prst="blockArc">
              <a:avLst>
                <a:gd name="adj1" fmla="val 14414370"/>
                <a:gd name="adj2" fmla="val 18998613"/>
                <a:gd name="adj3" fmla="val 8907"/>
              </a:avLst>
            </a:prstGeom>
            <a:solidFill>
              <a:schemeClr val="dk2"/>
            </a:solidFill>
            <a:ln w="9525" cap="flat" cmpd="sng">
              <a:solidFill>
                <a:schemeClr val="dk2"/>
              </a:solidFill>
              <a:prstDash val="solid"/>
              <a:round/>
              <a:headEnd type="none" w="sm" len="sm"/>
              <a:tailEnd type="none" w="sm" len="sm"/>
            </a:ln>
            <a:effectLst>
              <a:outerShdw blurRad="71438" dist="9525" dir="5400000" algn="bl"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4"/>
            <p:cNvSpPr/>
            <p:nvPr/>
          </p:nvSpPr>
          <p:spPr>
            <a:xfrm rot="-8945667" flipH="1">
              <a:off x="2884398" y="638713"/>
              <a:ext cx="3291900" cy="3352918"/>
            </a:xfrm>
            <a:prstGeom prst="blockArc">
              <a:avLst>
                <a:gd name="adj1" fmla="val 20178804"/>
                <a:gd name="adj2" fmla="val 2623923"/>
                <a:gd name="adj3" fmla="val 8858"/>
              </a:avLst>
            </a:prstGeom>
            <a:solidFill>
              <a:schemeClr val="lt2"/>
            </a:solidFill>
            <a:ln w="9525" cap="flat" cmpd="sng">
              <a:solidFill>
                <a:schemeClr val="lt2"/>
              </a:solidFill>
              <a:prstDash val="solid"/>
              <a:round/>
              <a:headEnd type="none" w="sm" len="sm"/>
              <a:tailEnd type="none" w="sm" len="sm"/>
            </a:ln>
            <a:effectLst>
              <a:outerShdw blurRad="71438" dist="9525" dir="5400000" algn="bl"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4"/>
            <p:cNvSpPr txBox="1"/>
            <p:nvPr/>
          </p:nvSpPr>
          <p:spPr>
            <a:xfrm>
              <a:off x="3651424" y="1845523"/>
              <a:ext cx="1749900" cy="10113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s" sz="1800" b="1">
                  <a:solidFill>
                    <a:srgbClr val="020202"/>
                  </a:solidFill>
                  <a:latin typeface="Economica"/>
                  <a:ea typeface="Economica"/>
                  <a:cs typeface="Economica"/>
                  <a:sym typeface="Economica"/>
                </a:rPr>
                <a:t>Ciclo de un proyecto de Data Science</a:t>
              </a:r>
              <a:endParaRPr sz="1800" b="1">
                <a:solidFill>
                  <a:srgbClr val="020202"/>
                </a:solidFill>
                <a:latin typeface="Economica"/>
                <a:ea typeface="Economica"/>
                <a:cs typeface="Economica"/>
                <a:sym typeface="Economica"/>
              </a:endParaRPr>
            </a:p>
          </p:txBody>
        </p:sp>
        <p:sp>
          <p:nvSpPr>
            <p:cNvPr id="201" name="Google Shape;201;p24"/>
            <p:cNvSpPr/>
            <p:nvPr/>
          </p:nvSpPr>
          <p:spPr>
            <a:xfrm rot="-3832564">
              <a:off x="5718905" y="1602544"/>
              <a:ext cx="453086" cy="443652"/>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4"/>
            <p:cNvSpPr/>
            <p:nvPr/>
          </p:nvSpPr>
          <p:spPr>
            <a:xfrm rot="-1855253" flipH="1">
              <a:off x="2871457" y="635732"/>
              <a:ext cx="3299771" cy="3361136"/>
            </a:xfrm>
            <a:prstGeom prst="blockArc">
              <a:avLst>
                <a:gd name="adj1" fmla="val 14334136"/>
                <a:gd name="adj2" fmla="val 18854681"/>
                <a:gd name="adj3" fmla="val 8846"/>
              </a:avLst>
            </a:prstGeom>
            <a:solidFill>
              <a:schemeClr val="accent6"/>
            </a:solidFill>
            <a:ln w="9525" cap="flat" cmpd="sng">
              <a:solidFill>
                <a:schemeClr val="accent6"/>
              </a:solidFill>
              <a:prstDash val="solid"/>
              <a:round/>
              <a:headEnd type="none" w="sm" len="sm"/>
              <a:tailEnd type="none" w="sm" len="sm"/>
            </a:ln>
            <a:effectLst>
              <a:outerShdw blurRad="71438" dist="9525" dir="5400000" algn="bl"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4"/>
            <p:cNvSpPr/>
            <p:nvPr/>
          </p:nvSpPr>
          <p:spPr>
            <a:xfrm rot="8945667">
              <a:off x="2862110" y="642266"/>
              <a:ext cx="3291900" cy="3352918"/>
            </a:xfrm>
            <a:prstGeom prst="blockArc">
              <a:avLst>
                <a:gd name="adj1" fmla="val 20184517"/>
                <a:gd name="adj2" fmla="val 3007258"/>
                <a:gd name="adj3" fmla="val 9336"/>
              </a:avLst>
            </a:prstGeom>
            <a:solidFill>
              <a:schemeClr val="accent3"/>
            </a:solidFill>
            <a:ln w="9525" cap="flat" cmpd="sng">
              <a:solidFill>
                <a:schemeClr val="accent3"/>
              </a:solidFill>
              <a:prstDash val="solid"/>
              <a:round/>
              <a:headEnd type="none" w="sm" len="sm"/>
              <a:tailEnd type="none" w="sm" len="sm"/>
            </a:ln>
            <a:effectLst>
              <a:outerShdw blurRad="71438" dist="9525" dir="5400000" algn="bl"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4"/>
            <p:cNvSpPr/>
            <p:nvPr/>
          </p:nvSpPr>
          <p:spPr>
            <a:xfrm rot="-8945667" flipH="1">
              <a:off x="2862352" y="644184"/>
              <a:ext cx="3291900" cy="3352918"/>
            </a:xfrm>
            <a:prstGeom prst="blockArc">
              <a:avLst>
                <a:gd name="adj1" fmla="val 15738599"/>
                <a:gd name="adj2" fmla="val 20008131"/>
                <a:gd name="adj3" fmla="val 9063"/>
              </a:avLst>
            </a:prstGeom>
            <a:solidFill>
              <a:schemeClr val="accent2"/>
            </a:solidFill>
            <a:ln>
              <a:noFill/>
            </a:ln>
            <a:effectLst>
              <a:outerShdw blurRad="71438" dist="9525" dir="5400000" algn="bl"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4"/>
            <p:cNvSpPr/>
            <p:nvPr/>
          </p:nvSpPr>
          <p:spPr>
            <a:xfrm rot="9191544">
              <a:off x="2883415" y="1596834"/>
              <a:ext cx="443685" cy="454145"/>
            </a:xfrm>
            <a:prstGeom prst="rtTriangle">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4"/>
            <p:cNvSpPr/>
            <p:nvPr/>
          </p:nvSpPr>
          <p:spPr>
            <a:xfrm rot="493771">
              <a:off x="5195665" y="3333012"/>
              <a:ext cx="440132" cy="455886"/>
            </a:xfrm>
            <a:prstGeom prst="rtTriangl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4"/>
            <p:cNvSpPr/>
            <p:nvPr/>
          </p:nvSpPr>
          <p:spPr>
            <a:xfrm rot="4877981">
              <a:off x="3410582" y="3340962"/>
              <a:ext cx="456149" cy="440277"/>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4"/>
            <p:cNvSpPr/>
            <p:nvPr/>
          </p:nvSpPr>
          <p:spPr>
            <a:xfrm rot="-8038212">
              <a:off x="4298112" y="555654"/>
              <a:ext cx="448520" cy="448520"/>
            </a:xfrm>
            <a:prstGeom prst="rtTriangle">
              <a:avLst/>
            </a:pr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0">
                                            <p:txEl>
                                              <p:pRg st="0" end="0"/>
                                            </p:txEl>
                                          </p:spTgt>
                                        </p:tgtEl>
                                        <p:attrNameLst>
                                          <p:attrName>style.visibility</p:attrName>
                                        </p:attrNameLst>
                                      </p:cBhvr>
                                      <p:to>
                                        <p:strVal val="visible"/>
                                      </p:to>
                                    </p:set>
                                    <p:animEffect transition="in" filter="fade">
                                      <p:cBhvr>
                                        <p:cTn id="7" dur="1000"/>
                                        <p:tgtEl>
                                          <p:spTgt spid="1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0">
                                            <p:txEl>
                                              <p:pRg st="1" end="1"/>
                                            </p:txEl>
                                          </p:spTgt>
                                        </p:tgtEl>
                                        <p:attrNameLst>
                                          <p:attrName>style.visibility</p:attrName>
                                        </p:attrNameLst>
                                      </p:cBhvr>
                                      <p:to>
                                        <p:strVal val="visible"/>
                                      </p:to>
                                    </p:set>
                                    <p:animEffect transition="in" filter="fade">
                                      <p:cBhvr>
                                        <p:cTn id="12" dur="1000"/>
                                        <p:tgtEl>
                                          <p:spTgt spid="18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0">
                                            <p:txEl>
                                              <p:pRg st="2" end="2"/>
                                            </p:txEl>
                                          </p:spTgt>
                                        </p:tgtEl>
                                        <p:attrNameLst>
                                          <p:attrName>style.visibility</p:attrName>
                                        </p:attrNameLst>
                                      </p:cBhvr>
                                      <p:to>
                                        <p:strVal val="visible"/>
                                      </p:to>
                                    </p:set>
                                    <p:animEffect transition="in" filter="fade">
                                      <p:cBhvr>
                                        <p:cTn id="17" dur="1000"/>
                                        <p:tgtEl>
                                          <p:spTgt spid="18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0">
                                            <p:txEl>
                                              <p:pRg st="3" end="3"/>
                                            </p:txEl>
                                          </p:spTgt>
                                        </p:tgtEl>
                                        <p:attrNameLst>
                                          <p:attrName>style.visibility</p:attrName>
                                        </p:attrNameLst>
                                      </p:cBhvr>
                                      <p:to>
                                        <p:strVal val="visible"/>
                                      </p:to>
                                    </p:set>
                                    <p:animEffect transition="in" filter="fade">
                                      <p:cBhvr>
                                        <p:cTn id="22" dur="1000"/>
                                        <p:tgtEl>
                                          <p:spTgt spid="18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5"/>
          <p:cNvSpPr txBox="1">
            <a:spLocks noGrp="1"/>
          </p:cNvSpPr>
          <p:nvPr>
            <p:ph type="title"/>
          </p:nvPr>
        </p:nvSpPr>
        <p:spPr>
          <a:xfrm>
            <a:off x="311700" y="316800"/>
            <a:ext cx="28080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REALIDAD</a:t>
            </a:r>
            <a:endParaRPr/>
          </a:p>
        </p:txBody>
      </p:sp>
      <p:pic>
        <p:nvPicPr>
          <p:cNvPr id="214" name="Google Shape;214;p25"/>
          <p:cNvPicPr preferRelativeResize="0"/>
          <p:nvPr/>
        </p:nvPicPr>
        <p:blipFill rotWithShape="1">
          <a:blip r:embed="rId3">
            <a:alphaModFix/>
          </a:blip>
          <a:srcRect r="6951" b="4187"/>
          <a:stretch/>
        </p:blipFill>
        <p:spPr>
          <a:xfrm>
            <a:off x="239225" y="945575"/>
            <a:ext cx="8334374" cy="3656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219" name="Google Shape;219;p26"/>
          <p:cNvPicPr preferRelativeResize="0"/>
          <p:nvPr/>
        </p:nvPicPr>
        <p:blipFill>
          <a:blip r:embed="rId3">
            <a:alphaModFix/>
          </a:blip>
          <a:stretch>
            <a:fillRect/>
          </a:stretch>
        </p:blipFill>
        <p:spPr>
          <a:xfrm>
            <a:off x="40750" y="1109375"/>
            <a:ext cx="9103250" cy="3386700"/>
          </a:xfrm>
          <a:prstGeom prst="rect">
            <a:avLst/>
          </a:prstGeom>
          <a:noFill/>
          <a:ln>
            <a:noFill/>
          </a:ln>
        </p:spPr>
      </p:pic>
      <p:sp>
        <p:nvSpPr>
          <p:cNvPr id="220" name="Google Shape;220;p26"/>
          <p:cNvSpPr txBox="1">
            <a:spLocks noGrp="1"/>
          </p:cNvSpPr>
          <p:nvPr>
            <p:ph type="title"/>
          </p:nvPr>
        </p:nvSpPr>
        <p:spPr>
          <a:xfrm>
            <a:off x="311700" y="316800"/>
            <a:ext cx="40656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Sesgos en los datos</a:t>
            </a:r>
            <a:endParaRPr/>
          </a:p>
        </p:txBody>
      </p:sp>
      <p:sp>
        <p:nvSpPr>
          <p:cNvPr id="221" name="Google Shape;221;p26"/>
          <p:cNvSpPr/>
          <p:nvPr/>
        </p:nvSpPr>
        <p:spPr>
          <a:xfrm>
            <a:off x="611350" y="2306825"/>
            <a:ext cx="3513300" cy="1239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27"/>
          <p:cNvSpPr txBox="1">
            <a:spLocks noGrp="1"/>
          </p:cNvSpPr>
          <p:nvPr>
            <p:ph type="title"/>
          </p:nvPr>
        </p:nvSpPr>
        <p:spPr>
          <a:xfrm>
            <a:off x="311700" y="316800"/>
            <a:ext cx="40656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Sesgos en los datos</a:t>
            </a:r>
            <a:endParaRPr/>
          </a:p>
        </p:txBody>
      </p:sp>
      <p:pic>
        <p:nvPicPr>
          <p:cNvPr id="227" name="Google Shape;227;p27"/>
          <p:cNvPicPr preferRelativeResize="0"/>
          <p:nvPr/>
        </p:nvPicPr>
        <p:blipFill>
          <a:blip r:embed="rId3">
            <a:alphaModFix/>
          </a:blip>
          <a:stretch>
            <a:fillRect/>
          </a:stretch>
        </p:blipFill>
        <p:spPr>
          <a:xfrm>
            <a:off x="625175" y="1322725"/>
            <a:ext cx="7219949" cy="2686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8"/>
          <p:cNvSpPr txBox="1">
            <a:spLocks noGrp="1"/>
          </p:cNvSpPr>
          <p:nvPr>
            <p:ph type="title"/>
          </p:nvPr>
        </p:nvSpPr>
        <p:spPr>
          <a:xfrm>
            <a:off x="311700" y="316800"/>
            <a:ext cx="40656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Sesgos en los datos</a:t>
            </a:r>
            <a:endParaRPr/>
          </a:p>
        </p:txBody>
      </p:sp>
      <p:pic>
        <p:nvPicPr>
          <p:cNvPr id="233" name="Google Shape;233;p28"/>
          <p:cNvPicPr preferRelativeResize="0"/>
          <p:nvPr/>
        </p:nvPicPr>
        <p:blipFill>
          <a:blip r:embed="rId3">
            <a:alphaModFix/>
          </a:blip>
          <a:stretch>
            <a:fillRect/>
          </a:stretch>
        </p:blipFill>
        <p:spPr>
          <a:xfrm>
            <a:off x="2589225" y="2347575"/>
            <a:ext cx="3458007" cy="2447925"/>
          </a:xfrm>
          <a:prstGeom prst="rect">
            <a:avLst/>
          </a:prstGeom>
          <a:noFill/>
          <a:ln>
            <a:noFill/>
          </a:ln>
        </p:spPr>
      </p:pic>
      <p:sp>
        <p:nvSpPr>
          <p:cNvPr id="234" name="Google Shape;234;p28"/>
          <p:cNvSpPr txBox="1"/>
          <p:nvPr/>
        </p:nvSpPr>
        <p:spPr>
          <a:xfrm>
            <a:off x="774575" y="1296750"/>
            <a:ext cx="7336800" cy="11853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None/>
            </a:pPr>
            <a:r>
              <a:rPr lang="es" sz="2250">
                <a:solidFill>
                  <a:srgbClr val="757575"/>
                </a:solidFill>
                <a:highlight>
                  <a:srgbClr val="FFFFFF"/>
                </a:highlight>
                <a:latin typeface="Georgia"/>
                <a:ea typeface="Georgia"/>
                <a:cs typeface="Georgia"/>
                <a:sym typeface="Georgia"/>
              </a:rPr>
              <a:t>El sesgo no proviene de algoritmos de IA, proviene de personas.</a:t>
            </a:r>
            <a:endParaRPr sz="2250">
              <a:solidFill>
                <a:srgbClr val="757575"/>
              </a:solidFill>
              <a:highlight>
                <a:srgbClr val="FFFFFF"/>
              </a:highlight>
              <a:latin typeface="Georgia"/>
              <a:ea typeface="Georgia"/>
              <a:cs typeface="Georgia"/>
              <a:sym typeface="Georgia"/>
            </a:endParaRPr>
          </a:p>
          <a:p>
            <a:pPr marL="0" lvl="0" indent="0" algn="l" rtl="0">
              <a:lnSpc>
                <a:spcPct val="115000"/>
              </a:lnSpc>
              <a:spcBef>
                <a:spcPts val="0"/>
              </a:spcBef>
              <a:spcAft>
                <a:spcPts val="0"/>
              </a:spcAft>
              <a:buNone/>
            </a:pPr>
            <a:endParaRPr sz="11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9"/>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Habilidades a aprender durante esta materia</a:t>
            </a:r>
            <a:endParaRPr/>
          </a:p>
        </p:txBody>
      </p:sp>
      <p:sp>
        <p:nvSpPr>
          <p:cNvPr id="240" name="Google Shape;240;p29"/>
          <p:cNvSpPr txBox="1">
            <a:spLocks noGrp="1"/>
          </p:cNvSpPr>
          <p:nvPr>
            <p:ph type="body" idx="4294967295"/>
          </p:nvPr>
        </p:nvSpPr>
        <p:spPr>
          <a:xfrm>
            <a:off x="853225" y="1439400"/>
            <a:ext cx="3563100" cy="1223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 i="1"/>
              <a:t>Seleccionar</a:t>
            </a:r>
            <a:r>
              <a:rPr lang="es"/>
              <a:t> y </a:t>
            </a:r>
            <a:r>
              <a:rPr lang="es" i="1"/>
              <a:t>aplicar</a:t>
            </a:r>
            <a:r>
              <a:rPr lang="es"/>
              <a:t> herramientas estadísticas </a:t>
            </a:r>
            <a:r>
              <a:rPr lang="es" b="1" i="1"/>
              <a:t>adecuadas</a:t>
            </a:r>
            <a:endParaRPr sz="1400" b="1" i="1"/>
          </a:p>
        </p:txBody>
      </p:sp>
      <p:sp>
        <p:nvSpPr>
          <p:cNvPr id="241" name="Google Shape;241;p29"/>
          <p:cNvSpPr txBox="1"/>
          <p:nvPr/>
        </p:nvSpPr>
        <p:spPr>
          <a:xfrm>
            <a:off x="401725" y="1439400"/>
            <a:ext cx="4515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3600">
                <a:solidFill>
                  <a:schemeClr val="accent5"/>
                </a:solidFill>
                <a:latin typeface="Impact"/>
                <a:ea typeface="Impact"/>
                <a:cs typeface="Impact"/>
                <a:sym typeface="Impact"/>
              </a:rPr>
              <a:t>1</a:t>
            </a:r>
            <a:endParaRPr sz="3600">
              <a:solidFill>
                <a:schemeClr val="accent5"/>
              </a:solidFill>
              <a:latin typeface="Impact"/>
              <a:ea typeface="Impact"/>
              <a:cs typeface="Impact"/>
              <a:sym typeface="Impact"/>
            </a:endParaRPr>
          </a:p>
        </p:txBody>
      </p:sp>
      <p:sp>
        <p:nvSpPr>
          <p:cNvPr id="242" name="Google Shape;242;p29"/>
          <p:cNvSpPr txBox="1">
            <a:spLocks noGrp="1"/>
          </p:cNvSpPr>
          <p:nvPr>
            <p:ph type="body" idx="4294967295"/>
          </p:nvPr>
        </p:nvSpPr>
        <p:spPr>
          <a:xfrm>
            <a:off x="853225" y="2648400"/>
            <a:ext cx="3563100" cy="1223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 i="1"/>
              <a:t>Diseñar</a:t>
            </a:r>
            <a:r>
              <a:rPr lang="es" b="1"/>
              <a:t> </a:t>
            </a:r>
            <a:r>
              <a:rPr lang="es"/>
              <a:t>procesos de análisis de datos </a:t>
            </a:r>
            <a:r>
              <a:rPr lang="es" b="1"/>
              <a:t>sistemáticos</a:t>
            </a:r>
            <a:endParaRPr sz="1400" b="1"/>
          </a:p>
        </p:txBody>
      </p:sp>
      <p:sp>
        <p:nvSpPr>
          <p:cNvPr id="243" name="Google Shape;243;p29"/>
          <p:cNvSpPr txBox="1"/>
          <p:nvPr/>
        </p:nvSpPr>
        <p:spPr>
          <a:xfrm>
            <a:off x="401725" y="2648400"/>
            <a:ext cx="4515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3600">
                <a:solidFill>
                  <a:schemeClr val="accent5"/>
                </a:solidFill>
                <a:latin typeface="Impact"/>
                <a:ea typeface="Impact"/>
                <a:cs typeface="Impact"/>
                <a:sym typeface="Impact"/>
              </a:rPr>
              <a:t>2</a:t>
            </a:r>
            <a:endParaRPr sz="3600">
              <a:solidFill>
                <a:schemeClr val="accent5"/>
              </a:solidFill>
              <a:latin typeface="Impact"/>
              <a:ea typeface="Impact"/>
              <a:cs typeface="Impact"/>
              <a:sym typeface="Impact"/>
            </a:endParaRPr>
          </a:p>
        </p:txBody>
      </p:sp>
      <p:sp>
        <p:nvSpPr>
          <p:cNvPr id="244" name="Google Shape;244;p29"/>
          <p:cNvSpPr txBox="1">
            <a:spLocks noGrp="1"/>
          </p:cNvSpPr>
          <p:nvPr>
            <p:ph type="body" idx="4294967295"/>
          </p:nvPr>
        </p:nvSpPr>
        <p:spPr>
          <a:xfrm>
            <a:off x="853225" y="3576725"/>
            <a:ext cx="3563100" cy="1223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 i="1"/>
              <a:t>Obtener resultados</a:t>
            </a:r>
            <a:r>
              <a:rPr lang="es"/>
              <a:t> a partir de un conjunto de datos y </a:t>
            </a:r>
            <a:r>
              <a:rPr lang="es" i="1"/>
              <a:t>contextualizarlos</a:t>
            </a:r>
            <a:endParaRPr sz="1400" b="1" i="1"/>
          </a:p>
        </p:txBody>
      </p:sp>
      <p:sp>
        <p:nvSpPr>
          <p:cNvPr id="245" name="Google Shape;245;p29"/>
          <p:cNvSpPr txBox="1"/>
          <p:nvPr/>
        </p:nvSpPr>
        <p:spPr>
          <a:xfrm>
            <a:off x="401725" y="3576725"/>
            <a:ext cx="4515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3600">
                <a:solidFill>
                  <a:schemeClr val="accent5"/>
                </a:solidFill>
                <a:latin typeface="Impact"/>
                <a:ea typeface="Impact"/>
                <a:cs typeface="Impact"/>
                <a:sym typeface="Impact"/>
              </a:rPr>
              <a:t>3</a:t>
            </a:r>
            <a:endParaRPr sz="3600">
              <a:solidFill>
                <a:schemeClr val="accent5"/>
              </a:solidFill>
              <a:latin typeface="Impact"/>
              <a:ea typeface="Impact"/>
              <a:cs typeface="Impact"/>
              <a:sym typeface="Impact"/>
            </a:endParaRPr>
          </a:p>
        </p:txBody>
      </p:sp>
      <p:sp>
        <p:nvSpPr>
          <p:cNvPr id="246" name="Google Shape;246;p29"/>
          <p:cNvSpPr txBox="1">
            <a:spLocks noGrp="1"/>
          </p:cNvSpPr>
          <p:nvPr>
            <p:ph type="body" idx="4294967295"/>
          </p:nvPr>
        </p:nvSpPr>
        <p:spPr>
          <a:xfrm>
            <a:off x="5186393" y="1469850"/>
            <a:ext cx="3645900" cy="1223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 i="1"/>
              <a:t>Explicar </a:t>
            </a:r>
            <a:r>
              <a:rPr lang="es"/>
              <a:t>resultados y conclusiones de forma </a:t>
            </a:r>
            <a:r>
              <a:rPr lang="es" b="1"/>
              <a:t>correcta</a:t>
            </a:r>
            <a:r>
              <a:rPr lang="es"/>
              <a:t> y </a:t>
            </a:r>
            <a:r>
              <a:rPr lang="es" b="1"/>
              <a:t>efectiva</a:t>
            </a:r>
            <a:endParaRPr sz="1400" b="1"/>
          </a:p>
        </p:txBody>
      </p:sp>
      <p:sp>
        <p:nvSpPr>
          <p:cNvPr id="247" name="Google Shape;247;p29"/>
          <p:cNvSpPr txBox="1"/>
          <p:nvPr/>
        </p:nvSpPr>
        <p:spPr>
          <a:xfrm>
            <a:off x="4724400" y="1469850"/>
            <a:ext cx="4620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3600">
                <a:solidFill>
                  <a:schemeClr val="accent5"/>
                </a:solidFill>
                <a:latin typeface="Impact"/>
                <a:ea typeface="Impact"/>
                <a:cs typeface="Impact"/>
                <a:sym typeface="Impact"/>
              </a:rPr>
              <a:t>4</a:t>
            </a:r>
            <a:endParaRPr sz="3600">
              <a:solidFill>
                <a:schemeClr val="accent5"/>
              </a:solidFill>
              <a:latin typeface="Impact"/>
              <a:ea typeface="Impact"/>
              <a:cs typeface="Impact"/>
              <a:sym typeface="Impact"/>
            </a:endParaRPr>
          </a:p>
        </p:txBody>
      </p:sp>
      <p:sp>
        <p:nvSpPr>
          <p:cNvPr id="248" name="Google Shape;248;p29"/>
          <p:cNvSpPr txBox="1">
            <a:spLocks noGrp="1"/>
          </p:cNvSpPr>
          <p:nvPr>
            <p:ph type="body" idx="4294967295"/>
          </p:nvPr>
        </p:nvSpPr>
        <p:spPr>
          <a:xfrm>
            <a:off x="5186393" y="2678850"/>
            <a:ext cx="3645900" cy="1223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 i="1"/>
              <a:t>Implementar </a:t>
            </a:r>
            <a:r>
              <a:rPr lang="es"/>
              <a:t>pipelines de análisis de datos en Python</a:t>
            </a:r>
            <a:endParaRPr sz="1400" b="1"/>
          </a:p>
        </p:txBody>
      </p:sp>
      <p:sp>
        <p:nvSpPr>
          <p:cNvPr id="249" name="Google Shape;249;p29"/>
          <p:cNvSpPr txBox="1"/>
          <p:nvPr/>
        </p:nvSpPr>
        <p:spPr>
          <a:xfrm>
            <a:off x="4724400" y="2678850"/>
            <a:ext cx="4620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3600">
                <a:solidFill>
                  <a:schemeClr val="accent5"/>
                </a:solidFill>
                <a:latin typeface="Impact"/>
                <a:ea typeface="Impact"/>
                <a:cs typeface="Impact"/>
                <a:sym typeface="Impact"/>
              </a:rPr>
              <a:t>5</a:t>
            </a:r>
            <a:endParaRPr sz="3600">
              <a:solidFill>
                <a:schemeClr val="accent5"/>
              </a:solidFill>
              <a:latin typeface="Impact"/>
              <a:ea typeface="Impact"/>
              <a:cs typeface="Impact"/>
              <a:sym typeface="Impact"/>
            </a:endParaRP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1"/>
                                        </p:tgtEl>
                                        <p:attrNameLst>
                                          <p:attrName>style.visibility</p:attrName>
                                        </p:attrNameLst>
                                      </p:cBhvr>
                                      <p:to>
                                        <p:strVal val="visible"/>
                                      </p:to>
                                    </p:set>
                                    <p:animEffect transition="in" filter="fade">
                                      <p:cBhvr>
                                        <p:cTn id="7" dur="1000"/>
                                        <p:tgtEl>
                                          <p:spTgt spid="241"/>
                                        </p:tgtEl>
                                      </p:cBhvr>
                                    </p:animEffect>
                                  </p:childTnLst>
                                </p:cTn>
                              </p:par>
                              <p:par>
                                <p:cTn id="8" presetID="10" presetClass="entr" presetSubtype="0" fill="hold" nodeType="withEffect">
                                  <p:stCondLst>
                                    <p:cond delay="0"/>
                                  </p:stCondLst>
                                  <p:childTnLst>
                                    <p:set>
                                      <p:cBhvr>
                                        <p:cTn id="9" dur="1" fill="hold">
                                          <p:stCondLst>
                                            <p:cond delay="0"/>
                                          </p:stCondLst>
                                        </p:cTn>
                                        <p:tgtEl>
                                          <p:spTgt spid="240"/>
                                        </p:tgtEl>
                                        <p:attrNameLst>
                                          <p:attrName>style.visibility</p:attrName>
                                        </p:attrNameLst>
                                      </p:cBhvr>
                                      <p:to>
                                        <p:strVal val="visible"/>
                                      </p:to>
                                    </p:set>
                                    <p:animEffect transition="in" filter="fade">
                                      <p:cBhvr>
                                        <p:cTn id="10" dur="1000"/>
                                        <p:tgtEl>
                                          <p:spTgt spid="24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43"/>
                                        </p:tgtEl>
                                        <p:attrNameLst>
                                          <p:attrName>style.visibility</p:attrName>
                                        </p:attrNameLst>
                                      </p:cBhvr>
                                      <p:to>
                                        <p:strVal val="visible"/>
                                      </p:to>
                                    </p:set>
                                    <p:animEffect transition="in" filter="fade">
                                      <p:cBhvr>
                                        <p:cTn id="15" dur="1000"/>
                                        <p:tgtEl>
                                          <p:spTgt spid="243"/>
                                        </p:tgtEl>
                                      </p:cBhvr>
                                    </p:animEffect>
                                  </p:childTnLst>
                                </p:cTn>
                              </p:par>
                              <p:par>
                                <p:cTn id="16" presetID="10" presetClass="entr" presetSubtype="0" fill="hold" nodeType="withEffect">
                                  <p:stCondLst>
                                    <p:cond delay="0"/>
                                  </p:stCondLst>
                                  <p:childTnLst>
                                    <p:set>
                                      <p:cBhvr>
                                        <p:cTn id="17" dur="1" fill="hold">
                                          <p:stCondLst>
                                            <p:cond delay="0"/>
                                          </p:stCondLst>
                                        </p:cTn>
                                        <p:tgtEl>
                                          <p:spTgt spid="242"/>
                                        </p:tgtEl>
                                        <p:attrNameLst>
                                          <p:attrName>style.visibility</p:attrName>
                                        </p:attrNameLst>
                                      </p:cBhvr>
                                      <p:to>
                                        <p:strVal val="visible"/>
                                      </p:to>
                                    </p:set>
                                    <p:animEffect transition="in" filter="fade">
                                      <p:cBhvr>
                                        <p:cTn id="18" dur="1000"/>
                                        <p:tgtEl>
                                          <p:spTgt spid="24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5"/>
                                        </p:tgtEl>
                                        <p:attrNameLst>
                                          <p:attrName>style.visibility</p:attrName>
                                        </p:attrNameLst>
                                      </p:cBhvr>
                                      <p:to>
                                        <p:strVal val="visible"/>
                                      </p:to>
                                    </p:set>
                                    <p:animEffect transition="in" filter="fade">
                                      <p:cBhvr>
                                        <p:cTn id="23" dur="1000"/>
                                        <p:tgtEl>
                                          <p:spTgt spid="245"/>
                                        </p:tgtEl>
                                      </p:cBhvr>
                                    </p:animEffect>
                                  </p:childTnLst>
                                </p:cTn>
                              </p:par>
                              <p:par>
                                <p:cTn id="24" presetID="10" presetClass="entr" presetSubtype="0" fill="hold" nodeType="withEffect">
                                  <p:stCondLst>
                                    <p:cond delay="0"/>
                                  </p:stCondLst>
                                  <p:childTnLst>
                                    <p:set>
                                      <p:cBhvr>
                                        <p:cTn id="25" dur="1" fill="hold">
                                          <p:stCondLst>
                                            <p:cond delay="0"/>
                                          </p:stCondLst>
                                        </p:cTn>
                                        <p:tgtEl>
                                          <p:spTgt spid="244"/>
                                        </p:tgtEl>
                                        <p:attrNameLst>
                                          <p:attrName>style.visibility</p:attrName>
                                        </p:attrNameLst>
                                      </p:cBhvr>
                                      <p:to>
                                        <p:strVal val="visible"/>
                                      </p:to>
                                    </p:set>
                                    <p:animEffect transition="in" filter="fade">
                                      <p:cBhvr>
                                        <p:cTn id="26" dur="1000"/>
                                        <p:tgtEl>
                                          <p:spTgt spid="24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7"/>
                                        </p:tgtEl>
                                        <p:attrNameLst>
                                          <p:attrName>style.visibility</p:attrName>
                                        </p:attrNameLst>
                                      </p:cBhvr>
                                      <p:to>
                                        <p:strVal val="visible"/>
                                      </p:to>
                                    </p:set>
                                    <p:animEffect transition="in" filter="fade">
                                      <p:cBhvr>
                                        <p:cTn id="31" dur="1000"/>
                                        <p:tgtEl>
                                          <p:spTgt spid="247"/>
                                        </p:tgtEl>
                                      </p:cBhvr>
                                    </p:animEffect>
                                  </p:childTnLst>
                                </p:cTn>
                              </p:par>
                              <p:par>
                                <p:cTn id="32" presetID="10" presetClass="entr" presetSubtype="0" fill="hold" nodeType="withEffect">
                                  <p:stCondLst>
                                    <p:cond delay="0"/>
                                  </p:stCondLst>
                                  <p:childTnLst>
                                    <p:set>
                                      <p:cBhvr>
                                        <p:cTn id="33" dur="1" fill="hold">
                                          <p:stCondLst>
                                            <p:cond delay="0"/>
                                          </p:stCondLst>
                                        </p:cTn>
                                        <p:tgtEl>
                                          <p:spTgt spid="246"/>
                                        </p:tgtEl>
                                        <p:attrNameLst>
                                          <p:attrName>style.visibility</p:attrName>
                                        </p:attrNameLst>
                                      </p:cBhvr>
                                      <p:to>
                                        <p:strVal val="visible"/>
                                      </p:to>
                                    </p:set>
                                    <p:animEffect transition="in" filter="fade">
                                      <p:cBhvr>
                                        <p:cTn id="34" dur="1000"/>
                                        <p:tgtEl>
                                          <p:spTgt spid="24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49"/>
                                        </p:tgtEl>
                                        <p:attrNameLst>
                                          <p:attrName>style.visibility</p:attrName>
                                        </p:attrNameLst>
                                      </p:cBhvr>
                                      <p:to>
                                        <p:strVal val="visible"/>
                                      </p:to>
                                    </p:set>
                                    <p:animEffect transition="in" filter="fade">
                                      <p:cBhvr>
                                        <p:cTn id="39" dur="1000"/>
                                        <p:tgtEl>
                                          <p:spTgt spid="249"/>
                                        </p:tgtEl>
                                      </p:cBhvr>
                                    </p:animEffect>
                                  </p:childTnLst>
                                </p:cTn>
                              </p:par>
                              <p:par>
                                <p:cTn id="40" presetID="10" presetClass="entr" presetSubtype="0" fill="hold" nodeType="withEffect">
                                  <p:stCondLst>
                                    <p:cond delay="0"/>
                                  </p:stCondLst>
                                  <p:childTnLst>
                                    <p:set>
                                      <p:cBhvr>
                                        <p:cTn id="41" dur="1" fill="hold">
                                          <p:stCondLst>
                                            <p:cond delay="0"/>
                                          </p:stCondLst>
                                        </p:cTn>
                                        <p:tgtEl>
                                          <p:spTgt spid="248"/>
                                        </p:tgtEl>
                                        <p:attrNameLst>
                                          <p:attrName>style.visibility</p:attrName>
                                        </p:attrNameLst>
                                      </p:cBhvr>
                                      <p:to>
                                        <p:strVal val="visible"/>
                                      </p:to>
                                    </p:set>
                                    <p:animEffect transition="in" filter="fade">
                                      <p:cBhvr>
                                        <p:cTn id="42" dur="1000"/>
                                        <p:tgtEl>
                                          <p:spTgt spid="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0"/>
          <p:cNvSpPr txBox="1">
            <a:spLocks noGrp="1"/>
          </p:cNvSpPr>
          <p:nvPr>
            <p:ph type="title"/>
          </p:nvPr>
        </p:nvSpPr>
        <p:spPr>
          <a:xfrm>
            <a:off x="311700" y="315925"/>
            <a:ext cx="8520600" cy="148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3600"/>
              <a:t>¿Qué pasa si usamos Machine Learning sin saber análisis de datos?</a:t>
            </a:r>
            <a:endParaRPr sz="3600"/>
          </a:p>
        </p:txBody>
      </p:sp>
      <p:sp>
        <p:nvSpPr>
          <p:cNvPr id="255" name="Google Shape;255;p30"/>
          <p:cNvSpPr txBox="1">
            <a:spLocks noGrp="1"/>
          </p:cNvSpPr>
          <p:nvPr>
            <p:ph type="body" idx="1"/>
          </p:nvPr>
        </p:nvSpPr>
        <p:spPr>
          <a:xfrm>
            <a:off x="311700" y="1873275"/>
            <a:ext cx="8520600" cy="2706000"/>
          </a:xfrm>
          <a:prstGeom prst="rect">
            <a:avLst/>
          </a:prstGeom>
        </p:spPr>
        <p:txBody>
          <a:bodyPr spcFirstLastPara="1" wrap="square" lIns="91425" tIns="91425" rIns="91425" bIns="91425" anchor="ctr" anchorCtr="0">
            <a:noAutofit/>
          </a:bodyPr>
          <a:lstStyle/>
          <a:p>
            <a:pPr marL="457200" lvl="0" indent="-292100" algn="l" rtl="0">
              <a:spcBef>
                <a:spcPts val="0"/>
              </a:spcBef>
              <a:spcAft>
                <a:spcPts val="0"/>
              </a:spcAft>
              <a:buSzPts val="1000"/>
              <a:buChar char="●"/>
            </a:pPr>
            <a:r>
              <a:rPr lang="es" sz="1600"/>
              <a:t>No sabemos </a:t>
            </a:r>
            <a:r>
              <a:rPr lang="es" sz="1600" b="1"/>
              <a:t>qué modelar</a:t>
            </a:r>
            <a:r>
              <a:rPr lang="es" sz="1600"/>
              <a:t>, a menos que alguien más se los diga.</a:t>
            </a:r>
            <a:endParaRPr sz="1600"/>
          </a:p>
          <a:p>
            <a:pPr marL="457200" lvl="0" indent="-292100" algn="l" rtl="0">
              <a:spcBef>
                <a:spcPts val="1000"/>
              </a:spcBef>
              <a:spcAft>
                <a:spcPts val="0"/>
              </a:spcAft>
              <a:buSzPts val="1000"/>
              <a:buChar char="●"/>
            </a:pPr>
            <a:r>
              <a:rPr lang="es" sz="1600"/>
              <a:t>No podemos interpretar correctamente el </a:t>
            </a:r>
            <a:r>
              <a:rPr lang="es" sz="1600" b="1"/>
              <a:t>impacto</a:t>
            </a:r>
            <a:r>
              <a:rPr lang="es" sz="1600"/>
              <a:t> de sus resultados</a:t>
            </a:r>
            <a:endParaRPr sz="1600"/>
          </a:p>
          <a:p>
            <a:pPr marL="914400" lvl="1" indent="-292100" algn="l" rtl="0">
              <a:spcBef>
                <a:spcPts val="1000"/>
              </a:spcBef>
              <a:spcAft>
                <a:spcPts val="0"/>
              </a:spcAft>
              <a:buSzPts val="1000"/>
              <a:buChar char="○"/>
            </a:pPr>
            <a:r>
              <a:rPr lang="es" sz="1600"/>
              <a:t>Impacto a largo plazo, provocados por sesgos, unfairness, filtrado de información</a:t>
            </a:r>
            <a:endParaRPr sz="1600"/>
          </a:p>
          <a:p>
            <a:pPr marL="914400" lvl="1" indent="-292100" algn="l" rtl="0">
              <a:spcBef>
                <a:spcPts val="1000"/>
              </a:spcBef>
              <a:spcAft>
                <a:spcPts val="0"/>
              </a:spcAft>
              <a:buSzPts val="1000"/>
              <a:buChar char="○"/>
            </a:pPr>
            <a:r>
              <a:rPr lang="es" sz="1600"/>
              <a:t>Impacto en métricas de negocios, por ejemplo evaluado a través de test A/B</a:t>
            </a:r>
            <a:endParaRPr sz="1600"/>
          </a:p>
          <a:p>
            <a:pPr marL="457200" lvl="0" indent="-292100" algn="l" rtl="0">
              <a:spcBef>
                <a:spcPts val="2000"/>
              </a:spcBef>
              <a:spcAft>
                <a:spcPts val="1000"/>
              </a:spcAft>
              <a:buSzPts val="1000"/>
              <a:buChar char="●"/>
            </a:pPr>
            <a:r>
              <a:rPr lang="es" sz="1600"/>
              <a:t>Perdemos mucho tiempo en desarrollar modelos que no responden la pregunta correcta, y por lo tanto son menos accionables</a:t>
            </a: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1"/>
          <p:cNvSpPr txBox="1">
            <a:spLocks noGrp="1"/>
          </p:cNvSpPr>
          <p:nvPr>
            <p:ph type="title"/>
          </p:nvPr>
        </p:nvSpPr>
        <p:spPr>
          <a:xfrm>
            <a:off x="311700" y="315925"/>
            <a:ext cx="8520600" cy="148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3600"/>
              <a:t>¿Qué sucede si hacemos Data Science sin entender Machine Learning?</a:t>
            </a:r>
            <a:endParaRPr sz="3600"/>
          </a:p>
        </p:txBody>
      </p:sp>
      <p:sp>
        <p:nvSpPr>
          <p:cNvPr id="261" name="Google Shape;261;p31"/>
          <p:cNvSpPr txBox="1">
            <a:spLocks noGrp="1"/>
          </p:cNvSpPr>
          <p:nvPr>
            <p:ph type="body" idx="1"/>
          </p:nvPr>
        </p:nvSpPr>
        <p:spPr>
          <a:xfrm>
            <a:off x="311700" y="1873275"/>
            <a:ext cx="8520600" cy="2706000"/>
          </a:xfrm>
          <a:prstGeom prst="rect">
            <a:avLst/>
          </a:prstGeom>
        </p:spPr>
        <p:txBody>
          <a:bodyPr spcFirstLastPara="1" wrap="square" lIns="91425" tIns="91425" rIns="91425" bIns="91425" anchor="ctr" anchorCtr="0">
            <a:noAutofit/>
          </a:bodyPr>
          <a:lstStyle/>
          <a:p>
            <a:pPr marL="457200" lvl="0" indent="-292100" algn="l" rtl="0">
              <a:spcBef>
                <a:spcPts val="0"/>
              </a:spcBef>
              <a:spcAft>
                <a:spcPts val="0"/>
              </a:spcAft>
              <a:buSzPts val="1000"/>
              <a:buChar char="●"/>
            </a:pPr>
            <a:r>
              <a:rPr lang="es" sz="1600"/>
              <a:t>Estamos limitados a análisis simples. O usamos modelos sin saber cómo funcionan...</a:t>
            </a:r>
            <a:endParaRPr sz="1600"/>
          </a:p>
          <a:p>
            <a:pPr marL="457200" lvl="0" indent="-292100" algn="l" rtl="0">
              <a:spcBef>
                <a:spcPts val="1000"/>
              </a:spcBef>
              <a:spcAft>
                <a:spcPts val="0"/>
              </a:spcAft>
              <a:buSzPts val="1000"/>
              <a:buChar char="●"/>
            </a:pPr>
            <a:r>
              <a:rPr lang="es" sz="1600"/>
              <a:t>No entendemos qué tipo de </a:t>
            </a:r>
            <a:r>
              <a:rPr lang="es" sz="1600" b="1"/>
              <a:t>restricciones imponen los modelos</a:t>
            </a:r>
            <a:r>
              <a:rPr lang="es" sz="1600"/>
              <a:t> que elegimos, por ejemplo, modelos lineales, hiperplanos, etc.</a:t>
            </a:r>
            <a:endParaRPr sz="1600"/>
          </a:p>
          <a:p>
            <a:pPr marL="457200" lvl="0" indent="-292100" algn="l" rtl="0">
              <a:spcBef>
                <a:spcPts val="1000"/>
              </a:spcBef>
              <a:spcAft>
                <a:spcPts val="0"/>
              </a:spcAft>
              <a:buSzPts val="1000"/>
              <a:buChar char="●"/>
            </a:pPr>
            <a:r>
              <a:rPr lang="es" sz="1600"/>
              <a:t>Aplicamos modelos a conjuntos de datos para los cuales no son adecuados, por ejemplo, redes neuronales sin normalizar las columnas</a:t>
            </a:r>
            <a:endParaRPr sz="1600"/>
          </a:p>
          <a:p>
            <a:pPr marL="457200" lvl="0" indent="-292100" algn="l" rtl="0">
              <a:spcBef>
                <a:spcPts val="1000"/>
              </a:spcBef>
              <a:spcAft>
                <a:spcPts val="1000"/>
              </a:spcAft>
              <a:buSzPts val="1000"/>
              <a:buChar char="●"/>
            </a:pPr>
            <a:r>
              <a:rPr lang="es" sz="1600"/>
              <a:t>Perdemos mucho tiempo en optimizar los modelos, porque no sabemos cómo</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2"/>
          <p:cNvSpPr txBox="1">
            <a:spLocks noGrp="1"/>
          </p:cNvSpPr>
          <p:nvPr>
            <p:ph type="title"/>
          </p:nvPr>
        </p:nvSpPr>
        <p:spPr>
          <a:xfrm>
            <a:off x="311700" y="315925"/>
            <a:ext cx="8520600" cy="75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3600"/>
              <a:t>Material y Herramientas de trabajo</a:t>
            </a:r>
            <a:endParaRPr sz="3600"/>
          </a:p>
        </p:txBody>
      </p:sp>
      <p:sp>
        <p:nvSpPr>
          <p:cNvPr id="267" name="Google Shape;267;p32"/>
          <p:cNvSpPr txBox="1">
            <a:spLocks noGrp="1"/>
          </p:cNvSpPr>
          <p:nvPr>
            <p:ph type="body" idx="1"/>
          </p:nvPr>
        </p:nvSpPr>
        <p:spPr>
          <a:xfrm>
            <a:off x="311700" y="1411325"/>
            <a:ext cx="8520600" cy="2706000"/>
          </a:xfrm>
          <a:prstGeom prst="rect">
            <a:avLst/>
          </a:prstGeom>
        </p:spPr>
        <p:txBody>
          <a:bodyPr spcFirstLastPara="1" wrap="square" lIns="91425" tIns="91425" rIns="91425" bIns="91425" anchor="ctr" anchorCtr="0">
            <a:noAutofit/>
          </a:bodyPr>
          <a:lstStyle/>
          <a:p>
            <a:pPr marL="457200" marR="0" lvl="0" indent="-361950" algn="l" rtl="0">
              <a:lnSpc>
                <a:spcPct val="115000"/>
              </a:lnSpc>
              <a:spcBef>
                <a:spcPts val="0"/>
              </a:spcBef>
              <a:spcAft>
                <a:spcPts val="0"/>
              </a:spcAft>
              <a:buSzPts val="2100"/>
              <a:buChar char="●"/>
            </a:pPr>
            <a:r>
              <a:rPr lang="es" sz="2100"/>
              <a:t>Google colab → Para leer notebooks de python (00 Inicios en Python.ipynb)</a:t>
            </a:r>
            <a:endParaRPr sz="2100"/>
          </a:p>
          <a:p>
            <a:pPr marL="0" marR="0" lvl="0" indent="0" algn="l" rtl="0">
              <a:lnSpc>
                <a:spcPct val="115000"/>
              </a:lnSpc>
              <a:spcBef>
                <a:spcPts val="1000"/>
              </a:spcBef>
              <a:spcAft>
                <a:spcPts val="0"/>
              </a:spcAft>
              <a:buNone/>
            </a:pPr>
            <a:endParaRPr sz="2100"/>
          </a:p>
          <a:p>
            <a:pPr marL="457200" lvl="0" indent="-361950" algn="l" rtl="0">
              <a:spcBef>
                <a:spcPts val="1000"/>
              </a:spcBef>
              <a:spcAft>
                <a:spcPts val="1000"/>
              </a:spcAft>
              <a:buSzPts val="2100"/>
              <a:buChar char="●"/>
            </a:pPr>
            <a:r>
              <a:rPr lang="es" sz="2100"/>
              <a:t>GitHub → Repositorio de los documentos</a:t>
            </a:r>
            <a:endParaRPr sz="2100"/>
          </a:p>
        </p:txBody>
      </p:sp>
      <p:pic>
        <p:nvPicPr>
          <p:cNvPr id="268" name="Google Shape;268;p32"/>
          <p:cNvPicPr preferRelativeResize="0"/>
          <p:nvPr/>
        </p:nvPicPr>
        <p:blipFill>
          <a:blip r:embed="rId3">
            <a:alphaModFix/>
          </a:blip>
          <a:stretch>
            <a:fillRect/>
          </a:stretch>
        </p:blipFill>
        <p:spPr>
          <a:xfrm>
            <a:off x="2480913" y="3663275"/>
            <a:ext cx="3400425" cy="1352550"/>
          </a:xfrm>
          <a:prstGeom prst="rect">
            <a:avLst/>
          </a:prstGeom>
          <a:noFill/>
          <a:ln>
            <a:noFill/>
          </a:ln>
        </p:spPr>
      </p:pic>
    </p:spTree>
  </p:cSld>
  <p:clrMapOvr>
    <a:masterClrMapping/>
  </p:clrMapOvr>
</p:sld>
</file>

<file path=ppt/theme/theme1.xml><?xml version="1.0" encoding="utf-8"?>
<a:theme xmlns:a="http://schemas.openxmlformats.org/drawingml/2006/main" name="Luxe">
  <a:themeElements>
    <a:clrScheme name="Luxe">
      <a:dk1>
        <a:srgbClr val="000000"/>
      </a:dk1>
      <a:lt1>
        <a:srgbClr val="FFFBFC"/>
      </a:lt1>
      <a:dk2>
        <a:srgbClr val="9FB3BC"/>
      </a:dk2>
      <a:lt2>
        <a:srgbClr val="CCA677"/>
      </a:lt2>
      <a:accent1>
        <a:srgbClr val="5D4037"/>
      </a:accent1>
      <a:accent2>
        <a:srgbClr val="455A64"/>
      </a:accent2>
      <a:accent3>
        <a:srgbClr val="607D8B"/>
      </a:accent3>
      <a:accent4>
        <a:srgbClr val="6FD08C"/>
      </a:accent4>
      <a:accent5>
        <a:srgbClr val="57BB8A"/>
      </a:accent5>
      <a:accent6>
        <a:srgbClr val="C6DDF0"/>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2223</Words>
  <Application>Microsoft Office PowerPoint</Application>
  <PresentationFormat>Presentación en pantalla (16:9)</PresentationFormat>
  <Paragraphs>106</Paragraphs>
  <Slides>15</Slides>
  <Notes>14</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15</vt:i4>
      </vt:variant>
    </vt:vector>
  </HeadingPairs>
  <TitlesOfParts>
    <vt:vector size="24" baseType="lpstr">
      <vt:lpstr>Trebuchet MS</vt:lpstr>
      <vt:lpstr>Arial</vt:lpstr>
      <vt:lpstr>Open Sans</vt:lpstr>
      <vt:lpstr>Gill Sans MT</vt:lpstr>
      <vt:lpstr>Roboto</vt:lpstr>
      <vt:lpstr>Impact</vt:lpstr>
      <vt:lpstr>Economica</vt:lpstr>
      <vt:lpstr>Georgia</vt:lpstr>
      <vt:lpstr>Luxe</vt:lpstr>
      <vt:lpstr>Presentación de PowerPoint</vt:lpstr>
      <vt:lpstr>¿Qué es la Ciencia de Datos?</vt:lpstr>
      <vt:lpstr>Statistical analysis and data reconfiguration</vt:lpstr>
      <vt:lpstr>Presentación de PowerPoint</vt:lpstr>
      <vt:lpstr>Presentación de PowerPoint</vt:lpstr>
      <vt:lpstr>El ciclo sin fin</vt:lpstr>
      <vt:lpstr>El ciclo sin fin</vt:lpstr>
      <vt:lpstr>REALIDAD</vt:lpstr>
      <vt:lpstr>Sesgos en los datos</vt:lpstr>
      <vt:lpstr>Sesgos en los datos</vt:lpstr>
      <vt:lpstr>Sesgos en los datos</vt:lpstr>
      <vt:lpstr>Habilidades a aprender durante esta materia</vt:lpstr>
      <vt:lpstr>¿Qué pasa si usamos Machine Learning sin saber análisis de datos?</vt:lpstr>
      <vt:lpstr>¿Qué sucede si hacemos Data Science sin entender Machine Learning?</vt:lpstr>
      <vt:lpstr>Material y Herramientas de trabajo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y Visualización de Datos</dc:title>
  <cp:lastModifiedBy>José Ramon Iglesias Gamarra</cp:lastModifiedBy>
  <cp:revision>2</cp:revision>
  <dcterms:modified xsi:type="dcterms:W3CDTF">2026-07-02T17:47:05Z</dcterms:modified>
</cp:coreProperties>
</file>