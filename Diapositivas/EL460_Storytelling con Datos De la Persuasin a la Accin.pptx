
<file path=[Content_Types].xml><?xml version="1.0" encoding="utf-8"?>
<Types xmlns="http://schemas.openxmlformats.org/package/2006/content-types">
  <Default ContentType="application/x-fontdata" Extension="f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true">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8288000" cy="10287000" type="screen4x3"/>
  <p:notesSz cx="6858000" cy="9144000"/>
  <p:embeddedFontLst>
    <p:embeddedFont>
      <p:font typeface="Quicksand" charset="1" panose="020B0503030404020204"/>
      <p:regular r:id="rId26"/>
    </p:embeddedFont>
    <p:embeddedFont>
      <p:font typeface="Quicksand Bold" charset="1" panose="020B0803030404020204"/>
      <p:regular r:id="rId27"/>
    </p:embeddedFont>
    <p:embeddedFont>
      <p:font typeface="Rubik" charset="1" panose="020B0503030404020204"/>
      <p:regular r:id="rId28"/>
    </p:embeddedFont>
    <p:embeddedFont>
      <p:font typeface="Rubik Bold" charset="1" panose="020B0803030404020204"/>
      <p:regular r:id="rId29"/>
    </p:embeddedFont>
    <p:embeddedFont>
      <p:font typeface="Rubik Italic" charset="1" panose="020B0503030404090204"/>
      <p:regular r:id="rId30"/>
    </p:embeddedFont>
    <p:embeddedFont>
      <p:font typeface="Rubik Bold Italic" charset="1" panose="020B0803030404090204"/>
      <p:regular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20000">
            <a:off x="9639300" y="2409825"/>
            <a:ext cx="7886700" cy="5257800"/>
          </a:xfrm>
          <a:prstGeom prst="roundRect">
            <a:avLst>
              <a:gd name="adj" fmla="val 2898"/>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cf9bca6-c9f0-4ad6-b93b-65c59aeb5536.png"/>
          <p:cNvPicPr>
            <a:picLocks noChangeAspect="1"/>
          </p:cNvPicPr>
          <p:nvPr/>
        </p:nvPicPr>
        <p:blipFill>
          <a:blip r:embed="rId2"/>
          <a:stretch>
            <a:fillRect/>
          </a:stretch>
        </p:blipFill>
        <p:spPr>
          <a:xfrm rot="21480000">
            <a:off x="9525000" y="2619374"/>
            <a:ext cx="7886700" cy="5257800"/>
          </a:xfrm>
          <a:prstGeom prst="rect">
            <a:avLst/>
          </a:prstGeom>
        </p:spPr>
      </p:pic>
      <p:pic>
        <p:nvPicPr>
          <p:cNvPr id="4" name="Picture 3" descr="182aa3b7-a098-46fa-a305-d1da130682be.png"/>
          <p:cNvPicPr>
            <a:picLocks noChangeAspect="1"/>
          </p:cNvPicPr>
          <p:nvPr/>
        </p:nvPicPr>
        <p:blipFill>
          <a:blip r:embed="rId3"/>
          <a:stretch>
            <a:fillRect/>
          </a:stretch>
        </p:blipFill>
        <p:spPr>
          <a:xfrm>
            <a:off x="12734924" y="2314575"/>
            <a:ext cx="1581149" cy="380999"/>
          </a:xfrm>
          <a:prstGeom prst="rect">
            <a:avLst/>
          </a:prstGeom>
        </p:spPr>
      </p:pic>
      <p:pic>
        <p:nvPicPr>
          <p:cNvPr id="5" name="Picture 4" descr="594a12ee-0490-450f-84ba-27514739bcaa.png"/>
          <p:cNvPicPr>
            <a:picLocks noChangeAspect="1"/>
          </p:cNvPicPr>
          <p:nvPr/>
        </p:nvPicPr>
        <p:blipFill>
          <a:blip r:embed="rId4"/>
          <a:stretch>
            <a:fillRect/>
          </a:stretch>
        </p:blipFill>
        <p:spPr>
          <a:xfrm>
            <a:off x="16754474" y="8858250"/>
            <a:ext cx="761999" cy="761999"/>
          </a:xfrm>
          <a:prstGeom prst="rect">
            <a:avLst/>
          </a:prstGeom>
        </p:spPr>
      </p:pic>
      <p:sp>
        <p:nvSpPr>
          <p:cNvPr id="6" name="TextBox 5"/>
          <p:cNvSpPr txBox="1"/>
          <p:nvPr/>
        </p:nvSpPr>
        <p:spPr>
          <a:xfrm>
            <a:off x="761999" y="2960489"/>
            <a:ext cx="8001000" cy="2900333"/>
          </a:xfrm>
          <a:prstGeom prst="rect">
            <a:avLst/>
          </a:prstGeom>
          <a:noFill/>
        </p:spPr>
        <p:txBody>
          <a:bodyPr wrap="square" lIns="0" rIns="0" tIns="0" bIns="0">
            <a:normAutofit/>
          </a:bodyPr>
          <a:lstStyle/>
          <a:p>
            <a:pPr algn="l">
              <a:lnSpc>
                <a:spcPct val="99000"/>
              </a:lnSpc>
            </a:pPr>
            <a:r>
              <a:rPr sz="6000" b="1">
                <a:solidFill>
                  <a:srgbClr val="0F151A"/>
                </a:solidFill>
                <a:latin typeface="Quicksand Bold"/>
              </a:rPr>
              <a:t>Storytelling con Datos: De la Persuasión a la Acción</a:t>
            </a:r>
          </a:p>
        </p:txBody>
      </p:sp>
      <p:sp>
        <p:nvSpPr>
          <p:cNvPr id="7" name="TextBox 6"/>
          <p:cNvSpPr txBox="1"/>
          <p:nvPr/>
        </p:nvSpPr>
        <p:spPr>
          <a:xfrm>
            <a:off x="761999" y="6503789"/>
            <a:ext cx="8001000" cy="711500"/>
          </a:xfrm>
          <a:prstGeom prst="rect">
            <a:avLst/>
          </a:prstGeom>
          <a:noFill/>
        </p:spPr>
        <p:txBody>
          <a:bodyPr wrap="square" lIns="0" rIns="0" tIns="0" bIns="0">
            <a:normAutofit/>
          </a:bodyPr>
          <a:lstStyle/>
          <a:p>
            <a:pPr algn="l">
              <a:lnSpc>
                <a:spcPct val="108000"/>
              </a:lnSpc>
            </a:pPr>
            <a:r>
              <a:rPr sz="2700">
                <a:solidFill>
                  <a:srgbClr val="0F151A"/>
                </a:solidFill>
                <a:latin typeface="Quicksand"/>
              </a:rPr>
              <a:t>Dominando la narrativa para transformar el análisis en decisiones estratégicas y memorables.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594a12ee-0490-450f-84ba-27514739bcaa.png"/>
          <p:cNvPicPr>
            <a:picLocks noChangeAspect="1"/>
          </p:cNvPicPr>
          <p:nvPr/>
        </p:nvPicPr>
        <p:blipFill>
          <a:blip r:embed="rId2"/>
          <a:stretch>
            <a:fillRect/>
          </a:stretch>
        </p:blipFill>
        <p:spPr>
          <a:xfrm>
            <a:off x="16754474" y="8858250"/>
            <a:ext cx="761999" cy="761999"/>
          </a:xfrm>
          <a:prstGeom prst="rect">
            <a:avLst/>
          </a:prstGeom>
        </p:spPr>
      </p:pic>
      <p:sp>
        <p:nvSpPr>
          <p:cNvPr id="3" name="TextBox 2"/>
          <p:cNvSpPr txBox="1"/>
          <p:nvPr/>
        </p:nvSpPr>
        <p:spPr>
          <a:xfrm>
            <a:off x="1371600" y="1695449"/>
            <a:ext cx="7486650" cy="1005780"/>
          </a:xfrm>
          <a:prstGeom prst="rect">
            <a:avLst/>
          </a:prstGeom>
          <a:noFill/>
        </p:spPr>
        <p:txBody>
          <a:bodyPr wrap="square" lIns="0" rIns="0" tIns="0" bIns="0">
            <a:normAutofit/>
          </a:bodyPr>
          <a:lstStyle/>
          <a:p>
            <a:pPr algn="l">
              <a:lnSpc>
                <a:spcPct val="99000"/>
              </a:lnSpc>
            </a:pPr>
            <a:r>
              <a:rPr sz="7200" b="1">
                <a:solidFill>
                  <a:srgbClr val="0F151A"/>
                </a:solidFill>
                <a:latin typeface="Quicksand Bold"/>
              </a:rPr>
              <a:t>Índice</a:t>
            </a:r>
          </a:p>
        </p:txBody>
      </p:sp>
      <p:sp>
        <p:nvSpPr>
          <p:cNvPr id="4" name="TextBox 3"/>
          <p:cNvSpPr txBox="1"/>
          <p:nvPr/>
        </p:nvSpPr>
        <p:spPr>
          <a:xfrm>
            <a:off x="9334499" y="2000250"/>
            <a:ext cx="7248525" cy="6286500"/>
          </a:xfrm>
          <a:prstGeom prst="rect">
            <a:avLst/>
          </a:prstGeom>
          <a:noFill/>
        </p:spPr>
        <p:txBody>
          <a:bodyPr wrap="square" lIns="0" rIns="0" tIns="0" bIns="0">
            <a:normAutofit/>
          </a:bodyPr>
          <a:lstStyle/>
          <a:p>
            <a:pPr algn="l">
              <a:buChar char="•"/>
              <a:lnSpc>
                <a:spcPct val="126000"/>
              </a:lnSpc>
              <a:buFont typeface="Arial"/>
            </a:pPr>
            <a:r>
              <a:rPr sz="3000">
                <a:latin typeface="Quicksand"/>
              </a:rPr>
              <a:t>  </a:t>
            </a:r>
            <a:r>
              <a:rPr sz="3000">
                <a:solidFill>
                  <a:srgbClr val="323E47"/>
                </a:solidFill>
                <a:latin typeface="Quicksand"/>
              </a:rPr>
              <a:t>El Poder Persuasivo del Storytelling con Datos</a:t>
            </a:r>
          </a:p>
          <a:p>
            <a:pPr algn="l">
              <a:lnSpc>
                <a:spcPct val="126000"/>
              </a:lnSpc>
              <a:spcBef>
                <a:spcPts val="1875"/>
              </a:spcBef>
              <a:buChar char="•"/>
              <a:buFont typeface="Arial"/>
            </a:pPr>
            <a:r>
              <a:rPr sz="3000">
                <a:latin typeface="Quicksand"/>
              </a:rPr>
              <a:t>  </a:t>
            </a:r>
            <a:r>
              <a:rPr sz="3000">
                <a:solidFill>
                  <a:srgbClr val="323E47"/>
                </a:solidFill>
                <a:latin typeface="Quicksand"/>
              </a:rPr>
              <a:t>Exploración vs. Explicación: Claridad en el Mensaje</a:t>
            </a:r>
          </a:p>
          <a:p>
            <a:pPr algn="l">
              <a:lnSpc>
                <a:spcPct val="126000"/>
              </a:lnSpc>
              <a:spcBef>
                <a:spcPts val="1875"/>
              </a:spcBef>
              <a:buChar char="•"/>
              <a:buFont typeface="Arial"/>
            </a:pPr>
            <a:r>
              <a:rPr sz="3000">
                <a:latin typeface="Quicksand"/>
              </a:rPr>
              <a:t>  </a:t>
            </a:r>
            <a:r>
              <a:rPr sz="3000">
                <a:solidFill>
                  <a:srgbClr val="323E47"/>
                </a:solidFill>
                <a:latin typeface="Quicksand"/>
              </a:rPr>
              <a:t>Audiencia y Contexto: Claves para el Éxito</a:t>
            </a:r>
          </a:p>
          <a:p>
            <a:pPr algn="l">
              <a:lnSpc>
                <a:spcPct val="126000"/>
              </a:lnSpc>
              <a:spcBef>
                <a:spcPts val="1875"/>
              </a:spcBef>
              <a:buChar char="•"/>
              <a:buFont typeface="Arial"/>
            </a:pPr>
            <a:r>
              <a:rPr sz="3000">
                <a:latin typeface="Quicksand"/>
              </a:rPr>
              <a:t>  </a:t>
            </a:r>
            <a:r>
              <a:rPr sz="3000">
                <a:solidFill>
                  <a:srgbClr val="323E47"/>
                </a:solidFill>
                <a:latin typeface="Quicksand"/>
              </a:rPr>
              <a:t>Visualizaciones Efectivas y Principios Gestalt</a:t>
            </a:r>
          </a:p>
          <a:p>
            <a:pPr algn="l">
              <a:lnSpc>
                <a:spcPct val="126000"/>
              </a:lnSpc>
              <a:spcBef>
                <a:spcPts val="1875"/>
              </a:spcBef>
              <a:buChar char="•"/>
              <a:buFont typeface="Arial"/>
            </a:pPr>
            <a:r>
              <a:rPr sz="3000">
                <a:latin typeface="Quicksand"/>
              </a:rPr>
              <a:t>  </a:t>
            </a:r>
            <a:r>
              <a:rPr sz="3000">
                <a:solidFill>
                  <a:srgbClr val="323E47"/>
                </a:solidFill>
                <a:latin typeface="Quicksand"/>
              </a:rPr>
              <a:t>Ética, Estructura Narrativa y Aplicación Profesional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6dd578c-7b9f-4d05-817d-fbd7a23f301d.png"/>
          <p:cNvPicPr>
            <a:picLocks noChangeAspect="1"/>
          </p:cNvPicPr>
          <p:nvPr/>
        </p:nvPicPr>
        <p:blipFill>
          <a:blip r:embed="rId2"/>
          <a:stretch>
            <a:fillRect/>
          </a:stretch>
        </p:blipFill>
        <p:spPr>
          <a:xfrm>
            <a:off x="9648824" y="2520950"/>
            <a:ext cx="7867649" cy="5245100"/>
          </a:xfrm>
          <a:prstGeom prst="rect">
            <a:avLst/>
          </a:prstGeom>
        </p:spPr>
      </p:pic>
      <p:pic>
        <p:nvPicPr>
          <p:cNvPr id="3" name="Picture 2" descr="594a12ee-0490-450f-84ba-27514739bcaa.png"/>
          <p:cNvPicPr>
            <a:picLocks noChangeAspect="1"/>
          </p:cNvPicPr>
          <p:nvPr/>
        </p:nvPicPr>
        <p:blipFill>
          <a:blip r:embed="rId3"/>
          <a:stretch>
            <a:fillRect/>
          </a:stretch>
        </p:blipFill>
        <p:spPr>
          <a:xfrm>
            <a:off x="16754474" y="8858250"/>
            <a:ext cx="761999" cy="761999"/>
          </a:xfrm>
          <a:prstGeom prst="rect">
            <a:avLst/>
          </a:prstGeom>
        </p:spPr>
      </p:pic>
      <p:sp>
        <p:nvSpPr>
          <p:cNvPr id="4" name="TextBox 3"/>
          <p:cNvSpPr txBox="1"/>
          <p:nvPr/>
        </p:nvSpPr>
        <p:spPr>
          <a:xfrm>
            <a:off x="1285875" y="1276350"/>
            <a:ext cx="7905749" cy="1508521"/>
          </a:xfrm>
          <a:prstGeom prst="rect">
            <a:avLst/>
          </a:prstGeom>
          <a:noFill/>
        </p:spPr>
        <p:txBody>
          <a:bodyPr wrap="square" lIns="0" rIns="0" tIns="0" bIns="0">
            <a:normAutofit/>
          </a:bodyPr>
          <a:lstStyle/>
          <a:p>
            <a:pPr algn="l">
              <a:lnSpc>
                <a:spcPct val="99000"/>
              </a:lnSpc>
            </a:pPr>
            <a:r>
              <a:rPr sz="5400" b="1">
                <a:solidFill>
                  <a:srgbClr val="0F151A"/>
                </a:solidFill>
                <a:latin typeface="Quicksand Bold"/>
              </a:rPr>
              <a:t>El Poder del Storytelling con Datos</a:t>
            </a:r>
          </a:p>
        </p:txBody>
      </p:sp>
      <p:sp>
        <p:nvSpPr>
          <p:cNvPr id="5" name="TextBox 4"/>
          <p:cNvSpPr txBox="1"/>
          <p:nvPr/>
        </p:nvSpPr>
        <p:spPr>
          <a:xfrm>
            <a:off x="1285875" y="3089671"/>
            <a:ext cx="7905749" cy="4266902"/>
          </a:xfrm>
          <a:prstGeom prst="rect">
            <a:avLst/>
          </a:prstGeom>
          <a:noFill/>
        </p:spPr>
        <p:txBody>
          <a:bodyPr wrap="square" lIns="0" rIns="0" tIns="0" bIns="0">
            <a:normAutofit/>
          </a:bodyPr>
          <a:lstStyle/>
          <a:p>
            <a:pPr algn="l">
              <a:lnSpc>
                <a:spcPct val="126000"/>
              </a:lnSpc>
            </a:pPr>
            <a:r>
              <a:rPr sz="2400">
                <a:solidFill>
                  <a:srgbClr val="323E47"/>
                </a:solidFill>
                <a:latin typeface="Quicksand"/>
              </a:rPr>
              <a:t>El storytelling con datos trasciende la mera visualización; es la fusión del análisis, el diseño visual y la narrativa para crear impacto. Los </a:t>
            </a:r>
            <a:r>
              <a:rPr sz="2400" b="1">
                <a:solidFill>
                  <a:srgbClr val="323E47"/>
                </a:solidFill>
                <a:latin typeface="Quicksand Bold"/>
              </a:rPr>
              <a:t>datos por sí solos no persuaden</a:t>
            </a:r>
            <a:r>
              <a:rPr sz="2400">
                <a:solidFill>
                  <a:srgbClr val="323E47"/>
                </a:solidFill>
                <a:latin typeface="Quicksand"/>
              </a:rPr>
              <a:t>, ya que activan menos áreas cerebrales que las historias. De hecho, estudios de Stanford muestran que el 63% de la audiencia recuerda historias, frente a solo un 5% que recuerda estadísticas. El objetivo principal es transformar el 'qué' de los datos en el </a:t>
            </a:r>
            <a:r>
              <a:rPr sz="2400" i="1">
                <a:solidFill>
                  <a:srgbClr val="323E47"/>
                </a:solidFill>
                <a:latin typeface="Quicksand"/>
              </a:rPr>
              <a:t>'y qué'</a:t>
            </a:r>
            <a:r>
              <a:rPr sz="2400">
                <a:solidFill>
                  <a:srgbClr val="323E47"/>
                </a:solidFill>
                <a:latin typeface="Quicksand"/>
              </a:rPr>
              <a:t> de la relevancia, impulsando así una </a:t>
            </a:r>
            <a:r>
              <a:rPr sz="2400" b="1">
                <a:solidFill>
                  <a:srgbClr val="323E47"/>
                </a:solidFill>
                <a:latin typeface="Quicksand Bold"/>
              </a:rPr>
              <a:t>toma de decisiones informada</a:t>
            </a:r>
            <a:r>
              <a:rPr sz="2400">
                <a:solidFill>
                  <a:srgbClr val="323E47"/>
                </a:solidFill>
                <a:latin typeface="Quicksand"/>
              </a:rPr>
              <a:t>.</a:t>
            </a:r>
          </a:p>
        </p:txBody>
      </p:sp>
      <p:sp>
        <p:nvSpPr>
          <p:cNvPr id="6" name="TextBox 5"/>
          <p:cNvSpPr txBox="1"/>
          <p:nvPr/>
        </p:nvSpPr>
        <p:spPr>
          <a:xfrm>
            <a:off x="9648824" y="7823199"/>
            <a:ext cx="7867649" cy="214312"/>
          </a:xfrm>
          <a:prstGeom prst="rect">
            <a:avLst/>
          </a:prstGeom>
          <a:noFill/>
        </p:spPr>
        <p:txBody>
          <a:bodyPr wrap="square" lIns="0" rIns="0" tIns="0" bIns="0">
            <a:normAutofit/>
          </a:bodyPr>
          <a:lstStyle/>
          <a:p>
            <a:pPr algn="l">
              <a:lnSpc>
                <a:spcPct val="112500"/>
              </a:lnSpc>
            </a:pPr>
            <a:r>
              <a:rPr sz="1350">
                <a:solidFill>
                  <a:srgbClr val="323E47"/>
                </a:solidFill>
                <a:latin typeface="Quicksand"/>
              </a:rPr>
              <a:t>Gráficos y análisis estadístico para contar historias.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594a12ee-0490-450f-84ba-27514739bcaa.png"/>
          <p:cNvPicPr>
            <a:picLocks noChangeAspect="1"/>
          </p:cNvPicPr>
          <p:nvPr/>
        </p:nvPicPr>
        <p:blipFill>
          <a:blip r:embed="rId2"/>
          <a:stretch>
            <a:fillRect/>
          </a:stretch>
        </p:blipFill>
        <p:spPr>
          <a:xfrm>
            <a:off x="16754474" y="8858250"/>
            <a:ext cx="761999" cy="761999"/>
          </a:xfrm>
          <a:prstGeom prst="rect">
            <a:avLst/>
          </a:prstGeom>
        </p:spPr>
      </p:pic>
      <p:sp>
        <p:nvSpPr>
          <p:cNvPr id="3" name="TextBox 2"/>
          <p:cNvSpPr txBox="1"/>
          <p:nvPr/>
        </p:nvSpPr>
        <p:spPr>
          <a:xfrm>
            <a:off x="1276350" y="1695449"/>
            <a:ext cx="7429500" cy="670470"/>
          </a:xfrm>
          <a:prstGeom prst="rect">
            <a:avLst/>
          </a:prstGeom>
          <a:noFill/>
        </p:spPr>
        <p:txBody>
          <a:bodyPr wrap="square" lIns="0" rIns="0" tIns="0" bIns="0">
            <a:normAutofit/>
          </a:bodyPr>
          <a:lstStyle/>
          <a:p>
            <a:pPr algn="l">
              <a:lnSpc>
                <a:spcPct val="99000"/>
              </a:lnSpc>
            </a:pPr>
            <a:r>
              <a:rPr sz="4800" b="1">
                <a:solidFill>
                  <a:srgbClr val="0F151A"/>
                </a:solidFill>
                <a:latin typeface="Quicksand Bold"/>
              </a:rPr>
              <a:t>Análisis Exploratorio</a:t>
            </a:r>
          </a:p>
        </p:txBody>
      </p:sp>
      <p:sp>
        <p:nvSpPr>
          <p:cNvPr id="4" name="TextBox 3"/>
          <p:cNvSpPr txBox="1"/>
          <p:nvPr/>
        </p:nvSpPr>
        <p:spPr>
          <a:xfrm>
            <a:off x="9639300" y="1695449"/>
            <a:ext cx="7429500" cy="670470"/>
          </a:xfrm>
          <a:prstGeom prst="rect">
            <a:avLst/>
          </a:prstGeom>
          <a:noFill/>
        </p:spPr>
        <p:txBody>
          <a:bodyPr wrap="square" lIns="0" rIns="0" tIns="0" bIns="0">
            <a:normAutofit/>
          </a:bodyPr>
          <a:lstStyle/>
          <a:p>
            <a:pPr algn="l">
              <a:lnSpc>
                <a:spcPct val="99000"/>
              </a:lnSpc>
            </a:pPr>
            <a:r>
              <a:rPr sz="4800" b="1">
                <a:solidFill>
                  <a:srgbClr val="0F151A"/>
                </a:solidFill>
                <a:latin typeface="Quicksand Bold"/>
              </a:rPr>
              <a:t>Análisis Explicativo</a:t>
            </a:r>
          </a:p>
        </p:txBody>
      </p:sp>
      <p:sp>
        <p:nvSpPr>
          <p:cNvPr id="5" name="TextBox 4"/>
          <p:cNvSpPr txBox="1"/>
          <p:nvPr/>
        </p:nvSpPr>
        <p:spPr>
          <a:xfrm>
            <a:off x="1276350" y="2670720"/>
            <a:ext cx="7429500" cy="4052887"/>
          </a:xfrm>
          <a:prstGeom prst="rect">
            <a:avLst/>
          </a:prstGeom>
          <a:noFill/>
        </p:spPr>
        <p:txBody>
          <a:bodyPr wrap="square" lIns="0" rIns="0" tIns="0" bIns="0">
            <a:normAutofit/>
          </a:bodyPr>
          <a:lstStyle/>
          <a:p>
            <a:pPr algn="l">
              <a:lnSpc>
                <a:spcPct val="126000"/>
              </a:lnSpc>
            </a:pPr>
            <a:r>
              <a:rPr sz="2850">
                <a:solidFill>
                  <a:srgbClr val="323E47"/>
                </a:solidFill>
                <a:latin typeface="Quicksand"/>
              </a:rPr>
              <a:t>Esta fase se centra en la </a:t>
            </a:r>
            <a:r>
              <a:rPr sz="2850" b="1">
                <a:solidFill>
                  <a:srgbClr val="323E47"/>
                </a:solidFill>
                <a:latin typeface="Quicksand Bold"/>
              </a:rPr>
              <a:t>investigación</a:t>
            </a:r>
            <a:r>
              <a:rPr sz="2850">
                <a:solidFill>
                  <a:srgbClr val="323E47"/>
                </a:solidFill>
                <a:latin typeface="Quicksand"/>
              </a:rPr>
              <a:t> profunda de los datos para descubrir tendencias, anomalías y </a:t>
            </a:r>
            <a:r>
              <a:rPr sz="2850" i="1">
                <a:solidFill>
                  <a:srgbClr val="323E47"/>
                </a:solidFill>
                <a:latin typeface="Quicksand"/>
              </a:rPr>
              <a:t>perlas</a:t>
            </a:r>
            <a:r>
              <a:rPr sz="2850">
                <a:solidFill>
                  <a:srgbClr val="323E47"/>
                </a:solidFill>
                <a:latin typeface="Quicksand"/>
              </a:rPr>
              <a:t> de información. El objetivo es comprender exhaustivamente el conjunto de datos y determinar qué hallazgos merecen ser comunicados. Se prioriza la búsqueda de patrones sobre la presentación final.</a:t>
            </a:r>
          </a:p>
        </p:txBody>
      </p:sp>
      <p:sp>
        <p:nvSpPr>
          <p:cNvPr id="6" name="TextBox 5"/>
          <p:cNvSpPr txBox="1"/>
          <p:nvPr/>
        </p:nvSpPr>
        <p:spPr>
          <a:xfrm>
            <a:off x="9639300" y="2670720"/>
            <a:ext cx="7429500" cy="4559498"/>
          </a:xfrm>
          <a:prstGeom prst="rect">
            <a:avLst/>
          </a:prstGeom>
          <a:noFill/>
        </p:spPr>
        <p:txBody>
          <a:bodyPr wrap="square" lIns="0" rIns="0" tIns="0" bIns="0">
            <a:normAutofit/>
          </a:bodyPr>
          <a:lstStyle/>
          <a:p>
            <a:pPr algn="l">
              <a:lnSpc>
                <a:spcPct val="126000"/>
              </a:lnSpc>
            </a:pPr>
            <a:r>
              <a:rPr sz="2850">
                <a:solidFill>
                  <a:srgbClr val="323E47"/>
                </a:solidFill>
                <a:latin typeface="Quicksand"/>
              </a:rPr>
              <a:t>Esta fase se enfoca en la </a:t>
            </a:r>
            <a:r>
              <a:rPr sz="2850" b="1">
                <a:solidFill>
                  <a:srgbClr val="323E47"/>
                </a:solidFill>
                <a:latin typeface="Quicksand Bold"/>
              </a:rPr>
              <a:t>comunicación</a:t>
            </a:r>
            <a:r>
              <a:rPr sz="2850">
                <a:solidFill>
                  <a:srgbClr val="323E47"/>
                </a:solidFill>
                <a:latin typeface="Quicksand"/>
              </a:rPr>
              <a:t> efectiva de un mensaje específico a una audiencia. Una vez que se ha identificado una </a:t>
            </a:r>
            <a:r>
              <a:rPr sz="2850" i="1">
                <a:solidFill>
                  <a:srgbClr val="323E47"/>
                </a:solidFill>
                <a:latin typeface="Quicksand"/>
              </a:rPr>
              <a:t>perla</a:t>
            </a:r>
            <a:r>
              <a:rPr sz="2850">
                <a:solidFill>
                  <a:srgbClr val="323E47"/>
                </a:solidFill>
                <a:latin typeface="Quicksand"/>
              </a:rPr>
              <a:t>, el análisis explicativo se dedica a presentarla con claridad, persuasión y un llamado a la acción. Requiere edición rigurosa y un diseño centrado en el mensaje, evitando la sobrecarga de información.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0b0afd6e-5fc3-4b86-acf8-03061bfd74f0.png"/>
          <p:cNvPicPr>
            <a:picLocks noChangeAspect="1"/>
          </p:cNvPicPr>
          <p:nvPr/>
        </p:nvPicPr>
        <p:blipFill>
          <a:blip r:embed="rId2"/>
          <a:stretch>
            <a:fillRect/>
          </a:stretch>
        </p:blipFill>
        <p:spPr>
          <a:xfrm>
            <a:off x="11953875" y="2362199"/>
            <a:ext cx="5562600" cy="5562600"/>
          </a:xfrm>
          <a:prstGeom prst="rect">
            <a:avLst/>
          </a:prstGeom>
        </p:spPr>
      </p:pic>
      <p:pic>
        <p:nvPicPr>
          <p:cNvPr id="3" name="Picture 2" descr="594a12ee-0490-450f-84ba-27514739bcaa.png"/>
          <p:cNvPicPr>
            <a:picLocks noChangeAspect="1"/>
          </p:cNvPicPr>
          <p:nvPr/>
        </p:nvPicPr>
        <p:blipFill>
          <a:blip r:embed="rId3"/>
          <a:stretch>
            <a:fillRect/>
          </a:stretch>
        </p:blipFill>
        <p:spPr>
          <a:xfrm>
            <a:off x="16754474" y="8858250"/>
            <a:ext cx="761999" cy="761999"/>
          </a:xfrm>
          <a:prstGeom prst="rect">
            <a:avLst/>
          </a:prstGeom>
        </p:spPr>
      </p:pic>
      <p:sp>
        <p:nvSpPr>
          <p:cNvPr id="4" name="TextBox 3"/>
          <p:cNvSpPr txBox="1"/>
          <p:nvPr/>
        </p:nvSpPr>
        <p:spPr>
          <a:xfrm>
            <a:off x="1285875" y="1276350"/>
            <a:ext cx="10210800" cy="754260"/>
          </a:xfrm>
          <a:prstGeom prst="rect">
            <a:avLst/>
          </a:prstGeom>
          <a:noFill/>
        </p:spPr>
        <p:txBody>
          <a:bodyPr wrap="square" lIns="0" rIns="0" tIns="0" bIns="0">
            <a:normAutofit/>
          </a:bodyPr>
          <a:lstStyle/>
          <a:p>
            <a:pPr algn="l">
              <a:lnSpc>
                <a:spcPct val="99000"/>
              </a:lnSpc>
            </a:pPr>
            <a:r>
              <a:rPr sz="5400" b="1">
                <a:solidFill>
                  <a:srgbClr val="0F151A"/>
                </a:solidFill>
                <a:latin typeface="Quicksand Bold"/>
              </a:rPr>
              <a:t>Contexto: ¿A Quién Hablamos?</a:t>
            </a:r>
          </a:p>
        </p:txBody>
      </p:sp>
      <p:sp>
        <p:nvSpPr>
          <p:cNvPr id="5" name="TextBox 4"/>
          <p:cNvSpPr txBox="1"/>
          <p:nvPr/>
        </p:nvSpPr>
        <p:spPr>
          <a:xfrm>
            <a:off x="1285875" y="2335410"/>
            <a:ext cx="10210800" cy="411360"/>
          </a:xfrm>
          <a:prstGeom prst="rect">
            <a:avLst/>
          </a:prstGeom>
          <a:noFill/>
        </p:spPr>
        <p:txBody>
          <a:bodyPr wrap="square" lIns="0" rIns="0" tIns="0" bIns="0">
            <a:normAutofit/>
          </a:bodyPr>
          <a:lstStyle/>
          <a:p>
            <a:pPr algn="l">
              <a:lnSpc>
                <a:spcPct val="108000"/>
              </a:lnSpc>
            </a:pPr>
            <a:r>
              <a:rPr sz="2700" b="1">
                <a:solidFill>
                  <a:srgbClr val="0F151A"/>
                </a:solidFill>
                <a:latin typeface="Quicksand Bold"/>
              </a:rPr>
              <a:t>Conoce a la Audiencia</a:t>
            </a:r>
          </a:p>
        </p:txBody>
      </p:sp>
      <p:sp>
        <p:nvSpPr>
          <p:cNvPr id="6" name="TextBox 5"/>
          <p:cNvSpPr txBox="1"/>
          <p:nvPr/>
        </p:nvSpPr>
        <p:spPr>
          <a:xfrm>
            <a:off x="1285875" y="2861071"/>
            <a:ext cx="10210800" cy="1386482"/>
          </a:xfrm>
          <a:prstGeom prst="rect">
            <a:avLst/>
          </a:prstGeom>
          <a:noFill/>
        </p:spPr>
        <p:txBody>
          <a:bodyPr wrap="square" lIns="0" rIns="0" tIns="0" bIns="0">
            <a:normAutofit/>
          </a:bodyPr>
          <a:lstStyle/>
          <a:p>
            <a:pPr algn="l">
              <a:lnSpc>
                <a:spcPct val="126000"/>
              </a:lnSpc>
            </a:pPr>
            <a:r>
              <a:rPr sz="1950">
                <a:solidFill>
                  <a:srgbClr val="323E47"/>
                </a:solidFill>
                <a:latin typeface="Quicksand"/>
              </a:rPr>
              <a:t>Antes de cualquier visualización, identifica el nivel de </a:t>
            </a:r>
            <a:r>
              <a:rPr sz="1950" i="1">
                <a:solidFill>
                  <a:srgbClr val="323E47"/>
                </a:solidFill>
                <a:latin typeface="Quicksand"/>
              </a:rPr>
              <a:t>conocimiento técnico</a:t>
            </a:r>
            <a:r>
              <a:rPr sz="1950">
                <a:solidFill>
                  <a:srgbClr val="323E47"/>
                </a:solidFill>
                <a:latin typeface="Quicksand"/>
              </a:rPr>
              <a:t> de tu audiencia y la relación que tienes con ella. En Colombia, considera la </a:t>
            </a:r>
            <a:r>
              <a:rPr sz="1950" b="1">
                <a:solidFill>
                  <a:srgbClr val="323E47"/>
                </a:solidFill>
                <a:latin typeface="Quicksand Bold"/>
              </a:rPr>
              <a:t>jerarquía organizacional</a:t>
            </a:r>
            <a:r>
              <a:rPr sz="1950">
                <a:solidFill>
                  <a:srgbClr val="323E47"/>
                </a:solidFill>
                <a:latin typeface="Quicksand"/>
              </a:rPr>
              <a:t> y adapta el tono, formal o informal, para establecer la credibilidad necesaria y asegurar una recepción efectiva del mensaje.</a:t>
            </a:r>
          </a:p>
        </p:txBody>
      </p:sp>
      <p:sp>
        <p:nvSpPr>
          <p:cNvPr id="7" name="TextBox 6"/>
          <p:cNvSpPr txBox="1"/>
          <p:nvPr/>
        </p:nvSpPr>
        <p:spPr>
          <a:xfrm>
            <a:off x="1285875" y="4438054"/>
            <a:ext cx="10210800" cy="411360"/>
          </a:xfrm>
          <a:prstGeom prst="rect">
            <a:avLst/>
          </a:prstGeom>
          <a:noFill/>
        </p:spPr>
        <p:txBody>
          <a:bodyPr wrap="square" lIns="0" rIns="0" tIns="0" bIns="0">
            <a:normAutofit/>
          </a:bodyPr>
          <a:lstStyle/>
          <a:p>
            <a:pPr algn="l">
              <a:lnSpc>
                <a:spcPct val="108000"/>
              </a:lnSpc>
            </a:pPr>
            <a:r>
              <a:rPr sz="2700" b="1">
                <a:solidFill>
                  <a:srgbClr val="0F151A"/>
                </a:solidFill>
                <a:latin typeface="Quicksand Bold"/>
              </a:rPr>
              <a:t>Define la Acción Deseada</a:t>
            </a:r>
          </a:p>
        </p:txBody>
      </p:sp>
      <p:sp>
        <p:nvSpPr>
          <p:cNvPr id="8" name="TextBox 7"/>
          <p:cNvSpPr txBox="1"/>
          <p:nvPr/>
        </p:nvSpPr>
        <p:spPr>
          <a:xfrm>
            <a:off x="1285875" y="4963715"/>
            <a:ext cx="10210800" cy="1386482"/>
          </a:xfrm>
          <a:prstGeom prst="rect">
            <a:avLst/>
          </a:prstGeom>
          <a:noFill/>
        </p:spPr>
        <p:txBody>
          <a:bodyPr wrap="square" lIns="0" rIns="0" tIns="0" bIns="0">
            <a:normAutofit/>
          </a:bodyPr>
          <a:lstStyle/>
          <a:p>
            <a:pPr algn="l">
              <a:lnSpc>
                <a:spcPct val="126000"/>
              </a:lnSpc>
            </a:pPr>
            <a:r>
              <a:rPr sz="1950">
                <a:solidFill>
                  <a:srgbClr val="323E47"/>
                </a:solidFill>
                <a:latin typeface="Quicksand"/>
              </a:rPr>
              <a:t>Tu objetivo no es solo presentar datos; es inspirar una </a:t>
            </a:r>
            <a:r>
              <a:rPr sz="1950" b="1">
                <a:solidFill>
                  <a:srgbClr val="323E47"/>
                </a:solidFill>
                <a:latin typeface="Quicksand Bold"/>
              </a:rPr>
              <a:t>acción clara</a:t>
            </a:r>
            <a:r>
              <a:rPr sz="1950">
                <a:solidFill>
                  <a:srgbClr val="323E47"/>
                </a:solidFill>
                <a:latin typeface="Quicksand"/>
              </a:rPr>
              <a:t>. Por ejemplo, en lugar de 'aquí están las ventas', el mensaje debe ser 'necesitamos aprobar este presupuesto porque las ventas en Antioquia están cayendo', enfocando la narrativa en la toma de decisiones.</a:t>
            </a:r>
          </a:p>
        </p:txBody>
      </p:sp>
      <p:sp>
        <p:nvSpPr>
          <p:cNvPr id="9" name="TextBox 8"/>
          <p:cNvSpPr txBox="1"/>
          <p:nvPr/>
        </p:nvSpPr>
        <p:spPr>
          <a:xfrm>
            <a:off x="1285875" y="6540698"/>
            <a:ext cx="10210800" cy="411360"/>
          </a:xfrm>
          <a:prstGeom prst="rect">
            <a:avLst/>
          </a:prstGeom>
          <a:noFill/>
        </p:spPr>
        <p:txBody>
          <a:bodyPr wrap="square" lIns="0" rIns="0" tIns="0" bIns="0">
            <a:normAutofit/>
          </a:bodyPr>
          <a:lstStyle/>
          <a:p>
            <a:pPr algn="l">
              <a:lnSpc>
                <a:spcPct val="108000"/>
              </a:lnSpc>
            </a:pPr>
            <a:r>
              <a:rPr sz="2700" b="1">
                <a:solidFill>
                  <a:srgbClr val="0F151A"/>
                </a:solidFill>
                <a:latin typeface="Quicksand Bold"/>
              </a:rPr>
              <a:t>Selecciona el Medio</a:t>
            </a:r>
          </a:p>
        </p:txBody>
      </p:sp>
      <p:sp>
        <p:nvSpPr>
          <p:cNvPr id="10" name="TextBox 9"/>
          <p:cNvSpPr txBox="1"/>
          <p:nvPr/>
        </p:nvSpPr>
        <p:spPr>
          <a:xfrm>
            <a:off x="1285875" y="7066359"/>
            <a:ext cx="10210800" cy="1386482"/>
          </a:xfrm>
          <a:prstGeom prst="rect">
            <a:avLst/>
          </a:prstGeom>
          <a:noFill/>
        </p:spPr>
        <p:txBody>
          <a:bodyPr wrap="square" lIns="0" rIns="0" tIns="0" bIns="0">
            <a:normAutofit/>
          </a:bodyPr>
          <a:lstStyle/>
          <a:p>
            <a:pPr algn="l">
              <a:lnSpc>
                <a:spcPct val="126000"/>
              </a:lnSpc>
            </a:pPr>
            <a:r>
              <a:rPr sz="1950">
                <a:solidFill>
                  <a:srgbClr val="323E47"/>
                </a:solidFill>
                <a:latin typeface="Quicksand"/>
              </a:rPr>
              <a:t>La forma en que comunicas es crucial. Determina si será una </a:t>
            </a:r>
            <a:r>
              <a:rPr sz="1950" b="1">
                <a:solidFill>
                  <a:srgbClr val="323E47"/>
                </a:solidFill>
                <a:latin typeface="Quicksand Bold"/>
              </a:rPr>
              <a:t>presentación en vivo</a:t>
            </a:r>
            <a:r>
              <a:rPr sz="1950">
                <a:solidFill>
                  <a:srgbClr val="323E47"/>
                </a:solidFill>
                <a:latin typeface="Quicksand"/>
              </a:rPr>
              <a:t>, donde tú guías la narrativa, o un </a:t>
            </a:r>
            <a:r>
              <a:rPr sz="1950" i="1">
                <a:solidFill>
                  <a:srgbClr val="323E47"/>
                </a:solidFill>
                <a:latin typeface="Quicksand"/>
              </a:rPr>
              <a:t>reporte enviado por correo</a:t>
            </a:r>
            <a:r>
              <a:rPr sz="1950">
                <a:solidFill>
                  <a:srgbClr val="323E47"/>
                </a:solidFill>
                <a:latin typeface="Quicksand"/>
              </a:rPr>
              <a:t> que debe ser completamente autoexplicativo. Cada medio requiere un enfoque distinto en la estructura y el detalle de la explicación.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594a12ee-0490-450f-84ba-27514739bcaa.png"/>
          <p:cNvPicPr>
            <a:picLocks noChangeAspect="1"/>
          </p:cNvPicPr>
          <p:nvPr/>
        </p:nvPicPr>
        <p:blipFill>
          <a:blip r:embed="rId2"/>
          <a:stretch>
            <a:fillRect/>
          </a:stretch>
        </p:blipFill>
        <p:spPr>
          <a:xfrm>
            <a:off x="16754474" y="8858250"/>
            <a:ext cx="761999" cy="761999"/>
          </a:xfrm>
          <a:prstGeom prst="rect">
            <a:avLst/>
          </a:prstGeom>
        </p:spPr>
      </p:pic>
      <p:graphicFrame>
        <p:nvGraphicFramePr>
          <p:cNvPr id="3" name="Table 2"/>
          <p:cNvGraphicFramePr>
            <a:graphicFrameLocks noGrp="1"/>
          </p:cNvGraphicFramePr>
          <p:nvPr/>
        </p:nvGraphicFramePr>
        <p:xfrm>
          <a:off x="1371600" y="3996630"/>
          <a:ext cx="15544797" cy="3394704"/>
        </p:xfrm>
        <a:graphic>
          <a:graphicData uri="http://schemas.openxmlformats.org/drawingml/2006/table">
            <a:tbl>
              <a:tblPr firstRow="1" bandRow="1">
                <a:tableStyleId>{5C22544A-7EE6-4342-B048-85BDC9FD1C3A}</a:tableStyleId>
              </a:tblPr>
              <a:tblGrid>
                <a:gridCol w="5181599"/>
                <a:gridCol w="5181599"/>
                <a:gridCol w="5181599"/>
              </a:tblGrid>
              <a:tr h="565784">
                <a:tc>
                  <a:txBody>
                    <a:bodyPr wrap="square"/>
                    <a:lstStyle/>
                    <a:p>
                      <a:pPr algn="ctr"/>
                      <a:r>
                        <a:rPr sz="2700" b="1">
                          <a:solidFill>
                            <a:srgbClr val="8D6E0D"/>
                          </a:solidFill>
                          <a:latin typeface="Quicksand Bold"/>
                        </a:rPr>
                        <a:t>Tipo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wrap="square"/>
                    <a:lstStyle/>
                    <a:p>
                      <a:pPr algn="ctr"/>
                      <a:r>
                        <a:rPr sz="2700" b="1">
                          <a:solidFill>
                            <a:srgbClr val="8D6E0D"/>
                          </a:solidFill>
                          <a:latin typeface="Quicksand Bold"/>
                        </a:rPr>
                        <a:t>Propósito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wrap="square"/>
                    <a:lstStyle/>
                    <a:p>
                      <a:pPr algn="ctr"/>
                      <a:r>
                        <a:rPr sz="2700" b="1">
                          <a:solidFill>
                            <a:srgbClr val="8D6E0D"/>
                          </a:solidFill>
                          <a:latin typeface="Quicksand Bold"/>
                        </a:rPr>
                        <a:t>Ejemplo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r>
              <a:tr h="565784">
                <a:tc>
                  <a:txBody>
                    <a:bodyPr wrap="square"/>
                    <a:lstStyle/>
                    <a:p>
                      <a:pPr algn="l"/>
                      <a:r>
                        <a:rPr sz="2250">
                          <a:solidFill>
                            <a:srgbClr val="0F151A"/>
                          </a:solidFill>
                          <a:latin typeface="Quicksand"/>
                        </a:rPr>
                        <a:t>Texto Simple</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Resaltar dato único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Aumento del 25% en el ROI</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r>
              <a:tr h="565784">
                <a:tc>
                  <a:txBody>
                    <a:bodyPr wrap="square"/>
                    <a:lstStyle/>
                    <a:p>
                      <a:pPr algn="l"/>
                      <a:r>
                        <a:rPr sz="2250">
                          <a:solidFill>
                            <a:srgbClr val="0F151A"/>
                          </a:solidFill>
                          <a:latin typeface="Quicksand"/>
                        </a:rPr>
                        <a:t>Gráfico de Barras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Comparar categorías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Ventas por departamento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r>
              <a:tr h="565784">
                <a:tc>
                  <a:txBody>
                    <a:bodyPr wrap="square"/>
                    <a:lstStyle/>
                    <a:p>
                      <a:pPr algn="l"/>
                      <a:r>
                        <a:rPr sz="2250">
                          <a:solidFill>
                            <a:srgbClr val="0F151A"/>
                          </a:solidFill>
                          <a:latin typeface="Quicksand"/>
                        </a:rPr>
                        <a:t>Gráfico de Líneas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Mostrar tendencias temporales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Evolución de tasa de cambio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r>
              <a:tr h="565784">
                <a:tc>
                  <a:txBody>
                    <a:bodyPr wrap="square"/>
                    <a:lstStyle/>
                    <a:p>
                      <a:pPr algn="l"/>
                      <a:r>
                        <a:rPr sz="2250">
                          <a:solidFill>
                            <a:srgbClr val="0F151A"/>
                          </a:solidFill>
                          <a:latin typeface="Quicksand"/>
                        </a:rPr>
                        <a:t>Scatterplot</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Mostrar correlación</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Gasto en publicidad vs. clics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r>
              <a:tr h="565784">
                <a:tc>
                  <a:txBody>
                    <a:bodyPr wrap="square"/>
                    <a:lstStyle/>
                    <a:p>
                      <a:pPr algn="l"/>
                      <a:r>
                        <a:rPr sz="2250">
                          <a:solidFill>
                            <a:srgbClr val="0F151A"/>
                          </a:solidFill>
                          <a:latin typeface="Quicksand"/>
                        </a:rPr>
                        <a:t>Heatmap</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Visualizar magnitudes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wrap="square"/>
                    <a:lstStyle/>
                    <a:p>
                      <a:pPr algn="l"/>
                      <a:r>
                        <a:rPr sz="2250">
                          <a:solidFill>
                            <a:srgbClr val="0F151A"/>
                          </a:solidFill>
                          <a:latin typeface="Quicksand"/>
                        </a:rPr>
                        <a:t>Frecuencia de transacciones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r>
            </a:tbl>
          </a:graphicData>
        </a:graphic>
      </p:graphicFrame>
      <p:sp>
        <p:nvSpPr>
          <p:cNvPr id="4" name="TextBox 3"/>
          <p:cNvSpPr txBox="1"/>
          <p:nvPr/>
        </p:nvSpPr>
        <p:spPr>
          <a:xfrm>
            <a:off x="1371600" y="1695449"/>
            <a:ext cx="15544800" cy="838200"/>
          </a:xfrm>
          <a:prstGeom prst="rect">
            <a:avLst/>
          </a:prstGeom>
          <a:noFill/>
        </p:spPr>
        <p:txBody>
          <a:bodyPr wrap="square" lIns="0" rIns="0" tIns="0" bIns="0">
            <a:normAutofit/>
          </a:bodyPr>
          <a:lstStyle/>
          <a:p>
            <a:pPr algn="l">
              <a:lnSpc>
                <a:spcPct val="99000"/>
              </a:lnSpc>
            </a:pPr>
            <a:r>
              <a:rPr sz="6000" b="1">
                <a:solidFill>
                  <a:srgbClr val="0F151A"/>
                </a:solidFill>
                <a:latin typeface="Quicksand Bold"/>
              </a:rPr>
              <a:t>Visualizaciones Efectivas</a:t>
            </a:r>
          </a:p>
        </p:txBody>
      </p:sp>
      <p:sp>
        <p:nvSpPr>
          <p:cNvPr id="5" name="TextBox 4"/>
          <p:cNvSpPr txBox="1"/>
          <p:nvPr/>
        </p:nvSpPr>
        <p:spPr>
          <a:xfrm>
            <a:off x="1371600" y="2838450"/>
            <a:ext cx="15544800" cy="853380"/>
          </a:xfrm>
          <a:prstGeom prst="rect">
            <a:avLst/>
          </a:prstGeom>
          <a:noFill/>
        </p:spPr>
        <p:txBody>
          <a:bodyPr wrap="square" lIns="0" rIns="0" tIns="0" bIns="0">
            <a:normAutofit/>
          </a:bodyPr>
          <a:lstStyle/>
          <a:p>
            <a:pPr algn="l">
              <a:lnSpc>
                <a:spcPct val="126000"/>
              </a:lnSpc>
            </a:pPr>
            <a:r>
              <a:rPr sz="2400">
                <a:solidFill>
                  <a:srgbClr val="323E47"/>
                </a:solidFill>
                <a:latin typeface="Quicksand"/>
              </a:rPr>
              <a:t>La forma del gráfico debe seguir la función del mensaje, y esta tabla presenta una guía técnica para seleccionar la visualización adecuada.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8c660e92-6d5b-444e-bf28-c2946e2da9e7.png"/>
          <p:cNvPicPr>
            <a:picLocks noChangeAspect="1"/>
          </p:cNvPicPr>
          <p:nvPr/>
        </p:nvPicPr>
        <p:blipFill>
          <a:blip r:embed="rId2"/>
          <a:stretch>
            <a:fillRect/>
          </a:stretch>
        </p:blipFill>
        <p:spPr>
          <a:xfrm>
            <a:off x="9782175" y="1276350"/>
            <a:ext cx="7734299" cy="7734299"/>
          </a:xfrm>
          <a:prstGeom prst="rect">
            <a:avLst/>
          </a:prstGeom>
        </p:spPr>
      </p:pic>
      <p:pic>
        <p:nvPicPr>
          <p:cNvPr id="3" name="Picture 2" descr="594a12ee-0490-450f-84ba-27514739bcaa.png"/>
          <p:cNvPicPr>
            <a:picLocks noChangeAspect="1"/>
          </p:cNvPicPr>
          <p:nvPr/>
        </p:nvPicPr>
        <p:blipFill>
          <a:blip r:embed="rId3"/>
          <a:stretch>
            <a:fillRect/>
          </a:stretch>
        </p:blipFill>
        <p:spPr>
          <a:xfrm>
            <a:off x="16754474" y="8858250"/>
            <a:ext cx="761999" cy="761999"/>
          </a:xfrm>
          <a:prstGeom prst="rect">
            <a:avLst/>
          </a:prstGeom>
        </p:spPr>
      </p:pic>
      <p:sp>
        <p:nvSpPr>
          <p:cNvPr id="4" name="TextBox 3"/>
          <p:cNvSpPr txBox="1"/>
          <p:nvPr/>
        </p:nvSpPr>
        <p:spPr>
          <a:xfrm>
            <a:off x="1285875" y="1276350"/>
            <a:ext cx="8039099" cy="1508521"/>
          </a:xfrm>
          <a:prstGeom prst="rect">
            <a:avLst/>
          </a:prstGeom>
          <a:noFill/>
        </p:spPr>
        <p:txBody>
          <a:bodyPr wrap="square" lIns="0" rIns="0" tIns="0" bIns="0">
            <a:normAutofit/>
          </a:bodyPr>
          <a:lstStyle/>
          <a:p>
            <a:pPr algn="l">
              <a:lnSpc>
                <a:spcPct val="99000"/>
              </a:lnSpc>
            </a:pPr>
            <a:r>
              <a:rPr sz="5400" b="1">
                <a:solidFill>
                  <a:srgbClr val="0F151A"/>
                </a:solidFill>
                <a:latin typeface="Quicksand Bold"/>
              </a:rPr>
              <a:t>Reducir la Carga Cognitiva</a:t>
            </a:r>
          </a:p>
        </p:txBody>
      </p:sp>
      <p:sp>
        <p:nvSpPr>
          <p:cNvPr id="5" name="TextBox 4"/>
          <p:cNvSpPr txBox="1"/>
          <p:nvPr/>
        </p:nvSpPr>
        <p:spPr>
          <a:xfrm>
            <a:off x="1285875" y="3089671"/>
            <a:ext cx="8039099" cy="5413176"/>
          </a:xfrm>
          <a:prstGeom prst="rect">
            <a:avLst/>
          </a:prstGeom>
          <a:noFill/>
        </p:spPr>
        <p:txBody>
          <a:bodyPr wrap="square" lIns="0" rIns="0" tIns="0" bIns="0">
            <a:normAutofit/>
          </a:bodyPr>
          <a:lstStyle/>
          <a:p>
            <a:pPr algn="l">
              <a:lnSpc>
                <a:spcPct val="126000"/>
              </a:lnSpc>
            </a:pPr>
            <a:r>
              <a:rPr sz="2175">
                <a:solidFill>
                  <a:srgbClr val="323E47"/>
                </a:solidFill>
                <a:latin typeface="Quicksand"/>
              </a:rPr>
              <a:t>La carga cognitiva es el esfuerzo mental necesario para procesar información. El 'desorden' (clutter) consume esta carga sin aportar valor, desviando la atención del mensaje principal. Al limpiar nuestros gráficos, nos aseguramos de que el público se centre en lo importante. Para esto, aplicamos el </a:t>
            </a:r>
            <a:r>
              <a:rPr sz="2175" b="1">
                <a:solidFill>
                  <a:srgbClr val="323E47"/>
                </a:solidFill>
                <a:latin typeface="Quicksand Bold"/>
              </a:rPr>
              <a:t>Principio de simplicidad</a:t>
            </a:r>
            <a:r>
              <a:rPr sz="2175">
                <a:solidFill>
                  <a:srgbClr val="323E47"/>
                </a:solidFill>
                <a:latin typeface="Quicksand"/>
              </a:rPr>
              <a:t>: eliminar todo elemento que no aporte información.</a:t>
            </a:r>
          </a:p>
          <a:p>
            <a:pPr algn="l">
              <a:lnSpc>
                <a:spcPct val="126000"/>
              </a:lnSpc>
            </a:pPr>
          </a:p>
          <a:p>
            <a:pPr algn="l">
              <a:lnSpc>
                <a:spcPct val="126000"/>
              </a:lnSpc>
            </a:pPr>
          </a:p>
          <a:p>
            <a:pPr algn="l">
              <a:lnSpc>
                <a:spcPct val="126000"/>
              </a:lnSpc>
            </a:pPr>
          </a:p>
          <a:p>
            <a:pPr algn="l">
              <a:lnSpc>
                <a:spcPct val="126000"/>
              </a:lnSpc>
            </a:pPr>
            <a:r>
              <a:rPr sz="2175">
                <a:solidFill>
                  <a:srgbClr val="323E47"/>
                </a:solidFill>
                <a:latin typeface="Quicksand"/>
              </a:rPr>
              <a:t>Algunos </a:t>
            </a:r>
            <a:r>
              <a:rPr sz="2175" i="1">
                <a:solidFill>
                  <a:srgbClr val="323E47"/>
                </a:solidFill>
                <a:latin typeface="Quicksand"/>
              </a:rPr>
              <a:t>elementos a remover</a:t>
            </a:r>
            <a:r>
              <a:rPr sz="2175">
                <a:solidFill>
                  <a:srgbClr val="323E47"/>
                </a:solidFill>
                <a:latin typeface="Quicksand"/>
              </a:rPr>
              <a:t> incluyen bordes de gráficos innecesarios, líneas de cuadrícula prominentes y leyendas redundantes. El </a:t>
            </a:r>
            <a:r>
              <a:rPr sz="2175" b="1">
                <a:solidFill>
                  <a:srgbClr val="323E47"/>
                </a:solidFill>
                <a:latin typeface="Quicksand Bold"/>
              </a:rPr>
              <a:t>contraste</a:t>
            </a:r>
            <a:r>
              <a:rPr sz="2175">
                <a:solidFill>
                  <a:srgbClr val="323E47"/>
                </a:solidFill>
                <a:latin typeface="Quicksand"/>
              </a:rPr>
              <a:t> se utiliza para dirigir la atención y la </a:t>
            </a:r>
            <a:r>
              <a:rPr sz="2175" b="1">
                <a:solidFill>
                  <a:srgbClr val="323E47"/>
                </a:solidFill>
                <a:latin typeface="Quicksand Bold"/>
              </a:rPr>
              <a:t>alineación</a:t>
            </a:r>
            <a:r>
              <a:rPr sz="2175">
                <a:solidFill>
                  <a:srgbClr val="323E47"/>
                </a:solidFill>
                <a:latin typeface="Quicksand"/>
              </a:rPr>
              <a:t> crea una estructura invisible que facilita la lectura.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657350" y="2419349"/>
            <a:ext cx="4737100" cy="6591300"/>
          </a:xfrm>
          <a:prstGeom prst="roundRect">
            <a:avLst>
              <a:gd name="adj" fmla="val 6434"/>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775449" y="2419349"/>
            <a:ext cx="4737100" cy="6591300"/>
          </a:xfrm>
          <a:prstGeom prst="roundRect">
            <a:avLst>
              <a:gd name="adj" fmla="val 6434"/>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93549" y="2419349"/>
            <a:ext cx="4737100" cy="6591300"/>
          </a:xfrm>
          <a:prstGeom prst="roundRect">
            <a:avLst>
              <a:gd name="adj" fmla="val 6434"/>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22124de0-f0ae-4912-8a5a-e7d8c6d5ead7.png"/>
          <p:cNvPicPr>
            <a:picLocks noChangeAspect="1"/>
          </p:cNvPicPr>
          <p:nvPr/>
        </p:nvPicPr>
        <p:blipFill>
          <a:blip r:embed="rId2"/>
          <a:stretch>
            <a:fillRect/>
          </a:stretch>
        </p:blipFill>
        <p:spPr>
          <a:xfrm>
            <a:off x="2038349" y="2800350"/>
            <a:ext cx="609600" cy="609600"/>
          </a:xfrm>
          <a:prstGeom prst="rect">
            <a:avLst/>
          </a:prstGeom>
        </p:spPr>
      </p:pic>
      <p:pic>
        <p:nvPicPr>
          <p:cNvPr id="6" name="Picture 5" descr="386c7601-87a0-4eb6-b88d-86f4ddb25b29.png"/>
          <p:cNvPicPr>
            <a:picLocks noChangeAspect="1"/>
          </p:cNvPicPr>
          <p:nvPr/>
        </p:nvPicPr>
        <p:blipFill>
          <a:blip r:embed="rId3"/>
          <a:stretch>
            <a:fillRect/>
          </a:stretch>
        </p:blipFill>
        <p:spPr>
          <a:xfrm>
            <a:off x="7156449" y="2800350"/>
            <a:ext cx="609600" cy="609600"/>
          </a:xfrm>
          <a:prstGeom prst="rect">
            <a:avLst/>
          </a:prstGeom>
        </p:spPr>
      </p:pic>
      <p:pic>
        <p:nvPicPr>
          <p:cNvPr id="7" name="Picture 6" descr="51307b08-47b8-4e2e-8396-1e8d1e814137.png"/>
          <p:cNvPicPr>
            <a:picLocks noChangeAspect="1"/>
          </p:cNvPicPr>
          <p:nvPr/>
        </p:nvPicPr>
        <p:blipFill>
          <a:blip r:embed="rId4"/>
          <a:stretch>
            <a:fillRect/>
          </a:stretch>
        </p:blipFill>
        <p:spPr>
          <a:xfrm>
            <a:off x="12274549" y="2800350"/>
            <a:ext cx="609600" cy="609600"/>
          </a:xfrm>
          <a:prstGeom prst="rect">
            <a:avLst/>
          </a:prstGeom>
        </p:spPr>
      </p:pic>
      <p:pic>
        <p:nvPicPr>
          <p:cNvPr id="8" name="Picture 7" descr="594a12ee-0490-450f-84ba-27514739bcaa.png"/>
          <p:cNvPicPr>
            <a:picLocks noChangeAspect="1"/>
          </p:cNvPicPr>
          <p:nvPr/>
        </p:nvPicPr>
        <p:blipFill>
          <a:blip r:embed="rId5"/>
          <a:stretch>
            <a:fillRect/>
          </a:stretch>
        </p:blipFill>
        <p:spPr>
          <a:xfrm>
            <a:off x="16754474" y="8858250"/>
            <a:ext cx="761999" cy="761999"/>
          </a:xfrm>
          <a:prstGeom prst="rect">
            <a:avLst/>
          </a:prstGeom>
        </p:spPr>
      </p:pic>
      <p:sp>
        <p:nvSpPr>
          <p:cNvPr id="9" name="TextBox 8"/>
          <p:cNvSpPr txBox="1"/>
          <p:nvPr/>
        </p:nvSpPr>
        <p:spPr>
          <a:xfrm>
            <a:off x="1276350" y="1276350"/>
            <a:ext cx="15716250" cy="838200"/>
          </a:xfrm>
          <a:prstGeom prst="rect">
            <a:avLst/>
          </a:prstGeom>
          <a:noFill/>
        </p:spPr>
        <p:txBody>
          <a:bodyPr wrap="square" lIns="0" rIns="0" tIns="0" bIns="0">
            <a:normAutofit/>
          </a:bodyPr>
          <a:lstStyle/>
          <a:p>
            <a:pPr algn="ctr">
              <a:lnSpc>
                <a:spcPct val="99000"/>
              </a:lnSpc>
            </a:pPr>
            <a:r>
              <a:rPr sz="6000" b="1">
                <a:solidFill>
                  <a:srgbClr val="0F151A"/>
                </a:solidFill>
                <a:latin typeface="Quicksand Bold"/>
              </a:rPr>
              <a:t>Principios Gestalt de Percepción</a:t>
            </a:r>
          </a:p>
        </p:txBody>
      </p:sp>
      <p:sp>
        <p:nvSpPr>
          <p:cNvPr id="10" name="TextBox 9"/>
          <p:cNvSpPr txBox="1"/>
          <p:nvPr/>
        </p:nvSpPr>
        <p:spPr>
          <a:xfrm>
            <a:off x="2038349" y="3600450"/>
            <a:ext cx="3975099" cy="388590"/>
          </a:xfrm>
          <a:prstGeom prst="rect">
            <a:avLst/>
          </a:prstGeom>
          <a:noFill/>
        </p:spPr>
        <p:txBody>
          <a:bodyPr wrap="square" lIns="0" rIns="0" tIns="0" bIns="0">
            <a:normAutofit/>
          </a:bodyPr>
          <a:lstStyle/>
          <a:p>
            <a:pPr algn="l">
              <a:lnSpc>
                <a:spcPct val="108000"/>
              </a:lnSpc>
            </a:pPr>
            <a:r>
              <a:rPr sz="2550" b="1">
                <a:solidFill>
                  <a:srgbClr val="0F151A"/>
                </a:solidFill>
                <a:latin typeface="Quicksand Bold"/>
              </a:rPr>
              <a:t>Proximidad</a:t>
            </a:r>
          </a:p>
        </p:txBody>
      </p:sp>
      <p:sp>
        <p:nvSpPr>
          <p:cNvPr id="11" name="TextBox 10"/>
          <p:cNvSpPr txBox="1"/>
          <p:nvPr/>
        </p:nvSpPr>
        <p:spPr>
          <a:xfrm>
            <a:off x="2038349" y="4131915"/>
            <a:ext cx="3975099" cy="2986831"/>
          </a:xfrm>
          <a:prstGeom prst="rect">
            <a:avLst/>
          </a:prstGeom>
          <a:noFill/>
        </p:spPr>
        <p:txBody>
          <a:bodyPr wrap="square" lIns="0" rIns="0" tIns="0" bIns="0">
            <a:normAutofit/>
          </a:bodyPr>
          <a:lstStyle/>
          <a:p>
            <a:pPr algn="l">
              <a:lnSpc>
                <a:spcPct val="126000"/>
              </a:lnSpc>
            </a:pPr>
            <a:r>
              <a:rPr sz="2400">
                <a:solidFill>
                  <a:srgbClr val="323E47"/>
                </a:solidFill>
                <a:latin typeface="Quicksand"/>
              </a:rPr>
              <a:t>Tendemos a ver objetos cercanos entre sí como parte de un grupo, aprovechando la cercanía espacial para establecer relaciones visuales y conceptuales.</a:t>
            </a:r>
          </a:p>
        </p:txBody>
      </p:sp>
      <p:sp>
        <p:nvSpPr>
          <p:cNvPr id="12" name="TextBox 11"/>
          <p:cNvSpPr txBox="1"/>
          <p:nvPr/>
        </p:nvSpPr>
        <p:spPr>
          <a:xfrm>
            <a:off x="7156449" y="3600450"/>
            <a:ext cx="3975099" cy="388590"/>
          </a:xfrm>
          <a:prstGeom prst="rect">
            <a:avLst/>
          </a:prstGeom>
          <a:noFill/>
        </p:spPr>
        <p:txBody>
          <a:bodyPr wrap="square" lIns="0" rIns="0" tIns="0" bIns="0">
            <a:normAutofit/>
          </a:bodyPr>
          <a:lstStyle/>
          <a:p>
            <a:pPr algn="l">
              <a:lnSpc>
                <a:spcPct val="108000"/>
              </a:lnSpc>
            </a:pPr>
            <a:r>
              <a:rPr sz="2550" b="1">
                <a:solidFill>
                  <a:srgbClr val="0F151A"/>
                </a:solidFill>
                <a:latin typeface="Quicksand Bold"/>
              </a:rPr>
              <a:t>Similitud</a:t>
            </a:r>
          </a:p>
        </p:txBody>
      </p:sp>
      <p:sp>
        <p:nvSpPr>
          <p:cNvPr id="13" name="TextBox 12"/>
          <p:cNvSpPr txBox="1"/>
          <p:nvPr/>
        </p:nvSpPr>
        <p:spPr>
          <a:xfrm>
            <a:off x="7156449" y="4131915"/>
            <a:ext cx="3975099" cy="3413521"/>
          </a:xfrm>
          <a:prstGeom prst="rect">
            <a:avLst/>
          </a:prstGeom>
          <a:noFill/>
        </p:spPr>
        <p:txBody>
          <a:bodyPr wrap="square" lIns="0" rIns="0" tIns="0" bIns="0">
            <a:normAutofit/>
          </a:bodyPr>
          <a:lstStyle/>
          <a:p>
            <a:pPr algn="l">
              <a:lnSpc>
                <a:spcPct val="126000"/>
              </a:lnSpc>
            </a:pPr>
            <a:r>
              <a:rPr sz="2400">
                <a:solidFill>
                  <a:srgbClr val="323E47"/>
                </a:solidFill>
                <a:latin typeface="Quicksand"/>
              </a:rPr>
              <a:t>Objetos que comparten características visuales como color, forma o tamaño se perciben como relacionados, facilitando la categorización y el reconocimiento de patrones.</a:t>
            </a:r>
          </a:p>
        </p:txBody>
      </p:sp>
      <p:sp>
        <p:nvSpPr>
          <p:cNvPr id="14" name="TextBox 13"/>
          <p:cNvSpPr txBox="1"/>
          <p:nvPr/>
        </p:nvSpPr>
        <p:spPr>
          <a:xfrm>
            <a:off x="12274549" y="3600450"/>
            <a:ext cx="3975099" cy="388590"/>
          </a:xfrm>
          <a:prstGeom prst="rect">
            <a:avLst/>
          </a:prstGeom>
          <a:noFill/>
        </p:spPr>
        <p:txBody>
          <a:bodyPr wrap="square" lIns="0" rIns="0" tIns="0" bIns="0">
            <a:normAutofit/>
          </a:bodyPr>
          <a:lstStyle/>
          <a:p>
            <a:pPr algn="l">
              <a:lnSpc>
                <a:spcPct val="108000"/>
              </a:lnSpc>
            </a:pPr>
            <a:r>
              <a:rPr sz="2550" b="1">
                <a:solidFill>
                  <a:srgbClr val="0F151A"/>
                </a:solidFill>
                <a:latin typeface="Quicksand Bold"/>
              </a:rPr>
              <a:t>Encuadre</a:t>
            </a:r>
          </a:p>
        </p:txBody>
      </p:sp>
      <p:sp>
        <p:nvSpPr>
          <p:cNvPr id="15" name="TextBox 14"/>
          <p:cNvSpPr txBox="1"/>
          <p:nvPr/>
        </p:nvSpPr>
        <p:spPr>
          <a:xfrm>
            <a:off x="12274549" y="4131915"/>
            <a:ext cx="3975099" cy="2986831"/>
          </a:xfrm>
          <a:prstGeom prst="rect">
            <a:avLst/>
          </a:prstGeom>
          <a:noFill/>
        </p:spPr>
        <p:txBody>
          <a:bodyPr wrap="square" lIns="0" rIns="0" tIns="0" bIns="0">
            <a:normAutofit/>
          </a:bodyPr>
          <a:lstStyle/>
          <a:p>
            <a:pPr algn="l">
              <a:lnSpc>
                <a:spcPct val="126000"/>
              </a:lnSpc>
            </a:pPr>
            <a:r>
              <a:rPr sz="2400">
                <a:solidFill>
                  <a:srgbClr val="323E47"/>
                </a:solidFill>
                <a:latin typeface="Quicksand"/>
              </a:rPr>
              <a:t>La inclusión de elementos dentro de un borde o la aplicación de una sombra circundante agrupa visualmente dichos elementos, estableciendo una unidad perceptual.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3886580" y="2419349"/>
            <a:ext cx="5066919" cy="6591300"/>
          </a:xfrm>
          <a:prstGeom prst="roundRect">
            <a:avLst>
              <a:gd name="adj" fmla="val 601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334499" y="2419349"/>
            <a:ext cx="5066919" cy="6591300"/>
          </a:xfrm>
          <a:prstGeom prst="roundRect">
            <a:avLst>
              <a:gd name="adj" fmla="val 601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24e191a8-840e-48a2-89b3-f73336879d59.png"/>
          <p:cNvPicPr>
            <a:picLocks noChangeAspect="1"/>
          </p:cNvPicPr>
          <p:nvPr/>
        </p:nvPicPr>
        <p:blipFill>
          <a:blip r:embed="rId2"/>
          <a:stretch>
            <a:fillRect/>
          </a:stretch>
        </p:blipFill>
        <p:spPr>
          <a:xfrm>
            <a:off x="4267580" y="2800350"/>
            <a:ext cx="609600" cy="609600"/>
          </a:xfrm>
          <a:prstGeom prst="rect">
            <a:avLst/>
          </a:prstGeom>
        </p:spPr>
      </p:pic>
      <p:pic>
        <p:nvPicPr>
          <p:cNvPr id="5" name="Picture 4" descr="fece01dd-fbcf-4060-9f28-49336f48c4d3.png"/>
          <p:cNvPicPr>
            <a:picLocks noChangeAspect="1"/>
          </p:cNvPicPr>
          <p:nvPr/>
        </p:nvPicPr>
        <p:blipFill>
          <a:blip r:embed="rId3"/>
          <a:stretch>
            <a:fillRect/>
          </a:stretch>
        </p:blipFill>
        <p:spPr>
          <a:xfrm>
            <a:off x="9715500" y="2800350"/>
            <a:ext cx="609600" cy="609600"/>
          </a:xfrm>
          <a:prstGeom prst="rect">
            <a:avLst/>
          </a:prstGeom>
        </p:spPr>
      </p:pic>
      <p:pic>
        <p:nvPicPr>
          <p:cNvPr id="6" name="Picture 5" descr="594a12ee-0490-450f-84ba-27514739bcaa.png"/>
          <p:cNvPicPr>
            <a:picLocks noChangeAspect="1"/>
          </p:cNvPicPr>
          <p:nvPr/>
        </p:nvPicPr>
        <p:blipFill>
          <a:blip r:embed="rId4"/>
          <a:stretch>
            <a:fillRect/>
          </a:stretch>
        </p:blipFill>
        <p:spPr>
          <a:xfrm>
            <a:off x="16754474" y="8858250"/>
            <a:ext cx="761999" cy="761999"/>
          </a:xfrm>
          <a:prstGeom prst="rect">
            <a:avLst/>
          </a:prstGeom>
        </p:spPr>
      </p:pic>
      <p:sp>
        <p:nvSpPr>
          <p:cNvPr id="7" name="TextBox 6"/>
          <p:cNvSpPr txBox="1"/>
          <p:nvPr/>
        </p:nvSpPr>
        <p:spPr>
          <a:xfrm>
            <a:off x="1276350" y="1276350"/>
            <a:ext cx="15716250" cy="838200"/>
          </a:xfrm>
          <a:prstGeom prst="rect">
            <a:avLst/>
          </a:prstGeom>
          <a:noFill/>
        </p:spPr>
        <p:txBody>
          <a:bodyPr wrap="square" lIns="0" rIns="0" tIns="0" bIns="0">
            <a:normAutofit/>
          </a:bodyPr>
          <a:lstStyle/>
          <a:p>
            <a:pPr algn="ctr">
              <a:lnSpc>
                <a:spcPct val="99000"/>
              </a:lnSpc>
            </a:pPr>
            <a:r>
              <a:rPr sz="6000" b="1">
                <a:solidFill>
                  <a:srgbClr val="0F151A"/>
                </a:solidFill>
                <a:latin typeface="Quicksand Bold"/>
              </a:rPr>
              <a:t>Principios Gestalt de Percepción</a:t>
            </a:r>
          </a:p>
        </p:txBody>
      </p:sp>
      <p:sp>
        <p:nvSpPr>
          <p:cNvPr id="8" name="TextBox 7"/>
          <p:cNvSpPr txBox="1"/>
          <p:nvPr/>
        </p:nvSpPr>
        <p:spPr>
          <a:xfrm>
            <a:off x="4267580" y="3600450"/>
            <a:ext cx="4304919" cy="388590"/>
          </a:xfrm>
          <a:prstGeom prst="rect">
            <a:avLst/>
          </a:prstGeom>
          <a:noFill/>
        </p:spPr>
        <p:txBody>
          <a:bodyPr wrap="square" lIns="0" rIns="0" tIns="0" bIns="0">
            <a:normAutofit/>
          </a:bodyPr>
          <a:lstStyle/>
          <a:p>
            <a:pPr algn="l">
              <a:lnSpc>
                <a:spcPct val="108000"/>
              </a:lnSpc>
            </a:pPr>
            <a:r>
              <a:rPr sz="2550" b="1">
                <a:solidFill>
                  <a:srgbClr val="0F151A"/>
                </a:solidFill>
                <a:latin typeface="Quicksand Bold"/>
              </a:rPr>
              <a:t>Continuidad</a:t>
            </a:r>
          </a:p>
        </p:txBody>
      </p:sp>
      <p:sp>
        <p:nvSpPr>
          <p:cNvPr id="9" name="TextBox 8"/>
          <p:cNvSpPr txBox="1"/>
          <p:nvPr/>
        </p:nvSpPr>
        <p:spPr>
          <a:xfrm>
            <a:off x="4267580" y="4131915"/>
            <a:ext cx="4304919" cy="2560141"/>
          </a:xfrm>
          <a:prstGeom prst="rect">
            <a:avLst/>
          </a:prstGeom>
          <a:noFill/>
        </p:spPr>
        <p:txBody>
          <a:bodyPr wrap="square" lIns="0" rIns="0" tIns="0" bIns="0">
            <a:normAutofit/>
          </a:bodyPr>
          <a:lstStyle/>
          <a:p>
            <a:pPr algn="l">
              <a:lnSpc>
                <a:spcPct val="126000"/>
              </a:lnSpc>
            </a:pPr>
            <a:r>
              <a:rPr sz="2400">
                <a:solidFill>
                  <a:srgbClr val="323E47"/>
                </a:solidFill>
                <a:latin typeface="Quicksand"/>
              </a:rPr>
              <a:t>El ojo tiende a seguir el camino visual más suave o la alineación de elementos, lo que permite crear una narrativa visual fluida y coherente.</a:t>
            </a:r>
          </a:p>
        </p:txBody>
      </p:sp>
      <p:sp>
        <p:nvSpPr>
          <p:cNvPr id="10" name="TextBox 9"/>
          <p:cNvSpPr txBox="1"/>
          <p:nvPr/>
        </p:nvSpPr>
        <p:spPr>
          <a:xfrm>
            <a:off x="9715500" y="3600450"/>
            <a:ext cx="4304919" cy="388590"/>
          </a:xfrm>
          <a:prstGeom prst="rect">
            <a:avLst/>
          </a:prstGeom>
          <a:noFill/>
        </p:spPr>
        <p:txBody>
          <a:bodyPr wrap="square" lIns="0" rIns="0" tIns="0" bIns="0">
            <a:normAutofit/>
          </a:bodyPr>
          <a:lstStyle/>
          <a:p>
            <a:pPr algn="l">
              <a:lnSpc>
                <a:spcPct val="108000"/>
              </a:lnSpc>
            </a:pPr>
            <a:r>
              <a:rPr sz="2550" b="1">
                <a:solidFill>
                  <a:srgbClr val="0F151A"/>
                </a:solidFill>
                <a:latin typeface="Quicksand Bold"/>
              </a:rPr>
              <a:t>Conexión</a:t>
            </a:r>
          </a:p>
        </p:txBody>
      </p:sp>
      <p:sp>
        <p:nvSpPr>
          <p:cNvPr id="11" name="TextBox 10"/>
          <p:cNvSpPr txBox="1"/>
          <p:nvPr/>
        </p:nvSpPr>
        <p:spPr>
          <a:xfrm>
            <a:off x="9715500" y="4131915"/>
            <a:ext cx="4304919" cy="2560141"/>
          </a:xfrm>
          <a:prstGeom prst="rect">
            <a:avLst/>
          </a:prstGeom>
          <a:noFill/>
        </p:spPr>
        <p:txBody>
          <a:bodyPr wrap="square" lIns="0" rIns="0" tIns="0" bIns="0">
            <a:normAutofit/>
          </a:bodyPr>
          <a:lstStyle/>
          <a:p>
            <a:pPr algn="l">
              <a:lnSpc>
                <a:spcPct val="126000"/>
              </a:lnSpc>
            </a:pPr>
            <a:r>
              <a:rPr sz="2400">
                <a:solidFill>
                  <a:srgbClr val="323E47"/>
                </a:solidFill>
                <a:latin typeface="Quicksand"/>
              </a:rPr>
              <a:t>Cuando los elementos están conectados físicamente, como puntos unidos por una línea, se perciben como una unidad integrada, reforzando su relación intrínseca.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22205b9-a0ae-47fe-91f1-6d6e80a5e04d.png"/>
          <p:cNvPicPr>
            <a:picLocks noChangeAspect="1"/>
          </p:cNvPicPr>
          <p:nvPr/>
        </p:nvPicPr>
        <p:blipFill>
          <a:blip r:embed="rId2"/>
          <a:stretch>
            <a:fillRect/>
          </a:stretch>
        </p:blipFill>
        <p:spPr>
          <a:xfrm>
            <a:off x="1276350" y="2706885"/>
            <a:ext cx="3933824" cy="914400"/>
          </a:xfrm>
          <a:prstGeom prst="rect">
            <a:avLst/>
          </a:prstGeom>
        </p:spPr>
      </p:pic>
      <p:pic>
        <p:nvPicPr>
          <p:cNvPr id="3" name="Picture 2" descr="622205b9-a0ae-47fe-91f1-6d6e80a5e04d.png"/>
          <p:cNvPicPr>
            <a:picLocks noChangeAspect="1"/>
          </p:cNvPicPr>
          <p:nvPr/>
        </p:nvPicPr>
        <p:blipFill>
          <a:blip r:embed="rId2"/>
          <a:stretch>
            <a:fillRect/>
          </a:stretch>
        </p:blipFill>
        <p:spPr>
          <a:xfrm>
            <a:off x="5210174" y="2706885"/>
            <a:ext cx="3933824" cy="914400"/>
          </a:xfrm>
          <a:prstGeom prst="rect">
            <a:avLst/>
          </a:prstGeom>
        </p:spPr>
      </p:pic>
      <p:pic>
        <p:nvPicPr>
          <p:cNvPr id="4" name="Picture 3" descr="622205b9-a0ae-47fe-91f1-6d6e80a5e04d.png"/>
          <p:cNvPicPr>
            <a:picLocks noChangeAspect="1"/>
          </p:cNvPicPr>
          <p:nvPr/>
        </p:nvPicPr>
        <p:blipFill>
          <a:blip r:embed="rId2"/>
          <a:stretch>
            <a:fillRect/>
          </a:stretch>
        </p:blipFill>
        <p:spPr>
          <a:xfrm>
            <a:off x="9144000" y="2706885"/>
            <a:ext cx="3933824" cy="914400"/>
          </a:xfrm>
          <a:prstGeom prst="rect">
            <a:avLst/>
          </a:prstGeom>
        </p:spPr>
      </p:pic>
      <p:pic>
        <p:nvPicPr>
          <p:cNvPr id="5" name="Picture 4" descr="622205b9-a0ae-47fe-91f1-6d6e80a5e04d.png"/>
          <p:cNvPicPr>
            <a:picLocks noChangeAspect="1"/>
          </p:cNvPicPr>
          <p:nvPr/>
        </p:nvPicPr>
        <p:blipFill>
          <a:blip r:embed="rId2"/>
          <a:stretch>
            <a:fillRect/>
          </a:stretch>
        </p:blipFill>
        <p:spPr>
          <a:xfrm>
            <a:off x="13077824" y="2706885"/>
            <a:ext cx="3933824" cy="914400"/>
          </a:xfrm>
          <a:prstGeom prst="rect">
            <a:avLst/>
          </a:prstGeom>
        </p:spPr>
      </p:pic>
      <p:pic>
        <p:nvPicPr>
          <p:cNvPr id="6" name="Picture 5" descr="594a12ee-0490-450f-84ba-27514739bcaa.png"/>
          <p:cNvPicPr>
            <a:picLocks noChangeAspect="1"/>
          </p:cNvPicPr>
          <p:nvPr/>
        </p:nvPicPr>
        <p:blipFill>
          <a:blip r:embed="rId3"/>
          <a:stretch>
            <a:fillRect/>
          </a:stretch>
        </p:blipFill>
        <p:spPr>
          <a:xfrm>
            <a:off x="16754474" y="8858250"/>
            <a:ext cx="761999" cy="761999"/>
          </a:xfrm>
          <a:prstGeom prst="rect">
            <a:avLst/>
          </a:prstGeom>
        </p:spPr>
      </p:pic>
      <p:sp>
        <p:nvSpPr>
          <p:cNvPr id="7" name="TextBox 6"/>
          <p:cNvSpPr txBox="1"/>
          <p:nvPr/>
        </p:nvSpPr>
        <p:spPr>
          <a:xfrm>
            <a:off x="1276350" y="1276350"/>
            <a:ext cx="15735299" cy="859035"/>
          </a:xfrm>
          <a:prstGeom prst="rect">
            <a:avLst/>
          </a:prstGeom>
          <a:noFill/>
        </p:spPr>
        <p:txBody>
          <a:bodyPr wrap="square" lIns="0" rIns="0" tIns="0" bIns="0">
            <a:normAutofit/>
          </a:bodyPr>
          <a:lstStyle/>
          <a:p>
            <a:pPr algn="ctr">
              <a:lnSpc>
                <a:spcPct val="99000"/>
              </a:lnSpc>
            </a:pPr>
            <a:r>
              <a:rPr sz="6150" b="1">
                <a:solidFill>
                  <a:srgbClr val="0F151A"/>
                </a:solidFill>
                <a:latin typeface="Quicksand Bold"/>
              </a:rPr>
              <a:t>Estructura del Arco Narrativo en Datos</a:t>
            </a:r>
          </a:p>
        </p:txBody>
      </p:sp>
      <p:sp>
        <p:nvSpPr>
          <p:cNvPr id="8" name="TextBox 7"/>
          <p:cNvSpPr txBox="1"/>
          <p:nvPr/>
        </p:nvSpPr>
        <p:spPr>
          <a:xfrm>
            <a:off x="2957512" y="2973585"/>
            <a:ext cx="571500" cy="380999"/>
          </a:xfrm>
          <a:prstGeom prst="rect">
            <a:avLst/>
          </a:prstGeom>
          <a:noFill/>
        </p:spPr>
        <p:txBody>
          <a:bodyPr wrap="square" lIns="0" rIns="0" tIns="0" bIns="0">
            <a:normAutofit/>
          </a:bodyPr>
          <a:lstStyle/>
          <a:p>
            <a:pPr algn="ctr">
              <a:lnSpc>
                <a:spcPct val="90000"/>
              </a:lnSpc>
            </a:pPr>
            <a:r>
              <a:rPr sz="3000" b="1">
                <a:solidFill>
                  <a:srgbClr val="0F151A"/>
                </a:solidFill>
                <a:latin typeface="Quicksand Bold"/>
              </a:rPr>
              <a:t>1</a:t>
            </a:r>
          </a:p>
        </p:txBody>
      </p:sp>
      <p:sp>
        <p:nvSpPr>
          <p:cNvPr id="9" name="TextBox 8"/>
          <p:cNvSpPr txBox="1"/>
          <p:nvPr/>
        </p:nvSpPr>
        <p:spPr>
          <a:xfrm>
            <a:off x="6891337" y="2973585"/>
            <a:ext cx="571500" cy="380999"/>
          </a:xfrm>
          <a:prstGeom prst="rect">
            <a:avLst/>
          </a:prstGeom>
          <a:noFill/>
        </p:spPr>
        <p:txBody>
          <a:bodyPr wrap="square" lIns="0" rIns="0" tIns="0" bIns="0">
            <a:normAutofit/>
          </a:bodyPr>
          <a:lstStyle/>
          <a:p>
            <a:pPr algn="ctr">
              <a:lnSpc>
                <a:spcPct val="90000"/>
              </a:lnSpc>
            </a:pPr>
            <a:r>
              <a:rPr sz="3000" b="1">
                <a:solidFill>
                  <a:srgbClr val="0F151A"/>
                </a:solidFill>
                <a:latin typeface="Quicksand Bold"/>
              </a:rPr>
              <a:t>2</a:t>
            </a:r>
          </a:p>
        </p:txBody>
      </p:sp>
      <p:sp>
        <p:nvSpPr>
          <p:cNvPr id="10" name="TextBox 9"/>
          <p:cNvSpPr txBox="1"/>
          <p:nvPr/>
        </p:nvSpPr>
        <p:spPr>
          <a:xfrm>
            <a:off x="10825162" y="2973585"/>
            <a:ext cx="571500" cy="380999"/>
          </a:xfrm>
          <a:prstGeom prst="rect">
            <a:avLst/>
          </a:prstGeom>
          <a:noFill/>
        </p:spPr>
        <p:txBody>
          <a:bodyPr wrap="square" lIns="0" rIns="0" tIns="0" bIns="0">
            <a:normAutofit/>
          </a:bodyPr>
          <a:lstStyle/>
          <a:p>
            <a:pPr algn="ctr">
              <a:lnSpc>
                <a:spcPct val="90000"/>
              </a:lnSpc>
            </a:pPr>
            <a:r>
              <a:rPr sz="3000" b="1">
                <a:solidFill>
                  <a:srgbClr val="0F151A"/>
                </a:solidFill>
                <a:latin typeface="Quicksand Bold"/>
              </a:rPr>
              <a:t>3</a:t>
            </a:r>
          </a:p>
        </p:txBody>
      </p:sp>
      <p:sp>
        <p:nvSpPr>
          <p:cNvPr id="11" name="TextBox 10"/>
          <p:cNvSpPr txBox="1"/>
          <p:nvPr/>
        </p:nvSpPr>
        <p:spPr>
          <a:xfrm>
            <a:off x="14758987" y="2973585"/>
            <a:ext cx="571500" cy="380999"/>
          </a:xfrm>
          <a:prstGeom prst="rect">
            <a:avLst/>
          </a:prstGeom>
          <a:noFill/>
        </p:spPr>
        <p:txBody>
          <a:bodyPr wrap="square" lIns="0" rIns="0" tIns="0" bIns="0">
            <a:normAutofit/>
          </a:bodyPr>
          <a:lstStyle/>
          <a:p>
            <a:pPr algn="ctr">
              <a:lnSpc>
                <a:spcPct val="90000"/>
              </a:lnSpc>
            </a:pPr>
            <a:r>
              <a:rPr sz="3000" b="1">
                <a:solidFill>
                  <a:srgbClr val="0F151A"/>
                </a:solidFill>
                <a:latin typeface="Quicksand Bold"/>
              </a:rPr>
              <a:t>4</a:t>
            </a:r>
          </a:p>
        </p:txBody>
      </p:sp>
      <p:sp>
        <p:nvSpPr>
          <p:cNvPr id="12" name="TextBox 11"/>
          <p:cNvSpPr txBox="1"/>
          <p:nvPr/>
        </p:nvSpPr>
        <p:spPr>
          <a:xfrm>
            <a:off x="1504950" y="4002285"/>
            <a:ext cx="3476624" cy="838200"/>
          </a:xfrm>
          <a:prstGeom prst="rect">
            <a:avLst/>
          </a:prstGeom>
          <a:noFill/>
        </p:spPr>
        <p:txBody>
          <a:bodyPr wrap="square" lIns="0" rIns="0" tIns="0" bIns="0">
            <a:normAutofit/>
          </a:bodyPr>
          <a:lstStyle/>
          <a:p>
            <a:pPr algn="l">
              <a:lnSpc>
                <a:spcPct val="99000"/>
              </a:lnSpc>
            </a:pPr>
            <a:r>
              <a:rPr sz="3000" b="1">
                <a:solidFill>
                  <a:srgbClr val="0F151A"/>
                </a:solidFill>
                <a:latin typeface="Quicksand Bold"/>
              </a:rPr>
              <a:t>Introducción (El Contexto)</a:t>
            </a:r>
          </a:p>
        </p:txBody>
      </p:sp>
      <p:sp>
        <p:nvSpPr>
          <p:cNvPr id="13" name="TextBox 12"/>
          <p:cNvSpPr txBox="1"/>
          <p:nvPr/>
        </p:nvSpPr>
        <p:spPr>
          <a:xfrm>
            <a:off x="5438774" y="4002285"/>
            <a:ext cx="3476624" cy="838200"/>
          </a:xfrm>
          <a:prstGeom prst="rect">
            <a:avLst/>
          </a:prstGeom>
          <a:noFill/>
        </p:spPr>
        <p:txBody>
          <a:bodyPr wrap="square" lIns="0" rIns="0" tIns="0" bIns="0">
            <a:normAutofit/>
          </a:bodyPr>
          <a:lstStyle/>
          <a:p>
            <a:pPr algn="l">
              <a:lnSpc>
                <a:spcPct val="99000"/>
              </a:lnSpc>
            </a:pPr>
            <a:r>
              <a:rPr sz="3000" b="1">
                <a:solidFill>
                  <a:srgbClr val="0F151A"/>
                </a:solidFill>
                <a:latin typeface="Quicksand Bold"/>
              </a:rPr>
              <a:t>Conflicto (El Hallazgo)</a:t>
            </a:r>
          </a:p>
        </p:txBody>
      </p:sp>
      <p:sp>
        <p:nvSpPr>
          <p:cNvPr id="14" name="TextBox 13"/>
          <p:cNvSpPr txBox="1"/>
          <p:nvPr/>
        </p:nvSpPr>
        <p:spPr>
          <a:xfrm>
            <a:off x="9372600" y="4002285"/>
            <a:ext cx="3476624" cy="419100"/>
          </a:xfrm>
          <a:prstGeom prst="rect">
            <a:avLst/>
          </a:prstGeom>
          <a:noFill/>
        </p:spPr>
        <p:txBody>
          <a:bodyPr wrap="square" lIns="0" rIns="0" tIns="0" bIns="0">
            <a:normAutofit/>
          </a:bodyPr>
          <a:lstStyle/>
          <a:p>
            <a:pPr algn="l">
              <a:lnSpc>
                <a:spcPct val="99000"/>
              </a:lnSpc>
            </a:pPr>
            <a:r>
              <a:rPr sz="3000" b="1">
                <a:solidFill>
                  <a:srgbClr val="0F151A"/>
                </a:solidFill>
                <a:latin typeface="Quicksand Bold"/>
              </a:rPr>
              <a:t>Clímax (El Insight)</a:t>
            </a:r>
          </a:p>
        </p:txBody>
      </p:sp>
      <p:sp>
        <p:nvSpPr>
          <p:cNvPr id="15" name="TextBox 14"/>
          <p:cNvSpPr txBox="1"/>
          <p:nvPr/>
        </p:nvSpPr>
        <p:spPr>
          <a:xfrm>
            <a:off x="13306424" y="4002285"/>
            <a:ext cx="3476624" cy="838200"/>
          </a:xfrm>
          <a:prstGeom prst="rect">
            <a:avLst/>
          </a:prstGeom>
          <a:noFill/>
        </p:spPr>
        <p:txBody>
          <a:bodyPr wrap="square" lIns="0" rIns="0" tIns="0" bIns="0">
            <a:normAutofit/>
          </a:bodyPr>
          <a:lstStyle/>
          <a:p>
            <a:pPr algn="l">
              <a:lnSpc>
                <a:spcPct val="99000"/>
              </a:lnSpc>
            </a:pPr>
            <a:r>
              <a:rPr sz="3000" b="1">
                <a:solidFill>
                  <a:srgbClr val="0F151A"/>
                </a:solidFill>
                <a:latin typeface="Quicksand Bold"/>
              </a:rPr>
              <a:t>Resolución (La Acción)</a:t>
            </a:r>
          </a:p>
        </p:txBody>
      </p:sp>
      <p:sp>
        <p:nvSpPr>
          <p:cNvPr id="16" name="TextBox 15"/>
          <p:cNvSpPr txBox="1"/>
          <p:nvPr/>
        </p:nvSpPr>
        <p:spPr>
          <a:xfrm>
            <a:off x="1504950" y="5030985"/>
            <a:ext cx="3476624" cy="2000250"/>
          </a:xfrm>
          <a:prstGeom prst="rect">
            <a:avLst/>
          </a:prstGeom>
          <a:noFill/>
        </p:spPr>
        <p:txBody>
          <a:bodyPr wrap="square" lIns="0" rIns="0" tIns="0" bIns="0">
            <a:normAutofit/>
          </a:bodyPr>
          <a:lstStyle/>
          <a:p>
            <a:pPr algn="l">
              <a:lnSpc>
                <a:spcPct val="126000"/>
              </a:lnSpc>
            </a:pPr>
            <a:r>
              <a:rPr sz="2250">
                <a:solidFill>
                  <a:srgbClr val="0F151A"/>
                </a:solidFill>
                <a:latin typeface="Quicksand"/>
              </a:rPr>
              <a:t>Establezca la situación actual y los KPIs base para definir el 'status quo'. Prepare al público con el escenario inicial.</a:t>
            </a:r>
          </a:p>
        </p:txBody>
      </p:sp>
      <p:sp>
        <p:nvSpPr>
          <p:cNvPr id="17" name="TextBox 16"/>
          <p:cNvSpPr txBox="1"/>
          <p:nvPr/>
        </p:nvSpPr>
        <p:spPr>
          <a:xfrm>
            <a:off x="5438774" y="5030985"/>
            <a:ext cx="3476624" cy="2400300"/>
          </a:xfrm>
          <a:prstGeom prst="rect">
            <a:avLst/>
          </a:prstGeom>
          <a:noFill/>
        </p:spPr>
        <p:txBody>
          <a:bodyPr wrap="square" lIns="0" rIns="0" tIns="0" bIns="0">
            <a:normAutofit/>
          </a:bodyPr>
          <a:lstStyle/>
          <a:p>
            <a:pPr algn="l">
              <a:lnSpc>
                <a:spcPct val="126000"/>
              </a:lnSpc>
            </a:pPr>
            <a:r>
              <a:rPr sz="2250">
                <a:solidFill>
                  <a:srgbClr val="0F151A"/>
                </a:solidFill>
                <a:latin typeface="Quicksand"/>
              </a:rPr>
              <a:t>Introduzca el problema o la oportunidad significativa descubierta en los datos. Este es el 'giro' que capta la atención de la audiencia.</a:t>
            </a:r>
          </a:p>
        </p:txBody>
      </p:sp>
      <p:sp>
        <p:nvSpPr>
          <p:cNvPr id="18" name="TextBox 17"/>
          <p:cNvSpPr txBox="1"/>
          <p:nvPr/>
        </p:nvSpPr>
        <p:spPr>
          <a:xfrm>
            <a:off x="9372600" y="4611885"/>
            <a:ext cx="3476624" cy="2400300"/>
          </a:xfrm>
          <a:prstGeom prst="rect">
            <a:avLst/>
          </a:prstGeom>
          <a:noFill/>
        </p:spPr>
        <p:txBody>
          <a:bodyPr wrap="square" lIns="0" rIns="0" tIns="0" bIns="0">
            <a:normAutofit/>
          </a:bodyPr>
          <a:lstStyle/>
          <a:p>
            <a:pPr algn="l">
              <a:lnSpc>
                <a:spcPct val="126000"/>
              </a:lnSpc>
            </a:pPr>
            <a:r>
              <a:rPr sz="2250">
                <a:solidFill>
                  <a:srgbClr val="0F151A"/>
                </a:solidFill>
                <a:latin typeface="Quicksand"/>
              </a:rPr>
              <a:t>Presente el punto de máxima tensión donde los datos revelan la causa raíz o el impacto potencial. Es la revelación clave de la historia.</a:t>
            </a:r>
          </a:p>
        </p:txBody>
      </p:sp>
      <p:sp>
        <p:nvSpPr>
          <p:cNvPr id="19" name="TextBox 18"/>
          <p:cNvSpPr txBox="1"/>
          <p:nvPr/>
        </p:nvSpPr>
        <p:spPr>
          <a:xfrm>
            <a:off x="13306424" y="5030985"/>
            <a:ext cx="3476624" cy="3200400"/>
          </a:xfrm>
          <a:prstGeom prst="rect">
            <a:avLst/>
          </a:prstGeom>
          <a:noFill/>
        </p:spPr>
        <p:txBody>
          <a:bodyPr wrap="square" lIns="0" rIns="0" tIns="0" bIns="0">
            <a:normAutofit/>
          </a:bodyPr>
          <a:lstStyle/>
          <a:p>
            <a:pPr algn="l">
              <a:lnSpc>
                <a:spcPct val="126000"/>
              </a:lnSpc>
            </a:pPr>
            <a:r>
              <a:rPr sz="2250">
                <a:solidFill>
                  <a:srgbClr val="0F151A"/>
                </a:solidFill>
                <a:latin typeface="Quicksand"/>
              </a:rPr>
              <a:t>Proponga claramente los pasos a seguir, las recomendaciones concretas y las implicaciones prácticas basadas en la evidencia presentada. Concluya con un llamado a la acción.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276350" y="3116580"/>
            <a:ext cx="15735299" cy="4419600"/>
          </a:xfrm>
          <a:prstGeom prst="roundRect">
            <a:avLst>
              <a:gd name="adj" fmla="val 1379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943100" y="2750820"/>
            <a:ext cx="4102447" cy="731519"/>
          </a:xfrm>
          <a:prstGeom prst="roundRect">
            <a:avLst>
              <a:gd name="adj" fmla="val 41666"/>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3d593950-fe6e-440d-8c8b-2698eb75f7e1.png"/>
          <p:cNvPicPr>
            <a:picLocks noChangeAspect="1"/>
          </p:cNvPicPr>
          <p:nvPr/>
        </p:nvPicPr>
        <p:blipFill>
          <a:blip r:embed="rId2"/>
          <a:stretch>
            <a:fillRect/>
          </a:stretch>
        </p:blipFill>
        <p:spPr>
          <a:xfrm>
            <a:off x="11687175" y="419100"/>
            <a:ext cx="6600825" cy="9867900"/>
          </a:xfrm>
          <a:prstGeom prst="rect">
            <a:avLst/>
          </a:prstGeom>
        </p:spPr>
      </p:pic>
      <p:pic>
        <p:nvPicPr>
          <p:cNvPr id="5" name="Picture 4" descr="1993db80-79c0-4f26-8ffd-ba11feb618b5.png"/>
          <p:cNvPicPr>
            <a:picLocks noChangeAspect="1"/>
          </p:cNvPicPr>
          <p:nvPr/>
        </p:nvPicPr>
        <p:blipFill>
          <a:blip r:embed="rId3"/>
          <a:stretch>
            <a:fillRect/>
          </a:stretch>
        </p:blipFill>
        <p:spPr>
          <a:xfrm>
            <a:off x="2171700" y="2964179"/>
            <a:ext cx="304800" cy="304800"/>
          </a:xfrm>
          <a:prstGeom prst="rect">
            <a:avLst/>
          </a:prstGeom>
        </p:spPr>
      </p:pic>
      <p:pic>
        <p:nvPicPr>
          <p:cNvPr id="6" name="Picture 5" descr="594a12ee-0490-450f-84ba-27514739bcaa.png"/>
          <p:cNvPicPr>
            <a:picLocks noChangeAspect="1"/>
          </p:cNvPicPr>
          <p:nvPr/>
        </p:nvPicPr>
        <p:blipFill>
          <a:blip r:embed="rId4"/>
          <a:stretch>
            <a:fillRect/>
          </a:stretch>
        </p:blipFill>
        <p:spPr>
          <a:xfrm>
            <a:off x="16754474" y="8858250"/>
            <a:ext cx="761999" cy="761999"/>
          </a:xfrm>
          <a:prstGeom prst="rect">
            <a:avLst/>
          </a:prstGeom>
        </p:spPr>
      </p:pic>
      <p:sp>
        <p:nvSpPr>
          <p:cNvPr id="7" name="TextBox 6"/>
          <p:cNvSpPr txBox="1"/>
          <p:nvPr/>
        </p:nvSpPr>
        <p:spPr>
          <a:xfrm>
            <a:off x="2628900" y="2884170"/>
            <a:ext cx="3283297" cy="426719"/>
          </a:xfrm>
          <a:prstGeom prst="rect">
            <a:avLst/>
          </a:prstGeom>
          <a:noFill/>
        </p:spPr>
        <p:txBody>
          <a:bodyPr wrap="square" lIns="0" rIns="0" tIns="0" bIns="0">
            <a:normAutofit/>
          </a:bodyPr>
          <a:lstStyle/>
          <a:p>
            <a:pPr algn="l">
              <a:lnSpc>
                <a:spcPct val="126000"/>
              </a:lnSpc>
            </a:pPr>
            <a:r>
              <a:rPr sz="2400" b="1">
                <a:solidFill>
                  <a:srgbClr val="0F1519"/>
                </a:solidFill>
                <a:latin typeface="Quicksand Bold"/>
              </a:rPr>
              <a:t>Demostración Guiada</a:t>
            </a:r>
          </a:p>
        </p:txBody>
      </p:sp>
      <p:sp>
        <p:nvSpPr>
          <p:cNvPr id="8" name="TextBox 7"/>
          <p:cNvSpPr txBox="1"/>
          <p:nvPr/>
        </p:nvSpPr>
        <p:spPr>
          <a:xfrm>
            <a:off x="1885950" y="3726179"/>
            <a:ext cx="14516100" cy="3200400"/>
          </a:xfrm>
          <a:prstGeom prst="rect">
            <a:avLst/>
          </a:prstGeom>
          <a:noFill/>
        </p:spPr>
        <p:txBody>
          <a:bodyPr wrap="square" lIns="0" rIns="0" tIns="0" bIns="0">
            <a:normAutofit/>
          </a:bodyPr>
          <a:lstStyle/>
          <a:p>
            <a:pPr algn="l">
              <a:lnSpc>
                <a:spcPct val="126000"/>
              </a:lnSpc>
            </a:pPr>
            <a:r>
              <a:rPr sz="3000">
                <a:solidFill>
                  <a:srgbClr val="0F1519"/>
                </a:solidFill>
                <a:latin typeface="Quicksand"/>
              </a:rPr>
              <a:t>Demostraremos cómo transformar un visual de datos inicial problemático en una representación clara y accionable, utilizando un caso de reporte de ventas trimestrales para una empresa en Bogotá. El problema inicial es un gráfico de pastel con 15 categorías de productos, colores neón y leyenda externa, que es difícil de interpretar. La solución final busca un visual limpio que señale directamente dónde debe actuar la gerencia.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276350" y="3032864"/>
            <a:ext cx="15735299" cy="4587031"/>
          </a:xfrm>
          <a:prstGeom prst="roundRect">
            <a:avLst>
              <a:gd name="adj" fmla="val 1328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943100" y="2667104"/>
            <a:ext cx="4102447" cy="731519"/>
          </a:xfrm>
          <a:prstGeom prst="roundRect">
            <a:avLst>
              <a:gd name="adj" fmla="val 41666"/>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733550" y="3642464"/>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733550" y="5303534"/>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3d593950-fe6e-440d-8c8b-2698eb75f7e1.png"/>
          <p:cNvPicPr>
            <a:picLocks noChangeAspect="1"/>
          </p:cNvPicPr>
          <p:nvPr/>
        </p:nvPicPr>
        <p:blipFill>
          <a:blip r:embed="rId2"/>
          <a:stretch>
            <a:fillRect/>
          </a:stretch>
        </p:blipFill>
        <p:spPr>
          <a:xfrm>
            <a:off x="11687175" y="419100"/>
            <a:ext cx="6600825" cy="9867900"/>
          </a:xfrm>
          <a:prstGeom prst="rect">
            <a:avLst/>
          </a:prstGeom>
        </p:spPr>
      </p:pic>
      <p:pic>
        <p:nvPicPr>
          <p:cNvPr id="7" name="Picture 6" descr="1993db80-79c0-4f26-8ffd-ba11feb618b5.png"/>
          <p:cNvPicPr>
            <a:picLocks noChangeAspect="1"/>
          </p:cNvPicPr>
          <p:nvPr/>
        </p:nvPicPr>
        <p:blipFill>
          <a:blip r:embed="rId3"/>
          <a:stretch>
            <a:fillRect/>
          </a:stretch>
        </p:blipFill>
        <p:spPr>
          <a:xfrm>
            <a:off x="2171700" y="2880464"/>
            <a:ext cx="304800" cy="304800"/>
          </a:xfrm>
          <a:prstGeom prst="rect">
            <a:avLst/>
          </a:prstGeom>
        </p:spPr>
      </p:pic>
      <p:pic>
        <p:nvPicPr>
          <p:cNvPr id="8" name="Picture 7" descr="594a12ee-0490-450f-84ba-27514739bcaa.png"/>
          <p:cNvPicPr>
            <a:picLocks noChangeAspect="1"/>
          </p:cNvPicPr>
          <p:nvPr/>
        </p:nvPicPr>
        <p:blipFill>
          <a:blip r:embed="rId4"/>
          <a:stretch>
            <a:fillRect/>
          </a:stretch>
        </p:blipFill>
        <p:spPr>
          <a:xfrm>
            <a:off x="16754474" y="8858250"/>
            <a:ext cx="761999" cy="761999"/>
          </a:xfrm>
          <a:prstGeom prst="rect">
            <a:avLst/>
          </a:prstGeom>
        </p:spPr>
      </p:pic>
      <p:sp>
        <p:nvSpPr>
          <p:cNvPr id="9" name="TextBox 8"/>
          <p:cNvSpPr txBox="1"/>
          <p:nvPr/>
        </p:nvSpPr>
        <p:spPr>
          <a:xfrm>
            <a:off x="2628900" y="2800454"/>
            <a:ext cx="3283297" cy="426719"/>
          </a:xfrm>
          <a:prstGeom prst="rect">
            <a:avLst/>
          </a:prstGeom>
          <a:noFill/>
        </p:spPr>
        <p:txBody>
          <a:bodyPr wrap="square" lIns="0" rIns="0" tIns="0" bIns="0">
            <a:normAutofit/>
          </a:bodyPr>
          <a:lstStyle/>
          <a:p>
            <a:pPr algn="l">
              <a:lnSpc>
                <a:spcPct val="126000"/>
              </a:lnSpc>
            </a:pPr>
            <a:r>
              <a:rPr sz="2400" b="1">
                <a:solidFill>
                  <a:srgbClr val="0F1519"/>
                </a:solidFill>
                <a:latin typeface="Quicksand Bold"/>
              </a:rPr>
              <a:t>Demostración Guiada</a:t>
            </a:r>
          </a:p>
        </p:txBody>
      </p:sp>
      <p:sp>
        <p:nvSpPr>
          <p:cNvPr id="10" name="TextBox 9"/>
          <p:cNvSpPr txBox="1"/>
          <p:nvPr/>
        </p:nvSpPr>
        <p:spPr>
          <a:xfrm>
            <a:off x="2140966" y="3918689"/>
            <a:ext cx="232916" cy="304800"/>
          </a:xfrm>
          <a:prstGeom prst="rect">
            <a:avLst/>
          </a:prstGeom>
          <a:noFill/>
        </p:spPr>
        <p:txBody>
          <a:bodyPr wrap="square" lIns="0" rIns="0" tIns="0" bIns="0">
            <a:normAutofit/>
          </a:bodyPr>
          <a:lstStyle/>
          <a:p>
            <a:pPr algn="l">
              <a:lnSpc>
                <a:spcPct val="90000"/>
              </a:lnSpc>
            </a:pPr>
            <a:r>
              <a:rPr sz="2400" b="1">
                <a:solidFill>
                  <a:srgbClr val="111827"/>
                </a:solidFill>
                <a:latin typeface="Quicksand Bold"/>
              </a:rPr>
              <a:t>1</a:t>
            </a:r>
          </a:p>
        </p:txBody>
      </p:sp>
      <p:sp>
        <p:nvSpPr>
          <p:cNvPr id="11" name="TextBox 10"/>
          <p:cNvSpPr txBox="1"/>
          <p:nvPr/>
        </p:nvSpPr>
        <p:spPr>
          <a:xfrm>
            <a:off x="2743200" y="3642464"/>
            <a:ext cx="13811250" cy="1280070"/>
          </a:xfrm>
          <a:prstGeom prst="rect">
            <a:avLst/>
          </a:prstGeom>
          <a:noFill/>
        </p:spPr>
        <p:txBody>
          <a:bodyPr wrap="square" lIns="0" rIns="0" tIns="0" bIns="0">
            <a:normAutofit/>
          </a:bodyPr>
          <a:lstStyle/>
          <a:p>
            <a:pPr algn="l">
              <a:lnSpc>
                <a:spcPct val="126000"/>
              </a:lnSpc>
            </a:pPr>
            <a:r>
              <a:rPr sz="2400" b="1">
                <a:solidFill>
                  <a:srgbClr val="0F1519"/>
                </a:solidFill>
                <a:latin typeface="Quicksand Bold"/>
              </a:rPr>
              <a:t>Enfoque</a:t>
            </a:r>
            <a:r>
              <a:rPr sz="2400">
                <a:solidFill>
                  <a:srgbClr val="0F1519"/>
                </a:solidFill>
                <a:latin typeface="Quicksand"/>
              </a:rPr>
              <a:t>: Identificamos que 2 productos representan el </a:t>
            </a:r>
            <a:r>
              <a:rPr sz="2400" b="1">
                <a:solidFill>
                  <a:srgbClr val="0F1519"/>
                </a:solidFill>
                <a:latin typeface="Quicksand Bold"/>
              </a:rPr>
              <a:t>80% de la caída en ingresos</a:t>
            </a:r>
            <a:r>
              <a:rPr sz="2400">
                <a:solidFill>
                  <a:srgbClr val="0F1519"/>
                </a:solidFill>
                <a:latin typeface="Quicksand"/>
              </a:rPr>
              <a:t>. Este paso es crucial para establecer la prioridad y la narrativa central de nuestra visualización, dirigiendo la atención a los elementos más impactantes.</a:t>
            </a:r>
          </a:p>
        </p:txBody>
      </p:sp>
      <p:sp>
        <p:nvSpPr>
          <p:cNvPr id="12" name="TextBox 11"/>
          <p:cNvSpPr txBox="1"/>
          <p:nvPr/>
        </p:nvSpPr>
        <p:spPr>
          <a:xfrm>
            <a:off x="2113508" y="5579759"/>
            <a:ext cx="287833" cy="304800"/>
          </a:xfrm>
          <a:prstGeom prst="rect">
            <a:avLst/>
          </a:prstGeom>
          <a:noFill/>
        </p:spPr>
        <p:txBody>
          <a:bodyPr wrap="square" lIns="0" rIns="0" tIns="0" bIns="0">
            <a:normAutofit/>
          </a:bodyPr>
          <a:lstStyle/>
          <a:p>
            <a:pPr algn="l">
              <a:lnSpc>
                <a:spcPct val="90000"/>
              </a:lnSpc>
            </a:pPr>
            <a:r>
              <a:rPr sz="2400" b="1">
                <a:solidFill>
                  <a:srgbClr val="111827"/>
                </a:solidFill>
                <a:latin typeface="Quicksand Bold"/>
              </a:rPr>
              <a:t>2</a:t>
            </a:r>
          </a:p>
        </p:txBody>
      </p:sp>
      <p:sp>
        <p:nvSpPr>
          <p:cNvPr id="13" name="TextBox 12"/>
          <p:cNvSpPr txBox="1"/>
          <p:nvPr/>
        </p:nvSpPr>
        <p:spPr>
          <a:xfrm>
            <a:off x="2743200" y="5303534"/>
            <a:ext cx="13811250" cy="1706760"/>
          </a:xfrm>
          <a:prstGeom prst="rect">
            <a:avLst/>
          </a:prstGeom>
          <a:noFill/>
        </p:spPr>
        <p:txBody>
          <a:bodyPr wrap="square" lIns="0" rIns="0" tIns="0" bIns="0">
            <a:normAutofit/>
          </a:bodyPr>
          <a:lstStyle/>
          <a:p>
            <a:pPr algn="l">
              <a:lnSpc>
                <a:spcPct val="126000"/>
              </a:lnSpc>
            </a:pPr>
            <a:r>
              <a:rPr sz="2400" b="1">
                <a:solidFill>
                  <a:srgbClr val="0F1519"/>
                </a:solidFill>
                <a:latin typeface="Quicksand Bold"/>
              </a:rPr>
              <a:t>Limpieza</a:t>
            </a:r>
            <a:r>
              <a:rPr sz="2400">
                <a:solidFill>
                  <a:srgbClr val="0F1519"/>
                </a:solidFill>
                <a:latin typeface="Quicksand"/>
              </a:rPr>
              <a:t>: Eliminamos el gráfico de pastel, que es inherentemente ineficaz para comparar múltiples categorías, y utilizamos </a:t>
            </a:r>
            <a:r>
              <a:rPr sz="2400" b="1">
                <a:solidFill>
                  <a:srgbClr val="0F1519"/>
                </a:solidFill>
                <a:latin typeface="Quicksand Bold"/>
              </a:rPr>
              <a:t>barras horizontales ordenadas de mayor a menor</a:t>
            </a:r>
            <a:r>
              <a:rPr sz="2400">
                <a:solidFill>
                  <a:srgbClr val="0F1519"/>
                </a:solidFill>
                <a:latin typeface="Quicksand"/>
              </a:rPr>
              <a:t>. Esto mejora la legibilidad y permite una comparación más intuitiva de las magnitudes entre los productos.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276350" y="3032864"/>
            <a:ext cx="15735299" cy="4587031"/>
          </a:xfrm>
          <a:prstGeom prst="roundRect">
            <a:avLst>
              <a:gd name="adj" fmla="val 1328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943100" y="2667104"/>
            <a:ext cx="4102447" cy="731519"/>
          </a:xfrm>
          <a:prstGeom prst="roundRect">
            <a:avLst>
              <a:gd name="adj" fmla="val 41666"/>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733550" y="3642464"/>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733550" y="5303534"/>
            <a:ext cx="857250" cy="857250"/>
          </a:xfrm>
          <a:prstGeom prst="roundRect">
            <a:avLst>
              <a:gd name="adj" fmla="val 3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3d593950-fe6e-440d-8c8b-2698eb75f7e1.png"/>
          <p:cNvPicPr>
            <a:picLocks noChangeAspect="1"/>
          </p:cNvPicPr>
          <p:nvPr/>
        </p:nvPicPr>
        <p:blipFill>
          <a:blip r:embed="rId2"/>
          <a:stretch>
            <a:fillRect/>
          </a:stretch>
        </p:blipFill>
        <p:spPr>
          <a:xfrm>
            <a:off x="11687175" y="419100"/>
            <a:ext cx="6600825" cy="9867900"/>
          </a:xfrm>
          <a:prstGeom prst="rect">
            <a:avLst/>
          </a:prstGeom>
        </p:spPr>
      </p:pic>
      <p:pic>
        <p:nvPicPr>
          <p:cNvPr id="7" name="Picture 6" descr="1993db80-79c0-4f26-8ffd-ba11feb618b5.png"/>
          <p:cNvPicPr>
            <a:picLocks noChangeAspect="1"/>
          </p:cNvPicPr>
          <p:nvPr/>
        </p:nvPicPr>
        <p:blipFill>
          <a:blip r:embed="rId3"/>
          <a:stretch>
            <a:fillRect/>
          </a:stretch>
        </p:blipFill>
        <p:spPr>
          <a:xfrm>
            <a:off x="2171700" y="2880464"/>
            <a:ext cx="304800" cy="304800"/>
          </a:xfrm>
          <a:prstGeom prst="rect">
            <a:avLst/>
          </a:prstGeom>
        </p:spPr>
      </p:pic>
      <p:pic>
        <p:nvPicPr>
          <p:cNvPr id="8" name="Picture 7" descr="594a12ee-0490-450f-84ba-27514739bcaa.png"/>
          <p:cNvPicPr>
            <a:picLocks noChangeAspect="1"/>
          </p:cNvPicPr>
          <p:nvPr/>
        </p:nvPicPr>
        <p:blipFill>
          <a:blip r:embed="rId4"/>
          <a:stretch>
            <a:fillRect/>
          </a:stretch>
        </p:blipFill>
        <p:spPr>
          <a:xfrm>
            <a:off x="16754474" y="8858250"/>
            <a:ext cx="761999" cy="761999"/>
          </a:xfrm>
          <a:prstGeom prst="rect">
            <a:avLst/>
          </a:prstGeom>
        </p:spPr>
      </p:pic>
      <p:sp>
        <p:nvSpPr>
          <p:cNvPr id="9" name="TextBox 8"/>
          <p:cNvSpPr txBox="1"/>
          <p:nvPr/>
        </p:nvSpPr>
        <p:spPr>
          <a:xfrm>
            <a:off x="2628900" y="2800454"/>
            <a:ext cx="3283297" cy="426719"/>
          </a:xfrm>
          <a:prstGeom prst="rect">
            <a:avLst/>
          </a:prstGeom>
          <a:noFill/>
        </p:spPr>
        <p:txBody>
          <a:bodyPr wrap="square" lIns="0" rIns="0" tIns="0" bIns="0">
            <a:normAutofit/>
          </a:bodyPr>
          <a:lstStyle/>
          <a:p>
            <a:pPr algn="l">
              <a:lnSpc>
                <a:spcPct val="126000"/>
              </a:lnSpc>
            </a:pPr>
            <a:r>
              <a:rPr sz="2400" b="1">
                <a:solidFill>
                  <a:srgbClr val="0F1519"/>
                </a:solidFill>
                <a:latin typeface="Quicksand Bold"/>
              </a:rPr>
              <a:t>Demostración Guiada</a:t>
            </a:r>
          </a:p>
        </p:txBody>
      </p:sp>
      <p:sp>
        <p:nvSpPr>
          <p:cNvPr id="10" name="TextBox 9"/>
          <p:cNvSpPr txBox="1"/>
          <p:nvPr/>
        </p:nvSpPr>
        <p:spPr>
          <a:xfrm>
            <a:off x="2118419" y="3918689"/>
            <a:ext cx="278010" cy="304800"/>
          </a:xfrm>
          <a:prstGeom prst="rect">
            <a:avLst/>
          </a:prstGeom>
          <a:noFill/>
        </p:spPr>
        <p:txBody>
          <a:bodyPr wrap="square" lIns="0" rIns="0" tIns="0" bIns="0">
            <a:normAutofit/>
          </a:bodyPr>
          <a:lstStyle/>
          <a:p>
            <a:pPr algn="l">
              <a:lnSpc>
                <a:spcPct val="90000"/>
              </a:lnSpc>
            </a:pPr>
            <a:r>
              <a:rPr sz="2400" b="1">
                <a:solidFill>
                  <a:srgbClr val="111827"/>
                </a:solidFill>
                <a:latin typeface="Quicksand Bold"/>
              </a:rPr>
              <a:t>3</a:t>
            </a:r>
          </a:p>
        </p:txBody>
      </p:sp>
      <p:sp>
        <p:nvSpPr>
          <p:cNvPr id="11" name="TextBox 10"/>
          <p:cNvSpPr txBox="1"/>
          <p:nvPr/>
        </p:nvSpPr>
        <p:spPr>
          <a:xfrm>
            <a:off x="2743200" y="3642464"/>
            <a:ext cx="13811250" cy="1280070"/>
          </a:xfrm>
          <a:prstGeom prst="rect">
            <a:avLst/>
          </a:prstGeom>
          <a:noFill/>
        </p:spPr>
        <p:txBody>
          <a:bodyPr wrap="square" lIns="0" rIns="0" tIns="0" bIns="0">
            <a:normAutofit/>
          </a:bodyPr>
          <a:lstStyle/>
          <a:p>
            <a:pPr algn="l">
              <a:lnSpc>
                <a:spcPct val="126000"/>
              </a:lnSpc>
            </a:pPr>
            <a:r>
              <a:rPr sz="2400" b="1">
                <a:solidFill>
                  <a:srgbClr val="0F1519"/>
                </a:solidFill>
                <a:latin typeface="Quicksand Bold"/>
              </a:rPr>
              <a:t>Énfasis</a:t>
            </a:r>
            <a:r>
              <a:rPr sz="2400">
                <a:solidFill>
                  <a:srgbClr val="0F1519"/>
                </a:solidFill>
                <a:latin typeface="Quicksand"/>
              </a:rPr>
              <a:t>: Coloreamos en gris todos los productos excepto los dos críticos, que resaltamos en </a:t>
            </a:r>
            <a:r>
              <a:rPr sz="2400" b="1">
                <a:solidFill>
                  <a:srgbClr val="0F1519"/>
                </a:solidFill>
                <a:latin typeface="Quicksand Bold"/>
              </a:rPr>
              <a:t>azul oscuro</a:t>
            </a:r>
            <a:r>
              <a:rPr sz="2400">
                <a:solidFill>
                  <a:srgbClr val="0F1519"/>
                </a:solidFill>
                <a:latin typeface="Quicksand"/>
              </a:rPr>
              <a:t>. Esta diferenciación visual guía el ojo del espectador inmediatamente hacia los datos más relevantes, reforzando el mensaje de los productos que impulsan la caída en ingresos.</a:t>
            </a:r>
          </a:p>
        </p:txBody>
      </p:sp>
      <p:sp>
        <p:nvSpPr>
          <p:cNvPr id="12" name="TextBox 11"/>
          <p:cNvSpPr txBox="1"/>
          <p:nvPr/>
        </p:nvSpPr>
        <p:spPr>
          <a:xfrm>
            <a:off x="2110606" y="5579759"/>
            <a:ext cx="293637" cy="304800"/>
          </a:xfrm>
          <a:prstGeom prst="rect">
            <a:avLst/>
          </a:prstGeom>
          <a:noFill/>
        </p:spPr>
        <p:txBody>
          <a:bodyPr wrap="square" lIns="0" rIns="0" tIns="0" bIns="0">
            <a:normAutofit/>
          </a:bodyPr>
          <a:lstStyle/>
          <a:p>
            <a:pPr algn="l">
              <a:lnSpc>
                <a:spcPct val="90000"/>
              </a:lnSpc>
            </a:pPr>
            <a:r>
              <a:rPr sz="2400" b="1">
                <a:solidFill>
                  <a:srgbClr val="111827"/>
                </a:solidFill>
                <a:latin typeface="Quicksand Bold"/>
              </a:rPr>
              <a:t>4</a:t>
            </a:r>
          </a:p>
        </p:txBody>
      </p:sp>
      <p:sp>
        <p:nvSpPr>
          <p:cNvPr id="13" name="TextBox 12"/>
          <p:cNvSpPr txBox="1"/>
          <p:nvPr/>
        </p:nvSpPr>
        <p:spPr>
          <a:xfrm>
            <a:off x="2743200" y="5303534"/>
            <a:ext cx="13811250" cy="1706760"/>
          </a:xfrm>
          <a:prstGeom prst="rect">
            <a:avLst/>
          </a:prstGeom>
          <a:noFill/>
        </p:spPr>
        <p:txBody>
          <a:bodyPr wrap="square" lIns="0" rIns="0" tIns="0" bIns="0">
            <a:normAutofit/>
          </a:bodyPr>
          <a:lstStyle/>
          <a:p>
            <a:pPr algn="l">
              <a:lnSpc>
                <a:spcPct val="126000"/>
              </a:lnSpc>
            </a:pPr>
            <a:r>
              <a:rPr sz="2400" b="1">
                <a:solidFill>
                  <a:srgbClr val="0F1519"/>
                </a:solidFill>
                <a:latin typeface="Quicksand Bold"/>
              </a:rPr>
              <a:t>Narrativa</a:t>
            </a:r>
            <a:r>
              <a:rPr sz="2400">
                <a:solidFill>
                  <a:srgbClr val="0F1519"/>
                </a:solidFill>
                <a:latin typeface="Quicksand"/>
              </a:rPr>
              <a:t>: Incorporamos un título descriptivo: </a:t>
            </a:r>
            <a:r>
              <a:rPr sz="2400" b="1">
                <a:solidFill>
                  <a:srgbClr val="0F1519"/>
                </a:solidFill>
                <a:latin typeface="Quicksand Bold"/>
              </a:rPr>
              <a:t>'La caída en ventas de Accesorios y Calzado explica el 12% del déficit trimestral'</a:t>
            </a:r>
            <a:r>
              <a:rPr sz="2400">
                <a:solidFill>
                  <a:srgbClr val="0F1519"/>
                </a:solidFill>
                <a:latin typeface="Quicksand"/>
              </a:rPr>
              <a:t>. Un título claro y conciso transforma el gráfico de una mera colección de datos a una historia coherente, proporcionando contexto y el impacto clave de la información.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3281362" y="1862137"/>
            <a:ext cx="6562725" cy="6562725"/>
          </a:xfrm>
          <a:prstGeom prst="rect">
            <a:avLst/>
          </a:prstGeom>
        </p:spPr>
      </p:pic>
      <p:pic>
        <p:nvPicPr>
          <p:cNvPr id="3" name="Picture 2" descr="image.png"/>
          <p:cNvPicPr>
            <a:picLocks noChangeAspect="1"/>
          </p:cNvPicPr>
          <p:nvPr/>
        </p:nvPicPr>
        <p:blipFill>
          <a:blip r:embed="rId3"/>
          <a:stretch>
            <a:fillRect/>
          </a:stretch>
        </p:blipFill>
        <p:spPr>
          <a:xfrm>
            <a:off x="14449424" y="2352675"/>
            <a:ext cx="7677149" cy="5581649"/>
          </a:xfrm>
          <a:prstGeom prst="rect">
            <a:avLst/>
          </a:prstGeom>
        </p:spPr>
      </p:pic>
      <p:sp>
        <p:nvSpPr>
          <p:cNvPr id="4" name="Rounded Rectangle 3"/>
          <p:cNvSpPr/>
          <p:nvPr/>
        </p:nvSpPr>
        <p:spPr>
          <a:xfrm>
            <a:off x="2557462" y="2667000"/>
            <a:ext cx="13173075" cy="2849880"/>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96124" y="2324100"/>
            <a:ext cx="4095749" cy="685800"/>
          </a:xfrm>
          <a:prstGeom prst="roundRect">
            <a:avLst>
              <a:gd name="adj" fmla="val 8333"/>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48525" y="2419349"/>
            <a:ext cx="3790949" cy="495299"/>
          </a:xfrm>
          <a:prstGeom prst="rect">
            <a:avLst/>
          </a:prstGeom>
          <a:noFill/>
        </p:spPr>
        <p:txBody>
          <a:bodyPr wrap="square" anchor="ctr">
            <a:spAutoFit/>
          </a:bodyPr>
          <a:lstStyle/>
          <a:p>
            <a:pPr algn="ctr">
              <a:lnSpc>
                <a:spcPct val="99000"/>
              </a:lnSpc>
            </a:pPr>
            <a:r>
              <a:rPr sz="2175" b="1">
                <a:solidFill>
                  <a:srgbClr val="0F151A"/>
                </a:solidFill>
                <a:latin typeface="Quicksand Bold"/>
              </a:rPr>
              <a:t>¿Verdadero o falso?</a:t>
            </a:r>
          </a:p>
        </p:txBody>
      </p:sp>
      <p:sp>
        <p:nvSpPr>
          <p:cNvPr id="7" name="TextBox 6"/>
          <p:cNvSpPr txBox="1"/>
          <p:nvPr/>
        </p:nvSpPr>
        <p:spPr>
          <a:xfrm>
            <a:off x="3014662" y="3200400"/>
            <a:ext cx="12258675" cy="1783080"/>
          </a:xfrm>
          <a:prstGeom prst="rect">
            <a:avLst/>
          </a:prstGeom>
          <a:noFill/>
        </p:spPr>
        <p:txBody>
          <a:bodyPr wrap="square" anchor="ctr">
            <a:spAutoFit/>
          </a:bodyPr>
          <a:lstStyle/>
          <a:p>
            <a:pPr algn="ctr">
              <a:lnSpc>
                <a:spcPct val="117000"/>
              </a:lnSpc>
            </a:pPr>
            <a:r>
              <a:rPr sz="3600">
                <a:solidFill>
                  <a:srgbClr val="0F151A"/>
                </a:solidFill>
                <a:latin typeface="Rubik"/>
              </a:rPr>
              <a:t>Truncar el eje Y en un gráfico de barras es una práctica aceptable para resaltar pequeñas diferencias entre categorías.</a:t>
            </a:r>
          </a:p>
        </p:txBody>
      </p:sp>
      <p:sp>
        <p:nvSpPr>
          <p:cNvPr id="8" name="Rounded Rectangle 7"/>
          <p:cNvSpPr/>
          <p:nvPr/>
        </p:nvSpPr>
        <p:spPr>
          <a:xfrm>
            <a:off x="1281112" y="6812280"/>
            <a:ext cx="4267199" cy="990599"/>
          </a:xfrm>
          <a:prstGeom prst="roundRect">
            <a:avLst>
              <a:gd name="adj" fmla="val 8333"/>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8262" y="7040880"/>
            <a:ext cx="4152899" cy="533399"/>
          </a:xfrm>
          <a:prstGeom prst="rect">
            <a:avLst/>
          </a:prstGeom>
          <a:noFill/>
        </p:spPr>
        <p:txBody>
          <a:bodyPr wrap="square" anchor="ctr">
            <a:spAutoFit/>
          </a:bodyPr>
          <a:lstStyle/>
          <a:p>
            <a:pPr algn="ctr">
              <a:lnSpc>
                <a:spcPct val="90000"/>
              </a:lnSpc>
            </a:pPr>
            <a:r>
              <a:rPr sz="3300" b="1">
                <a:solidFill>
                  <a:srgbClr val="FFFFFF"/>
                </a:solidFill>
                <a:latin typeface="Quicksand Bold"/>
              </a:rPr>
              <a:t>← Falso</a:t>
            </a:r>
          </a:p>
        </p:txBody>
      </p:sp>
      <p:sp>
        <p:nvSpPr>
          <p:cNvPr id="10" name="Rounded Rectangle 9"/>
          <p:cNvSpPr/>
          <p:nvPr/>
        </p:nvSpPr>
        <p:spPr>
          <a:xfrm>
            <a:off x="12739687" y="6812280"/>
            <a:ext cx="4267199" cy="990599"/>
          </a:xfrm>
          <a:prstGeom prst="roundRect">
            <a:avLst>
              <a:gd name="adj" fmla="val 8333"/>
            </a:avLst>
          </a:prstGeom>
          <a:solidFill>
            <a:srgbClr val="38B8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796837" y="7040880"/>
            <a:ext cx="4152899" cy="533399"/>
          </a:xfrm>
          <a:prstGeom prst="rect">
            <a:avLst/>
          </a:prstGeom>
          <a:noFill/>
        </p:spPr>
        <p:txBody>
          <a:bodyPr wrap="square" anchor="ctr">
            <a:spAutoFit/>
          </a:bodyPr>
          <a:lstStyle/>
          <a:p>
            <a:pPr algn="ctr">
              <a:lnSpc>
                <a:spcPct val="90000"/>
              </a:lnSpc>
            </a:pPr>
            <a:r>
              <a:rPr sz="3300" b="1">
                <a:solidFill>
                  <a:srgbClr val="FFFFFF"/>
                </a:solidFill>
                <a:latin typeface="Quicksand Bold"/>
              </a:rPr>
              <a:t>Verdadero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5716250" y="6953249"/>
            <a:ext cx="2533649" cy="3333749"/>
          </a:xfrm>
          <a:prstGeom prst="rect">
            <a:avLst/>
          </a:prstGeom>
        </p:spPr>
      </p:pic>
      <p:sp>
        <p:nvSpPr>
          <p:cNvPr id="3" name="Rounded Rectangle 2"/>
          <p:cNvSpPr/>
          <p:nvPr/>
        </p:nvSpPr>
        <p:spPr>
          <a:xfrm>
            <a:off x="2557462" y="1619250"/>
            <a:ext cx="2552700" cy="800100"/>
          </a:xfrm>
          <a:prstGeom prst="roundRect">
            <a:avLst>
              <a:gd name="adj" fmla="val 12500"/>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652712" y="1752599"/>
            <a:ext cx="2362199" cy="533399"/>
          </a:xfrm>
          <a:prstGeom prst="rect">
            <a:avLst/>
          </a:prstGeom>
          <a:noFill/>
        </p:spPr>
        <p:txBody>
          <a:bodyPr wrap="square" anchor="ctr">
            <a:spAutoFit/>
          </a:bodyPr>
          <a:lstStyle/>
          <a:p>
            <a:pPr algn="ctr">
              <a:lnSpc>
                <a:spcPct val="90000"/>
              </a:lnSpc>
            </a:pPr>
            <a:r>
              <a:rPr sz="2700" b="1">
                <a:solidFill>
                  <a:srgbClr val="FFFFFF"/>
                </a:solidFill>
                <a:latin typeface="Quicksand Bold"/>
              </a:rPr>
              <a:t>✕ Falso</a:t>
            </a:r>
          </a:p>
        </p:txBody>
      </p:sp>
      <p:sp>
        <p:nvSpPr>
          <p:cNvPr id="5" name="Rounded Rectangle 4"/>
          <p:cNvSpPr/>
          <p:nvPr/>
        </p:nvSpPr>
        <p:spPr>
          <a:xfrm>
            <a:off x="2557462" y="2647949"/>
            <a:ext cx="13173075" cy="1501140"/>
          </a:xfrm>
          <a:prstGeom prst="roundRect">
            <a:avLst>
              <a:gd name="adj" fmla="val 4166"/>
            </a:avLst>
          </a:prstGeom>
          <a:solidFill>
            <a:srgbClr val="FF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57462" y="2647949"/>
            <a:ext cx="57150" cy="1501140"/>
          </a:xfrm>
          <a:prstGeom prst="rect">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62262" y="2914650"/>
            <a:ext cx="12563474" cy="967740"/>
          </a:xfrm>
          <a:prstGeom prst="rect">
            <a:avLst/>
          </a:prstGeom>
          <a:noFill/>
        </p:spPr>
        <p:txBody>
          <a:bodyPr wrap="square" anchor="ctr">
            <a:spAutoFit/>
          </a:bodyPr>
          <a:lstStyle/>
          <a:p>
            <a:pPr algn="l">
              <a:lnSpc>
                <a:spcPct val="117000"/>
              </a:lnSpc>
            </a:pPr>
            <a:r>
              <a:rPr sz="2700" i="1">
                <a:solidFill>
                  <a:srgbClr val="0F151A"/>
                </a:solidFill>
                <a:latin typeface="Rubik Italic"/>
              </a:rPr>
              <a:t>Truncar el eje Y en un gráfico de barras es una práctica aceptable para resaltar pequeñas diferencias entre categorías.</a:t>
            </a:r>
          </a:p>
        </p:txBody>
      </p:sp>
      <p:sp>
        <p:nvSpPr>
          <p:cNvPr id="8" name="Rounded Rectangle 7"/>
          <p:cNvSpPr/>
          <p:nvPr/>
        </p:nvSpPr>
        <p:spPr>
          <a:xfrm>
            <a:off x="2557462" y="4377690"/>
            <a:ext cx="13173075" cy="3558540"/>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4662" y="4739640"/>
            <a:ext cx="12258675" cy="361950"/>
          </a:xfrm>
          <a:prstGeom prst="rect">
            <a:avLst/>
          </a:prstGeom>
          <a:noFill/>
        </p:spPr>
        <p:txBody>
          <a:bodyPr wrap="square">
            <a:spAutoFit/>
          </a:bodyPr>
          <a:lstStyle/>
          <a:p>
            <a:pPr algn="l">
              <a:lnSpc>
                <a:spcPct val="99000"/>
              </a:lnSpc>
            </a:pPr>
            <a:r>
              <a:rPr sz="2175" b="1">
                <a:solidFill>
                  <a:srgbClr val="6F7F8B"/>
                </a:solidFill>
                <a:latin typeface="Quicksand Bold"/>
              </a:rPr>
              <a:t>Explicación</a:t>
            </a:r>
          </a:p>
        </p:txBody>
      </p:sp>
      <p:sp>
        <p:nvSpPr>
          <p:cNvPr id="10" name="TextBox 9"/>
          <p:cNvSpPr txBox="1"/>
          <p:nvPr/>
        </p:nvSpPr>
        <p:spPr>
          <a:xfrm>
            <a:off x="3014662" y="5177790"/>
            <a:ext cx="12258675" cy="2377440"/>
          </a:xfrm>
          <a:prstGeom prst="rect">
            <a:avLst/>
          </a:prstGeom>
          <a:noFill/>
        </p:spPr>
        <p:txBody>
          <a:bodyPr wrap="square">
            <a:spAutoFit/>
          </a:bodyPr>
          <a:lstStyle/>
          <a:p>
            <a:pPr algn="l">
              <a:lnSpc>
                <a:spcPct val="117000"/>
              </a:lnSpc>
            </a:pPr>
            <a:r>
              <a:rPr sz="3600">
                <a:solidFill>
                  <a:srgbClr val="0F151A"/>
                </a:solidFill>
                <a:latin typeface="Rubik"/>
              </a:rPr>
              <a:t>En los gráficos de barras, la longitud representa el valor. Al truncar el eje, se distorsiona la proporción visual y se exagera la diferencia de forma engañosa.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3281362" y="1862137"/>
            <a:ext cx="6562725" cy="6562725"/>
          </a:xfrm>
          <a:prstGeom prst="rect">
            <a:avLst/>
          </a:prstGeom>
        </p:spPr>
      </p:pic>
      <p:pic>
        <p:nvPicPr>
          <p:cNvPr id="3" name="Picture 2" descr="image.png"/>
          <p:cNvPicPr>
            <a:picLocks noChangeAspect="1"/>
          </p:cNvPicPr>
          <p:nvPr/>
        </p:nvPicPr>
        <p:blipFill>
          <a:blip r:embed="rId3"/>
          <a:stretch>
            <a:fillRect/>
          </a:stretch>
        </p:blipFill>
        <p:spPr>
          <a:xfrm>
            <a:off x="14449424" y="2352675"/>
            <a:ext cx="7677149" cy="5581649"/>
          </a:xfrm>
          <a:prstGeom prst="rect">
            <a:avLst/>
          </a:prstGeom>
        </p:spPr>
      </p:pic>
      <p:sp>
        <p:nvSpPr>
          <p:cNvPr id="4" name="Rounded Rectangle 3"/>
          <p:cNvSpPr/>
          <p:nvPr/>
        </p:nvSpPr>
        <p:spPr>
          <a:xfrm>
            <a:off x="2557462" y="2667000"/>
            <a:ext cx="13173075" cy="2849880"/>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96124" y="2324100"/>
            <a:ext cx="4095749" cy="685800"/>
          </a:xfrm>
          <a:prstGeom prst="roundRect">
            <a:avLst>
              <a:gd name="adj" fmla="val 8333"/>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48525" y="2419349"/>
            <a:ext cx="3790949" cy="495299"/>
          </a:xfrm>
          <a:prstGeom prst="rect">
            <a:avLst/>
          </a:prstGeom>
          <a:noFill/>
        </p:spPr>
        <p:txBody>
          <a:bodyPr wrap="square" anchor="ctr">
            <a:spAutoFit/>
          </a:bodyPr>
          <a:lstStyle/>
          <a:p>
            <a:pPr algn="ctr">
              <a:lnSpc>
                <a:spcPct val="99000"/>
              </a:lnSpc>
            </a:pPr>
            <a:r>
              <a:rPr sz="2175" b="1">
                <a:solidFill>
                  <a:srgbClr val="0F151A"/>
                </a:solidFill>
                <a:latin typeface="Quicksand Bold"/>
              </a:rPr>
              <a:t>¿Verdadero o falso?</a:t>
            </a:r>
          </a:p>
        </p:txBody>
      </p:sp>
      <p:sp>
        <p:nvSpPr>
          <p:cNvPr id="7" name="TextBox 6"/>
          <p:cNvSpPr txBox="1"/>
          <p:nvPr/>
        </p:nvSpPr>
        <p:spPr>
          <a:xfrm>
            <a:off x="3014662" y="3200400"/>
            <a:ext cx="12258675" cy="1783080"/>
          </a:xfrm>
          <a:prstGeom prst="rect">
            <a:avLst/>
          </a:prstGeom>
          <a:noFill/>
        </p:spPr>
        <p:txBody>
          <a:bodyPr wrap="square" anchor="ctr">
            <a:spAutoFit/>
          </a:bodyPr>
          <a:lstStyle/>
          <a:p>
            <a:pPr algn="ctr">
              <a:lnSpc>
                <a:spcPct val="117000"/>
              </a:lnSpc>
            </a:pPr>
            <a:r>
              <a:rPr sz="3600">
                <a:solidFill>
                  <a:srgbClr val="0F151A"/>
                </a:solidFill>
                <a:latin typeface="Rubik"/>
              </a:rPr>
              <a:t>Es ético omitir *outliers* (valores atípicos) en un análisis explicativo si estos distraen del mensaje principal que queremos dar.</a:t>
            </a:r>
          </a:p>
        </p:txBody>
      </p:sp>
      <p:sp>
        <p:nvSpPr>
          <p:cNvPr id="8" name="Rounded Rectangle 7"/>
          <p:cNvSpPr/>
          <p:nvPr/>
        </p:nvSpPr>
        <p:spPr>
          <a:xfrm>
            <a:off x="1281112" y="6812280"/>
            <a:ext cx="4267199" cy="990599"/>
          </a:xfrm>
          <a:prstGeom prst="roundRect">
            <a:avLst>
              <a:gd name="adj" fmla="val 8333"/>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8262" y="7040880"/>
            <a:ext cx="4152899" cy="533399"/>
          </a:xfrm>
          <a:prstGeom prst="rect">
            <a:avLst/>
          </a:prstGeom>
          <a:noFill/>
        </p:spPr>
        <p:txBody>
          <a:bodyPr wrap="square" anchor="ctr">
            <a:spAutoFit/>
          </a:bodyPr>
          <a:lstStyle/>
          <a:p>
            <a:pPr algn="ctr">
              <a:lnSpc>
                <a:spcPct val="90000"/>
              </a:lnSpc>
            </a:pPr>
            <a:r>
              <a:rPr sz="3300" b="1">
                <a:solidFill>
                  <a:srgbClr val="FFFFFF"/>
                </a:solidFill>
                <a:latin typeface="Quicksand Bold"/>
              </a:rPr>
              <a:t>← Falso</a:t>
            </a:r>
          </a:p>
        </p:txBody>
      </p:sp>
      <p:sp>
        <p:nvSpPr>
          <p:cNvPr id="10" name="Rounded Rectangle 9"/>
          <p:cNvSpPr/>
          <p:nvPr/>
        </p:nvSpPr>
        <p:spPr>
          <a:xfrm>
            <a:off x="12739687" y="6812280"/>
            <a:ext cx="4267199" cy="990599"/>
          </a:xfrm>
          <a:prstGeom prst="roundRect">
            <a:avLst>
              <a:gd name="adj" fmla="val 8333"/>
            </a:avLst>
          </a:prstGeom>
          <a:solidFill>
            <a:srgbClr val="38B8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796837" y="7040880"/>
            <a:ext cx="4152899" cy="533399"/>
          </a:xfrm>
          <a:prstGeom prst="rect">
            <a:avLst/>
          </a:prstGeom>
          <a:noFill/>
        </p:spPr>
        <p:txBody>
          <a:bodyPr wrap="square" anchor="ctr">
            <a:spAutoFit/>
          </a:bodyPr>
          <a:lstStyle/>
          <a:p>
            <a:pPr algn="ctr">
              <a:lnSpc>
                <a:spcPct val="90000"/>
              </a:lnSpc>
            </a:pPr>
            <a:r>
              <a:rPr sz="3300" b="1">
                <a:solidFill>
                  <a:srgbClr val="FFFFFF"/>
                </a:solidFill>
                <a:latin typeface="Quicksand Bold"/>
              </a:rPr>
              <a:t>Verdadero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5716250" y="6953249"/>
            <a:ext cx="2533649" cy="3333749"/>
          </a:xfrm>
          <a:prstGeom prst="rect">
            <a:avLst/>
          </a:prstGeom>
        </p:spPr>
      </p:pic>
      <p:sp>
        <p:nvSpPr>
          <p:cNvPr id="3" name="Rounded Rectangle 2"/>
          <p:cNvSpPr/>
          <p:nvPr/>
        </p:nvSpPr>
        <p:spPr>
          <a:xfrm>
            <a:off x="2557462" y="1619250"/>
            <a:ext cx="2552700" cy="800100"/>
          </a:xfrm>
          <a:prstGeom prst="roundRect">
            <a:avLst>
              <a:gd name="adj" fmla="val 12500"/>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652712" y="1752599"/>
            <a:ext cx="2362199" cy="533399"/>
          </a:xfrm>
          <a:prstGeom prst="rect">
            <a:avLst/>
          </a:prstGeom>
          <a:noFill/>
        </p:spPr>
        <p:txBody>
          <a:bodyPr wrap="square" anchor="ctr">
            <a:spAutoFit/>
          </a:bodyPr>
          <a:lstStyle/>
          <a:p>
            <a:pPr algn="ctr">
              <a:lnSpc>
                <a:spcPct val="90000"/>
              </a:lnSpc>
            </a:pPr>
            <a:r>
              <a:rPr sz="2700" b="1">
                <a:solidFill>
                  <a:srgbClr val="FFFFFF"/>
                </a:solidFill>
                <a:latin typeface="Quicksand Bold"/>
              </a:rPr>
              <a:t>✕ Falso</a:t>
            </a:r>
          </a:p>
        </p:txBody>
      </p:sp>
      <p:sp>
        <p:nvSpPr>
          <p:cNvPr id="5" name="Rounded Rectangle 4"/>
          <p:cNvSpPr/>
          <p:nvPr/>
        </p:nvSpPr>
        <p:spPr>
          <a:xfrm>
            <a:off x="2557462" y="2647949"/>
            <a:ext cx="13173075" cy="1501140"/>
          </a:xfrm>
          <a:prstGeom prst="roundRect">
            <a:avLst>
              <a:gd name="adj" fmla="val 4166"/>
            </a:avLst>
          </a:prstGeom>
          <a:solidFill>
            <a:srgbClr val="FF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57462" y="2647949"/>
            <a:ext cx="57150" cy="1501140"/>
          </a:xfrm>
          <a:prstGeom prst="rect">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62262" y="2914650"/>
            <a:ext cx="12563474" cy="967740"/>
          </a:xfrm>
          <a:prstGeom prst="rect">
            <a:avLst/>
          </a:prstGeom>
          <a:noFill/>
        </p:spPr>
        <p:txBody>
          <a:bodyPr wrap="square" anchor="ctr">
            <a:spAutoFit/>
          </a:bodyPr>
          <a:lstStyle/>
          <a:p>
            <a:pPr algn="l">
              <a:lnSpc>
                <a:spcPct val="117000"/>
              </a:lnSpc>
            </a:pPr>
            <a:r>
              <a:rPr sz="2700" i="1">
                <a:solidFill>
                  <a:srgbClr val="0F151A"/>
                </a:solidFill>
                <a:latin typeface="Rubik Italic"/>
              </a:rPr>
              <a:t>Es ético omitir *outliers* (valores atípicos) en un análisis explicativo si estos distraen del mensaje principal que queremos dar.</a:t>
            </a:r>
          </a:p>
        </p:txBody>
      </p:sp>
      <p:sp>
        <p:nvSpPr>
          <p:cNvPr id="8" name="Rounded Rectangle 7"/>
          <p:cNvSpPr/>
          <p:nvPr/>
        </p:nvSpPr>
        <p:spPr>
          <a:xfrm>
            <a:off x="2557462" y="4377690"/>
            <a:ext cx="13173075" cy="3558540"/>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4662" y="4739640"/>
            <a:ext cx="12258675" cy="361950"/>
          </a:xfrm>
          <a:prstGeom prst="rect">
            <a:avLst/>
          </a:prstGeom>
          <a:noFill/>
        </p:spPr>
        <p:txBody>
          <a:bodyPr wrap="square">
            <a:spAutoFit/>
          </a:bodyPr>
          <a:lstStyle/>
          <a:p>
            <a:pPr algn="l">
              <a:lnSpc>
                <a:spcPct val="99000"/>
              </a:lnSpc>
            </a:pPr>
            <a:r>
              <a:rPr sz="2175" b="1">
                <a:solidFill>
                  <a:srgbClr val="6F7F8B"/>
                </a:solidFill>
                <a:latin typeface="Quicksand Bold"/>
              </a:rPr>
              <a:t>Explicación</a:t>
            </a:r>
          </a:p>
        </p:txBody>
      </p:sp>
      <p:sp>
        <p:nvSpPr>
          <p:cNvPr id="10" name="TextBox 9"/>
          <p:cNvSpPr txBox="1"/>
          <p:nvPr/>
        </p:nvSpPr>
        <p:spPr>
          <a:xfrm>
            <a:off x="3014662" y="5177790"/>
            <a:ext cx="12258675" cy="2377440"/>
          </a:xfrm>
          <a:prstGeom prst="rect">
            <a:avLst/>
          </a:prstGeom>
          <a:noFill/>
        </p:spPr>
        <p:txBody>
          <a:bodyPr wrap="square">
            <a:spAutoFit/>
          </a:bodyPr>
          <a:lstStyle/>
          <a:p>
            <a:pPr algn="l">
              <a:lnSpc>
                <a:spcPct val="117000"/>
              </a:lnSpc>
            </a:pPr>
            <a:r>
              <a:rPr sz="3600">
                <a:solidFill>
                  <a:srgbClr val="0F151A"/>
                </a:solidFill>
                <a:latin typeface="Rubik"/>
              </a:rPr>
              <a:t>Los *outliers* deben ser explicados o tratados estadísticamente, pero omitirlos sin mención oculta información que podría ser crítica para la toma de decisiones.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714500" y="1523999"/>
            <a:ext cx="3990974" cy="609600"/>
          </a:xfrm>
          <a:prstGeom prst="roundRect">
            <a:avLst>
              <a:gd name="adj" fmla="val 100000"/>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7e063b67-eb3d-4bfd-bb7f-4c066c00e415.png"/>
          <p:cNvPicPr>
            <a:picLocks noChangeAspect="1"/>
          </p:cNvPicPr>
          <p:nvPr/>
        </p:nvPicPr>
        <p:blipFill>
          <a:blip r:embed="rId2"/>
          <a:stretch>
            <a:fillRect/>
          </a:stretch>
        </p:blipFill>
        <p:spPr>
          <a:xfrm>
            <a:off x="1962149" y="1695449"/>
            <a:ext cx="266699" cy="266699"/>
          </a:xfrm>
          <a:prstGeom prst="rect">
            <a:avLst/>
          </a:prstGeom>
        </p:spPr>
      </p:pic>
      <p:pic>
        <p:nvPicPr>
          <p:cNvPr id="4" name="Picture 3" descr="081fac3c-82b0-4bfe-b30e-8715d3d9cae8.png"/>
          <p:cNvPicPr>
            <a:picLocks noChangeAspect="1"/>
          </p:cNvPicPr>
          <p:nvPr/>
        </p:nvPicPr>
        <p:blipFill>
          <a:blip r:embed="rId3"/>
          <a:stretch>
            <a:fillRect/>
          </a:stretch>
        </p:blipFill>
        <p:spPr>
          <a:xfrm>
            <a:off x="1714500" y="7715250"/>
            <a:ext cx="57150" cy="857250"/>
          </a:xfrm>
          <a:prstGeom prst="rect">
            <a:avLst/>
          </a:prstGeom>
        </p:spPr>
      </p:pic>
      <p:pic>
        <p:nvPicPr>
          <p:cNvPr id="5" name="Picture 4" descr="3c3eea73-c1c4-4a3c-b29d-09f6ebe5809e.png"/>
          <p:cNvPicPr>
            <a:picLocks noChangeAspect="1"/>
          </p:cNvPicPr>
          <p:nvPr/>
        </p:nvPicPr>
        <p:blipFill>
          <a:blip r:embed="rId4"/>
          <a:stretch>
            <a:fillRect/>
          </a:stretch>
        </p:blipFill>
        <p:spPr>
          <a:xfrm>
            <a:off x="15620999" y="7048500"/>
            <a:ext cx="2095499" cy="3238500"/>
          </a:xfrm>
          <a:prstGeom prst="rect">
            <a:avLst/>
          </a:prstGeom>
        </p:spPr>
      </p:pic>
      <p:sp>
        <p:nvSpPr>
          <p:cNvPr id="6" name="TextBox 5"/>
          <p:cNvSpPr txBox="1"/>
          <p:nvPr/>
        </p:nvSpPr>
        <p:spPr>
          <a:xfrm>
            <a:off x="11811000" y="571500"/>
            <a:ext cx="5715000" cy="10477499"/>
          </a:xfrm>
          <a:prstGeom prst="rect">
            <a:avLst/>
          </a:prstGeom>
          <a:noFill/>
        </p:spPr>
        <p:txBody>
          <a:bodyPr wrap="square" lIns="0" rIns="0" tIns="0" bIns="0">
            <a:normAutofit/>
          </a:bodyPr>
          <a:lstStyle/>
          <a:p>
            <a:pPr algn="r">
              <a:lnSpc>
                <a:spcPct val="90000"/>
              </a:lnSpc>
            </a:pPr>
            <a:r>
              <a:rPr sz="82500" b="1">
                <a:solidFill>
                  <a:srgbClr val="EDF2FF"/>
                </a:solidFill>
                <a:latin typeface="Quicksand Bold"/>
              </a:rPr>
              <a:t>?</a:t>
            </a:r>
          </a:p>
        </p:txBody>
      </p:sp>
      <p:sp>
        <p:nvSpPr>
          <p:cNvPr id="7" name="TextBox 6"/>
          <p:cNvSpPr txBox="1"/>
          <p:nvPr/>
        </p:nvSpPr>
        <p:spPr>
          <a:xfrm>
            <a:off x="2362199" y="1657350"/>
            <a:ext cx="3095625" cy="609600"/>
          </a:xfrm>
          <a:prstGeom prst="rect">
            <a:avLst/>
          </a:prstGeom>
          <a:noFill/>
        </p:spPr>
        <p:txBody>
          <a:bodyPr wrap="square" lIns="0" rIns="0" tIns="0" bIns="0">
            <a:normAutofit/>
          </a:bodyPr>
          <a:lstStyle/>
          <a:p>
            <a:pPr algn="l">
              <a:lnSpc>
                <a:spcPct val="108000"/>
              </a:lnSpc>
            </a:pPr>
            <a:r>
              <a:rPr sz="2100" b="1">
                <a:solidFill>
                  <a:srgbClr val="0F151A"/>
                </a:solidFill>
                <a:latin typeface="Quicksand Bold"/>
              </a:rPr>
              <a:t>Momento de reflexión</a:t>
            </a:r>
          </a:p>
        </p:txBody>
      </p:sp>
      <p:sp>
        <p:nvSpPr>
          <p:cNvPr id="8" name="TextBox 7"/>
          <p:cNvSpPr txBox="1"/>
          <p:nvPr/>
        </p:nvSpPr>
        <p:spPr>
          <a:xfrm>
            <a:off x="1714500" y="2667000"/>
            <a:ext cx="10668000" cy="2514600"/>
          </a:xfrm>
          <a:prstGeom prst="rect">
            <a:avLst/>
          </a:prstGeom>
          <a:noFill/>
        </p:spPr>
        <p:txBody>
          <a:bodyPr wrap="square" lIns="0" rIns="0" tIns="0" bIns="0">
            <a:normAutofit/>
          </a:bodyPr>
          <a:lstStyle/>
          <a:p>
            <a:pPr algn="l">
              <a:lnSpc>
                <a:spcPct val="97200"/>
              </a:lnSpc>
            </a:pPr>
            <a:r>
              <a:rPr sz="6000" b="1">
                <a:solidFill>
                  <a:srgbClr val="0F151A"/>
                </a:solidFill>
                <a:latin typeface="Quicksand Bold"/>
              </a:rPr>
              <a:t>¿Cómo puedes aplicar el storytelling con datos en tu carrera profesional?</a:t>
            </a:r>
          </a:p>
        </p:txBody>
      </p:sp>
      <p:sp>
        <p:nvSpPr>
          <p:cNvPr id="9" name="TextBox 8"/>
          <p:cNvSpPr txBox="1"/>
          <p:nvPr/>
        </p:nvSpPr>
        <p:spPr>
          <a:xfrm>
            <a:off x="2000250" y="7715250"/>
            <a:ext cx="11811000" cy="857250"/>
          </a:xfrm>
          <a:prstGeom prst="rect">
            <a:avLst/>
          </a:prstGeom>
          <a:noFill/>
        </p:spPr>
        <p:txBody>
          <a:bodyPr wrap="square" lIns="0" rIns="0" tIns="0" bIns="0">
            <a:normAutofit/>
          </a:bodyPr>
          <a:lstStyle/>
          <a:p>
            <a:pPr algn="l">
              <a:lnSpc>
                <a:spcPct val="126000"/>
              </a:lnSpc>
            </a:pPr>
            <a:r>
              <a:rPr sz="2400" i="1">
                <a:solidFill>
                  <a:srgbClr val="475966"/>
                </a:solidFill>
                <a:latin typeface="Quicksand"/>
              </a:rPr>
              <a:t>Reflexiona sobre la implementación práctica y los desafíos en tu área de estudio.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594a12ee-0490-450f-84ba-27514739bcaa.png"/>
          <p:cNvPicPr>
            <a:picLocks noChangeAspect="1"/>
          </p:cNvPicPr>
          <p:nvPr/>
        </p:nvPicPr>
        <p:blipFill>
          <a:blip r:embed="rId2"/>
          <a:stretch>
            <a:fillRect/>
          </a:stretch>
        </p:blipFill>
        <p:spPr>
          <a:xfrm>
            <a:off x="16754474" y="8858250"/>
            <a:ext cx="761999" cy="761999"/>
          </a:xfrm>
          <a:prstGeom prst="rect">
            <a:avLst/>
          </a:prstGeom>
        </p:spPr>
      </p:pic>
      <p:sp>
        <p:nvSpPr>
          <p:cNvPr id="3" name="TextBox 2"/>
          <p:cNvSpPr txBox="1"/>
          <p:nvPr/>
        </p:nvSpPr>
        <p:spPr>
          <a:xfrm>
            <a:off x="1371600" y="1695449"/>
            <a:ext cx="6248400" cy="1005780"/>
          </a:xfrm>
          <a:prstGeom prst="rect">
            <a:avLst/>
          </a:prstGeom>
          <a:noFill/>
        </p:spPr>
        <p:txBody>
          <a:bodyPr wrap="square" lIns="0" rIns="0" tIns="0" bIns="0">
            <a:normAutofit/>
          </a:bodyPr>
          <a:lstStyle/>
          <a:p>
            <a:pPr algn="l">
              <a:lnSpc>
                <a:spcPct val="99000"/>
              </a:lnSpc>
            </a:pPr>
            <a:r>
              <a:rPr sz="7200" b="1">
                <a:solidFill>
                  <a:srgbClr val="0F151A"/>
                </a:solidFill>
                <a:latin typeface="Quicksand Bold"/>
              </a:rPr>
              <a:t>Conclusión</a:t>
            </a:r>
          </a:p>
        </p:txBody>
      </p:sp>
      <p:sp>
        <p:nvSpPr>
          <p:cNvPr id="4" name="TextBox 3"/>
          <p:cNvSpPr txBox="1"/>
          <p:nvPr/>
        </p:nvSpPr>
        <p:spPr>
          <a:xfrm>
            <a:off x="7619999" y="1585912"/>
            <a:ext cx="9391649" cy="7115175"/>
          </a:xfrm>
          <a:prstGeom prst="rect">
            <a:avLst/>
          </a:prstGeom>
          <a:noFill/>
        </p:spPr>
        <p:txBody>
          <a:bodyPr wrap="square" lIns="0" rIns="0" tIns="0" bIns="0">
            <a:normAutofit/>
          </a:bodyPr>
          <a:lstStyle/>
          <a:p>
            <a:pPr algn="l">
              <a:buChar char="•"/>
              <a:lnSpc>
                <a:spcPct val="126000"/>
              </a:lnSpc>
              <a:buFont typeface="Arial"/>
            </a:pPr>
            <a:r>
              <a:rPr sz="3000">
                <a:latin typeface="Quicksand"/>
              </a:rPr>
              <a:t>  </a:t>
            </a:r>
            <a:r>
              <a:rPr sz="3000">
                <a:solidFill>
                  <a:srgbClr val="323E47"/>
                </a:solidFill>
                <a:latin typeface="Quicksand"/>
              </a:rPr>
              <a:t>El storytelling activa siete áreas cerebrales, aumentando la retención de mensajes en un 63%, frente al 5% de las estadísticas puras.</a:t>
            </a:r>
          </a:p>
          <a:p>
            <a:pPr algn="l">
              <a:lnSpc>
                <a:spcPct val="126000"/>
              </a:lnSpc>
              <a:spcBef>
                <a:spcPts val="1875"/>
              </a:spcBef>
              <a:buChar char="•"/>
              <a:buFont typeface="Arial"/>
            </a:pPr>
            <a:r>
              <a:rPr sz="3000">
                <a:latin typeface="Quicksand"/>
              </a:rPr>
              <a:t>  </a:t>
            </a:r>
            <a:r>
              <a:rPr sz="3000">
                <a:solidFill>
                  <a:srgbClr val="323E47"/>
                </a:solidFill>
                <a:latin typeface="Quicksand"/>
              </a:rPr>
              <a:t>Diferenciar entre análisis exploratorio y explicativo es crucial para comunicar hallazgos específicos, evitando el 'data dump'.</a:t>
            </a:r>
          </a:p>
          <a:p>
            <a:pPr algn="l">
              <a:lnSpc>
                <a:spcPct val="126000"/>
              </a:lnSpc>
              <a:spcBef>
                <a:spcPts val="1875"/>
              </a:spcBef>
              <a:buChar char="•"/>
              <a:buFont typeface="Arial"/>
            </a:pPr>
            <a:r>
              <a:rPr sz="3000">
                <a:latin typeface="Quicksand"/>
              </a:rPr>
              <a:t>  </a:t>
            </a:r>
            <a:r>
              <a:rPr sz="3000">
                <a:solidFill>
                  <a:srgbClr val="323E47"/>
                </a:solidFill>
                <a:latin typeface="Quicksand"/>
              </a:rPr>
              <a:t>La elección de visualizaciones y la eliminación de carga cognitiva, aplicando principios Gestalt, dirigen la atención eficazmente.</a:t>
            </a:r>
          </a:p>
          <a:p>
            <a:pPr algn="l">
              <a:lnSpc>
                <a:spcPct val="126000"/>
              </a:lnSpc>
              <a:spcBef>
                <a:spcPts val="1875"/>
              </a:spcBef>
              <a:buChar char="•"/>
              <a:buFont typeface="Arial"/>
            </a:pPr>
            <a:r>
              <a:rPr sz="3000">
                <a:latin typeface="Quicksand"/>
              </a:rPr>
              <a:t>  </a:t>
            </a:r>
            <a:r>
              <a:rPr sz="3000">
                <a:solidFill>
                  <a:srgbClr val="323E47"/>
                </a:solidFill>
                <a:latin typeface="Quicksand"/>
              </a:rPr>
              <a:t>Una estructura narrativa (Contexto, Conflicto, Clímax, Resolución) transforma los datos en una propuesta de acción clara y ética.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