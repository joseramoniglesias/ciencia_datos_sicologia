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8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Economica" panose="020B0604020202020204" charset="0"/>
      <p:regular r:id="rId28"/>
      <p:bold r:id="rId29"/>
      <p:italic r:id="rId30"/>
      <p:boldItalic r:id="rId31"/>
    </p:embeddedFont>
    <p:embeddedFont>
      <p:font typeface="Gill Sans MT" panose="020B0502020104020203" pitchFamily="34"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Trebuchet MS" panose="020B060302020202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594">
          <p15:clr>
            <a:srgbClr val="9AA0A6"/>
          </p15:clr>
        </p15:guide>
        <p15:guide id="3" orient="horz" pos="18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582739-DFEA-47E1-A5AE-512455B4713D}">
  <a:tblStyle styleId="{17582739-DFEA-47E1-A5AE-512455B4713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guide pos="2880"/>
        <p:guide orient="horz" pos="594"/>
        <p:guide orient="horz" pos="1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808bf99e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808bf99e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808bf99ef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808bf99ef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08bf99ef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08bf99ef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808bf99ef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808bf99ef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808bf99ef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808bf99ef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808bf99ef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808bf99ef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08bf99ef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08bf99ef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808bf99ef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808bf99ef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808bf99efb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808bf99ef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808bf99efb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808bf99ef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808bf99ef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808bf99ef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808bf99ef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808bf99ef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808bf99efb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808bf99efb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808bf99ef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808bf99ef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808bf99efb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808bf99ef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808bf99efb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808bf99efb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808bf99efb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808bf99efb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808bf99efb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808bf99efb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d15f654d21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d15f654d21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d15f654d21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d15f654d21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808bf99ef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808bf99ef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08bf99ef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08bf99ef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808bf99efb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808bf99ef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7818626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7818626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5">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224000"/>
            <a:ext cx="2808000" cy="3439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b" anchorCtr="0">
            <a:noAutofit/>
          </a:bodyPr>
          <a:lstStyle>
            <a:lvl1pPr marL="457200" lvl="0" indent="-228600">
              <a:lnSpc>
                <a:spcPct val="100000"/>
              </a:lnSpc>
              <a:spcBef>
                <a:spcPts val="0"/>
              </a:spcBef>
              <a:spcAft>
                <a:spcPts val="0"/>
              </a:spcAft>
              <a:buSzPts val="3600"/>
              <a:buFont typeface="Economica"/>
              <a:buNone/>
              <a:defRPr sz="36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0.gif"/></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876E2BE-1E76-0F44-8020-A654157CDF76}"/>
              </a:ext>
            </a:extLst>
          </p:cNvPr>
          <p:cNvSpPr txBox="1"/>
          <p:nvPr/>
        </p:nvSpPr>
        <p:spPr>
          <a:xfrm>
            <a:off x="1663818" y="2894244"/>
            <a:ext cx="2656496" cy="1211870"/>
          </a:xfrm>
          <a:prstGeom prst="rect">
            <a:avLst/>
          </a:prstGeom>
          <a:noFill/>
        </p:spPr>
        <p:txBody>
          <a:bodyPr wrap="none" rtlCol="0">
            <a:spAutoFit/>
          </a:bodyPr>
          <a:lstStyle/>
          <a:p>
            <a:pPr defTabSz="514350"/>
            <a:r>
              <a:rPr lang="en-US" sz="2025" dirty="0">
                <a:latin typeface="Gill Sans MT" panose="020B0502020104020203" pitchFamily="34" charset="77"/>
              </a:rPr>
              <a:t>Dr. José Ramón Iglesias</a:t>
            </a:r>
          </a:p>
          <a:p>
            <a:pPr defTabSz="514350"/>
            <a:r>
              <a:rPr lang="en-US" sz="1050" dirty="0">
                <a:solidFill>
                  <a:prstClr val="white">
                    <a:lumMod val="50000"/>
                  </a:prstClr>
                </a:solidFill>
                <a:latin typeface="Gill Sans MT" panose="020B0502020104020203" pitchFamily="34" charset="77"/>
              </a:rPr>
              <a:t>DSP-ASIC BUILDER GROUP</a:t>
            </a:r>
          </a:p>
          <a:p>
            <a:pPr defTabSz="514350"/>
            <a:r>
              <a:rPr lang="en-US" sz="1050" dirty="0">
                <a:solidFill>
                  <a:prstClr val="white">
                    <a:lumMod val="50000"/>
                  </a:prstClr>
                </a:solidFill>
                <a:latin typeface="Gill Sans MT" panose="020B0502020104020203" pitchFamily="34" charset="77"/>
              </a:rPr>
              <a:t>Director Semillero TRIAC</a:t>
            </a:r>
          </a:p>
          <a:p>
            <a:pPr defTabSz="514350"/>
            <a:r>
              <a:rPr lang="en-US" sz="1050" dirty="0">
                <a:solidFill>
                  <a:prstClr val="white">
                    <a:lumMod val="50000"/>
                  </a:prstClr>
                </a:solidFill>
                <a:latin typeface="Gill Sans MT" panose="020B0502020104020203" pitchFamily="34" charset="77"/>
              </a:rPr>
              <a:t>Ingenieria Electronica</a:t>
            </a:r>
          </a:p>
          <a:p>
            <a:pPr defTabSz="514350"/>
            <a:r>
              <a:rPr lang="en-US" sz="1050" dirty="0">
                <a:solidFill>
                  <a:prstClr val="white">
                    <a:lumMod val="50000"/>
                  </a:prstClr>
                </a:solidFill>
                <a:latin typeface="Gill Sans MT" panose="020B0502020104020203" pitchFamily="34" charset="77"/>
              </a:rPr>
              <a:t>Universidad Popular del Cesar</a:t>
            </a:r>
          </a:p>
          <a:p>
            <a:pPr defTabSz="514350"/>
            <a:endParaRPr lang="en-US" sz="1050" dirty="0">
              <a:solidFill>
                <a:prstClr val="white">
                  <a:lumMod val="50000"/>
                </a:prstClr>
              </a:solidFill>
              <a:latin typeface="Gill Sans MT" panose="020B0502020104020203" pitchFamily="34" charset="77"/>
            </a:endParaRPr>
          </a:p>
        </p:txBody>
      </p:sp>
      <p:sp>
        <p:nvSpPr>
          <p:cNvPr id="8" name="TextBox 7">
            <a:extLst>
              <a:ext uri="{FF2B5EF4-FFF2-40B4-BE49-F238E27FC236}">
                <a16:creationId xmlns:a16="http://schemas.microsoft.com/office/drawing/2014/main" id="{DA0B8274-BF81-6D48-B1EC-87E4CF24BC51}"/>
              </a:ext>
            </a:extLst>
          </p:cNvPr>
          <p:cNvSpPr txBox="1"/>
          <p:nvPr/>
        </p:nvSpPr>
        <p:spPr>
          <a:xfrm>
            <a:off x="1889184" y="1315456"/>
            <a:ext cx="5365632" cy="473206"/>
          </a:xfrm>
          <a:prstGeom prst="rect">
            <a:avLst/>
          </a:prstGeom>
          <a:noFill/>
        </p:spPr>
        <p:txBody>
          <a:bodyPr wrap="square" rtlCol="0">
            <a:spAutoFit/>
          </a:bodyPr>
          <a:lstStyle/>
          <a:p>
            <a:pPr defTabSz="514350"/>
            <a:r>
              <a:rPr lang="en-US" sz="2475" dirty="0" err="1">
                <a:latin typeface="Arial" panose="020B0604020202020204" pitchFamily="34" charset="0"/>
                <a:cs typeface="Arial" panose="020B0604020202020204" pitchFamily="34" charset="0"/>
              </a:rPr>
              <a:t>Ciencia</a:t>
            </a:r>
            <a:r>
              <a:rPr lang="en-US" sz="2475" dirty="0">
                <a:latin typeface="Arial" panose="020B0604020202020204" pitchFamily="34" charset="0"/>
                <a:cs typeface="Arial" panose="020B0604020202020204" pitchFamily="34" charset="0"/>
              </a:rPr>
              <a:t> de </a:t>
            </a:r>
            <a:r>
              <a:rPr lang="en-US" sz="2475" dirty="0" err="1">
                <a:latin typeface="Arial" panose="020B0604020202020204" pitchFamily="34" charset="0"/>
                <a:cs typeface="Arial" panose="020B0604020202020204" pitchFamily="34" charset="0"/>
              </a:rPr>
              <a:t>Datos</a:t>
            </a:r>
            <a:r>
              <a:rPr lang="en-US" sz="2475" dirty="0">
                <a:latin typeface="Arial" panose="020B0604020202020204" pitchFamily="34" charset="0"/>
                <a:cs typeface="Arial" panose="020B0604020202020204" pitchFamily="34" charset="0"/>
              </a:rPr>
              <a:t> y </a:t>
            </a:r>
            <a:r>
              <a:rPr lang="en-US" sz="2475" dirty="0" err="1">
                <a:latin typeface="Arial" panose="020B0604020202020204" pitchFamily="34" charset="0"/>
                <a:cs typeface="Arial" panose="020B0604020202020204" pitchFamily="34" charset="0"/>
              </a:rPr>
              <a:t>BigData</a:t>
            </a:r>
            <a:endParaRPr lang="en-US" sz="1125" dirty="0">
              <a:latin typeface="Gill Sans MT" panose="020B0502020104020203" pitchFamily="34" charset="77"/>
            </a:endParaRPr>
          </a:p>
        </p:txBody>
      </p:sp>
      <p:pic>
        <p:nvPicPr>
          <p:cNvPr id="5" name="Google Shape;30;p1">
            <a:extLst>
              <a:ext uri="{FF2B5EF4-FFF2-40B4-BE49-F238E27FC236}">
                <a16:creationId xmlns:a16="http://schemas.microsoft.com/office/drawing/2014/main" id="{4339DFEC-8BF3-4650-90E0-2B1293346692}"/>
              </a:ext>
            </a:extLst>
          </p:cNvPr>
          <p:cNvPicPr preferRelativeResize="0"/>
          <p:nvPr/>
        </p:nvPicPr>
        <p:blipFill rotWithShape="1">
          <a:blip r:embed="rId2">
            <a:alphaModFix/>
          </a:blip>
          <a:srcRect/>
          <a:stretch/>
        </p:blipFill>
        <p:spPr>
          <a:xfrm>
            <a:off x="1246153" y="679742"/>
            <a:ext cx="1942857" cy="635714"/>
          </a:xfrm>
          <a:prstGeom prst="rect">
            <a:avLst/>
          </a:prstGeom>
          <a:noFill/>
          <a:ln>
            <a:noFill/>
          </a:ln>
        </p:spPr>
      </p:pic>
      <p:sp>
        <p:nvSpPr>
          <p:cNvPr id="6" name="TextBox 1">
            <a:extLst>
              <a:ext uri="{FF2B5EF4-FFF2-40B4-BE49-F238E27FC236}">
                <a16:creationId xmlns:a16="http://schemas.microsoft.com/office/drawing/2014/main" id="{F0B24A3F-60C1-46BB-9F38-67F6A9D0EA23}"/>
              </a:ext>
            </a:extLst>
          </p:cNvPr>
          <p:cNvSpPr txBox="1"/>
          <p:nvPr/>
        </p:nvSpPr>
        <p:spPr>
          <a:xfrm>
            <a:off x="1143001" y="2273300"/>
            <a:ext cx="6858000" cy="369332"/>
          </a:xfrm>
          <a:prstGeom prst="rect">
            <a:avLst/>
          </a:prstGeom>
          <a:noFill/>
        </p:spPr>
        <p:txBody>
          <a:bodyPr wrap="square" rtlCol="0">
            <a:spAutoFit/>
          </a:bodyPr>
          <a:lstStyle/>
          <a:p>
            <a:pPr algn="ctr"/>
            <a:r>
              <a:rPr lang="es-CL" sz="1800" b="1" dirty="0">
                <a:latin typeface="Trebuchet MS"/>
                <a:cs typeface="Trebuchet MS"/>
              </a:rPr>
              <a:t>Análisis y Visualización de Datos – Test de Hipótesis</a:t>
            </a:r>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 sz="4400"/>
              <a:t>Prueba o Test de Hipótesis</a:t>
            </a:r>
            <a:endParaRPr sz="4400" b="1" u="sng">
              <a:solidFill>
                <a:srgbClr val="99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a:t>
            </a:r>
            <a:endParaRPr/>
          </a:p>
        </p:txBody>
      </p:sp>
      <p:sp>
        <p:nvSpPr>
          <p:cNvPr id="74" name="Google Shape;74;p1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muchos problemas se requiere tomar una decisión entre aceptar o rechazar una proposición sobre algún parámetro o alguna afirmación de una población.</a:t>
            </a:r>
            <a:endParaRPr/>
          </a:p>
          <a:p>
            <a:pPr marL="0" lvl="0" indent="0" algn="l" rtl="0">
              <a:spcBef>
                <a:spcPts val="1600"/>
              </a:spcBef>
              <a:spcAft>
                <a:spcPts val="0"/>
              </a:spcAft>
              <a:buNone/>
            </a:pPr>
            <a:r>
              <a:rPr lang="es"/>
              <a:t>Esta proposición o afirmación recibe el nombre de </a:t>
            </a:r>
            <a:r>
              <a:rPr lang="es" b="1">
                <a:solidFill>
                  <a:srgbClr val="1B786E"/>
                </a:solidFill>
              </a:rPr>
              <a:t>hipótesis estadística</a:t>
            </a:r>
            <a:r>
              <a:rPr lang="es"/>
              <a:t>, y el procedimiento de toma de decisión sobre la hipótesis se conoce como </a:t>
            </a:r>
            <a:r>
              <a:rPr lang="es" b="1">
                <a:solidFill>
                  <a:srgbClr val="A61C00"/>
                </a:solidFill>
              </a:rPr>
              <a:t>prueba o test de hipótesis</a:t>
            </a:r>
            <a:r>
              <a:rPr lang="es"/>
              <a:t>.</a:t>
            </a:r>
            <a:endParaRPr/>
          </a:p>
          <a:p>
            <a:pPr marL="0" lvl="0" indent="0" algn="l" rtl="0">
              <a:spcBef>
                <a:spcPts val="16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a:t>
            </a:r>
            <a:endParaRPr/>
          </a:p>
        </p:txBody>
      </p:sp>
      <p:sp>
        <p:nvSpPr>
          <p:cNvPr id="80" name="Google Shape;80;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400"/>
              <a:t>Se quiere testear H</a:t>
            </a:r>
            <a:r>
              <a:rPr lang="es" sz="2400" baseline="-25000"/>
              <a:t>0</a:t>
            </a:r>
            <a:r>
              <a:rPr lang="es" sz="2400"/>
              <a:t> vs H</a:t>
            </a:r>
            <a:r>
              <a:rPr lang="es" sz="2400" baseline="-25000"/>
              <a:t>1</a:t>
            </a:r>
            <a:r>
              <a:rPr lang="es" sz="2400"/>
              <a:t> </a:t>
            </a:r>
            <a:endParaRPr sz="2400"/>
          </a:p>
          <a:p>
            <a:pPr marL="0" lvl="0" indent="0" algn="l" rtl="0">
              <a:spcBef>
                <a:spcPts val="1600"/>
              </a:spcBef>
              <a:spcAft>
                <a:spcPts val="0"/>
              </a:spcAft>
              <a:buNone/>
            </a:pPr>
            <a:r>
              <a:rPr lang="es" sz="2400"/>
              <a:t>H</a:t>
            </a:r>
            <a:r>
              <a:rPr lang="es" sz="2400" baseline="-25000"/>
              <a:t>0</a:t>
            </a:r>
            <a:r>
              <a:rPr lang="es" sz="2400"/>
              <a:t>: Hipótesis nula </a:t>
            </a:r>
            <a:r>
              <a:rPr lang="es" sz="2400">
                <a:solidFill>
                  <a:srgbClr val="999999"/>
                </a:solidFill>
              </a:rPr>
              <a:t>(se le da el beneficio de la duda)</a:t>
            </a:r>
            <a:endParaRPr sz="2400">
              <a:solidFill>
                <a:srgbClr val="999999"/>
              </a:solidFill>
            </a:endParaRPr>
          </a:p>
          <a:p>
            <a:pPr marL="0" lvl="0" indent="0" algn="l" rtl="0">
              <a:spcBef>
                <a:spcPts val="1600"/>
              </a:spcBef>
              <a:spcAft>
                <a:spcPts val="0"/>
              </a:spcAft>
              <a:buNone/>
            </a:pPr>
            <a:r>
              <a:rPr lang="es" sz="2400"/>
              <a:t>H</a:t>
            </a:r>
            <a:r>
              <a:rPr lang="es" sz="2400" baseline="-25000"/>
              <a:t>1</a:t>
            </a:r>
            <a:r>
              <a:rPr lang="es" sz="2400"/>
              <a:t>: Hipótesis alternativa</a:t>
            </a:r>
            <a:endParaRPr sz="2400"/>
          </a:p>
          <a:p>
            <a:pPr marL="0" lvl="0" indent="0" algn="l" rtl="0">
              <a:spcBef>
                <a:spcPts val="1600"/>
              </a:spcBef>
              <a:spcAft>
                <a:spcPts val="0"/>
              </a:spcAft>
              <a:buNone/>
            </a:pPr>
            <a:endParaRPr sz="2400"/>
          </a:p>
          <a:p>
            <a:pPr marL="0" lvl="0" indent="0" algn="l" rtl="0">
              <a:lnSpc>
                <a:spcPct val="100000"/>
              </a:lnSpc>
              <a:spcBef>
                <a:spcPts val="1600"/>
              </a:spcBef>
              <a:spcAft>
                <a:spcPts val="0"/>
              </a:spcAft>
              <a:buClr>
                <a:schemeClr val="dk1"/>
              </a:buClr>
              <a:buSzPts val="1100"/>
              <a:buFont typeface="Arial"/>
              <a:buNone/>
            </a:pPr>
            <a:r>
              <a:rPr lang="es"/>
              <a:t>A partir de la muestra se construye o elige un estadístico (función de la muestra) para afirmar o rechazar H</a:t>
            </a:r>
            <a:r>
              <a:rPr lang="es" baseline="-25000"/>
              <a:t>0</a:t>
            </a:r>
            <a:r>
              <a:rPr lang="es"/>
              <a:t>. Se supone que la evidencia empírica (la muestra) me dará las suficientes razones para </a:t>
            </a:r>
            <a:r>
              <a:rPr lang="es" b="1">
                <a:solidFill>
                  <a:srgbClr val="A61C00"/>
                </a:solidFill>
              </a:rPr>
              <a:t>rechazar o no H</a:t>
            </a:r>
            <a:r>
              <a:rPr lang="es" b="1" baseline="-25000">
                <a:solidFill>
                  <a:srgbClr val="A61C00"/>
                </a:solidFill>
              </a:rPr>
              <a:t>0</a:t>
            </a:r>
            <a:r>
              <a:rPr lang="es" baseline="-25000"/>
              <a:t>.</a:t>
            </a:r>
            <a:endParaRPr/>
          </a:p>
          <a:p>
            <a:pPr marL="0" lvl="0" indent="0" algn="l" rtl="0">
              <a:spcBef>
                <a:spcPts val="0"/>
              </a:spcBef>
              <a:spcAft>
                <a:spcPts val="1600"/>
              </a:spcAft>
              <a:buNone/>
            </a:pP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a:t>
            </a:r>
            <a:endParaRPr/>
          </a:p>
        </p:txBody>
      </p:sp>
      <p:sp>
        <p:nvSpPr>
          <p:cNvPr id="86" name="Google Shape;86;p1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400"/>
              <a:t>Se quiere testear H</a:t>
            </a:r>
            <a:r>
              <a:rPr lang="es" sz="2400" baseline="-25000"/>
              <a:t>0</a:t>
            </a:r>
            <a:r>
              <a:rPr lang="es" sz="2400"/>
              <a:t> vs H</a:t>
            </a:r>
            <a:r>
              <a:rPr lang="es" sz="2400" baseline="-25000"/>
              <a:t>1</a:t>
            </a:r>
            <a:r>
              <a:rPr lang="es" sz="2400"/>
              <a:t> </a:t>
            </a:r>
            <a:endParaRPr sz="2400"/>
          </a:p>
          <a:p>
            <a:pPr marL="0" lvl="0" indent="0" algn="l" rtl="0">
              <a:spcBef>
                <a:spcPts val="1600"/>
              </a:spcBef>
              <a:spcAft>
                <a:spcPts val="0"/>
              </a:spcAft>
              <a:buNone/>
            </a:pPr>
            <a:r>
              <a:rPr lang="es" sz="2400"/>
              <a:t>H</a:t>
            </a:r>
            <a:r>
              <a:rPr lang="es" sz="2400" baseline="-25000"/>
              <a:t>0</a:t>
            </a:r>
            <a:r>
              <a:rPr lang="es" sz="2400"/>
              <a:t>: Hipótesis nula </a:t>
            </a:r>
            <a:r>
              <a:rPr lang="es" sz="2400">
                <a:solidFill>
                  <a:srgbClr val="999999"/>
                </a:solidFill>
              </a:rPr>
              <a:t>(se le da el beneficio de la duda)</a:t>
            </a:r>
            <a:endParaRPr sz="2400">
              <a:solidFill>
                <a:srgbClr val="999999"/>
              </a:solidFill>
            </a:endParaRPr>
          </a:p>
          <a:p>
            <a:pPr marL="0" lvl="0" indent="0" algn="l" rtl="0">
              <a:spcBef>
                <a:spcPts val="1600"/>
              </a:spcBef>
              <a:spcAft>
                <a:spcPts val="0"/>
              </a:spcAft>
              <a:buNone/>
            </a:pPr>
            <a:r>
              <a:rPr lang="es" sz="2400"/>
              <a:t>H</a:t>
            </a:r>
            <a:r>
              <a:rPr lang="es" sz="2400" baseline="-25000"/>
              <a:t>1</a:t>
            </a:r>
            <a:r>
              <a:rPr lang="es" sz="2400"/>
              <a:t>: Hipótesis alternativa</a:t>
            </a:r>
            <a:endParaRPr sz="2400"/>
          </a:p>
          <a:p>
            <a:pPr marL="0" lvl="0" indent="0" algn="l" rtl="0">
              <a:spcBef>
                <a:spcPts val="1600"/>
              </a:spcBef>
              <a:spcAft>
                <a:spcPts val="0"/>
              </a:spcAft>
              <a:buNone/>
            </a:pPr>
            <a:endParaRPr sz="2400"/>
          </a:p>
          <a:p>
            <a:pPr marL="0" lvl="0" indent="0" algn="l" rtl="0">
              <a:spcBef>
                <a:spcPts val="1600"/>
              </a:spcBef>
              <a:spcAft>
                <a:spcPts val="0"/>
              </a:spcAft>
              <a:buNone/>
            </a:pPr>
            <a:r>
              <a:rPr lang="es" sz="2400"/>
              <a:t>Cuándo rechazar H</a:t>
            </a:r>
            <a:r>
              <a:rPr lang="es" sz="2400" baseline="-25000"/>
              <a:t>0</a:t>
            </a:r>
            <a:r>
              <a:rPr lang="es" sz="2400"/>
              <a:t>? </a:t>
            </a:r>
            <a:endParaRPr sz="2400"/>
          </a:p>
          <a:p>
            <a:pPr marL="0" lvl="0" indent="0" algn="l" rtl="0">
              <a:spcBef>
                <a:spcPts val="1600"/>
              </a:spcBef>
              <a:spcAft>
                <a:spcPts val="1600"/>
              </a:spcAft>
              <a:buNone/>
            </a:pPr>
            <a:r>
              <a:rPr lang="es" sz="2400"/>
              <a:t>necesitamos establecer una regla para tomar la decisión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a:t>
            </a:r>
            <a:r>
              <a:rPr lang="es" sz="3400"/>
              <a:t>H</a:t>
            </a:r>
            <a:r>
              <a:rPr lang="es" sz="3400" baseline="-25000"/>
              <a:t>0</a:t>
            </a:r>
            <a:r>
              <a:rPr lang="es" sz="3400"/>
              <a:t> vs H</a:t>
            </a:r>
            <a:r>
              <a:rPr lang="es" sz="3400" baseline="-25000"/>
              <a:t>1</a:t>
            </a:r>
            <a:r>
              <a:rPr lang="es" sz="2400">
                <a:latin typeface="Open Sans"/>
                <a:ea typeface="Open Sans"/>
                <a:cs typeface="Open Sans"/>
                <a:sym typeface="Open Sans"/>
              </a:rPr>
              <a:t> </a:t>
            </a:r>
            <a:endParaRPr/>
          </a:p>
        </p:txBody>
      </p:sp>
      <p:graphicFrame>
        <p:nvGraphicFramePr>
          <p:cNvPr id="92" name="Google Shape;92;p18"/>
          <p:cNvGraphicFramePr/>
          <p:nvPr/>
        </p:nvGraphicFramePr>
        <p:xfrm>
          <a:off x="1454375" y="2042275"/>
          <a:ext cx="6203725" cy="1578647"/>
        </p:xfrm>
        <a:graphic>
          <a:graphicData uri="http://schemas.openxmlformats.org/drawingml/2006/table">
            <a:tbl>
              <a:tblPr>
                <a:noFill/>
                <a:tableStyleId>{17582739-DFEA-47E1-A5AE-512455B4713D}</a:tableStyleId>
              </a:tblPr>
              <a:tblGrid>
                <a:gridCol w="1377725">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ctr" rtl="0">
                        <a:lnSpc>
                          <a:spcPct val="115000"/>
                        </a:lnSpc>
                        <a:spcBef>
                          <a:spcPts val="0"/>
                        </a:spcBef>
                        <a:spcAft>
                          <a:spcPts val="1600"/>
                        </a:spcAft>
                        <a:buClr>
                          <a:schemeClr val="dk1"/>
                        </a:buClr>
                        <a:buSzPts val="1100"/>
                        <a:buFont typeface="Arial"/>
                        <a:buNone/>
                      </a:pPr>
                      <a:r>
                        <a:rPr lang="es" sz="2200">
                          <a:solidFill>
                            <a:schemeClr val="dk1"/>
                          </a:solidFill>
                          <a:latin typeface="Open Sans"/>
                          <a:ea typeface="Open Sans"/>
                          <a:cs typeface="Open Sans"/>
                          <a:sym typeface="Open Sans"/>
                        </a:rPr>
                        <a:t>H</a:t>
                      </a:r>
                      <a:r>
                        <a:rPr lang="es" sz="2200" baseline="-25000">
                          <a:solidFill>
                            <a:schemeClr val="dk1"/>
                          </a:solidFill>
                          <a:latin typeface="Open Sans"/>
                          <a:ea typeface="Open Sans"/>
                          <a:cs typeface="Open Sans"/>
                          <a:sym typeface="Open Sans"/>
                        </a:rPr>
                        <a:t>0</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s" sz="2200" u="none" strike="noStrike" cap="none"/>
                        <a:t>Rechazo </a:t>
                      </a:r>
                      <a:r>
                        <a:rPr lang="es" sz="2200" u="none" strike="noStrike" cap="none">
                          <a:solidFill>
                            <a:srgbClr val="000000"/>
                          </a:solidFill>
                        </a:rPr>
                        <a:t> H</a:t>
                      </a:r>
                      <a:r>
                        <a:rPr lang="es" sz="2200" u="none" strike="noStrike" cap="none" baseline="-25000">
                          <a:solidFill>
                            <a:srgbClr val="000000"/>
                          </a:solidFill>
                        </a:rPr>
                        <a:t>0</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s" sz="2200" u="none" strike="noStrike" cap="none">
                          <a:solidFill>
                            <a:srgbClr val="000000"/>
                          </a:solidFill>
                        </a:rPr>
                        <a:t> No rechazo  H</a:t>
                      </a:r>
                      <a:r>
                        <a:rPr lang="es" sz="2200" u="none" strike="noStrike" cap="none" baseline="-25000">
                          <a:solidFill>
                            <a:srgbClr val="000000"/>
                          </a:solidFill>
                        </a:rPr>
                        <a:t>0</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t>V</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t>Error tipo I</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t>Decisión correcta</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00FF00"/>
                    </a:solidFill>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t>F</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s" sz="2200" u="none" strike="noStrike" cap="none">
                          <a:solidFill>
                            <a:srgbClr val="000000"/>
                          </a:solidFill>
                        </a:rPr>
                        <a:t>Decisión correcta</a:t>
                      </a:r>
                      <a:endParaRPr sz="2200" u="none" strike="noStrike" cap="none">
                        <a:solidFill>
                          <a:srgbClr val="000000"/>
                        </a:solidFill>
                      </a:endParaRPr>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00FF0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solidFill>
                            <a:srgbClr val="000000"/>
                          </a:solidFill>
                        </a:rPr>
                        <a:t>Error tipo II</a:t>
                      </a:r>
                      <a:endParaRPr sz="2200" u="none" strike="noStrike" cap="none">
                        <a:solidFill>
                          <a:srgbClr val="000000"/>
                        </a:solidFill>
                      </a:endParaRPr>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FFFF00"/>
                    </a:solidFill>
                  </a:tcPr>
                </a:tc>
                <a:extLst>
                  <a:ext uri="{0D108BD9-81ED-4DB2-BD59-A6C34878D82A}">
                    <a16:rowId xmlns:a16="http://schemas.microsoft.com/office/drawing/2014/main" val="10002"/>
                  </a:ext>
                </a:extLst>
              </a:tr>
            </a:tbl>
          </a:graphicData>
        </a:graphic>
      </p:graphicFrame>
      <p:sp>
        <p:nvSpPr>
          <p:cNvPr id="93" name="Google Shape;93;p18"/>
          <p:cNvSpPr txBox="1"/>
          <p:nvPr/>
        </p:nvSpPr>
        <p:spPr>
          <a:xfrm>
            <a:off x="677325" y="4222350"/>
            <a:ext cx="7693500" cy="6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latin typeface="Open Sans"/>
                <a:ea typeface="Open Sans"/>
                <a:cs typeface="Open Sans"/>
                <a:sym typeface="Open Sans"/>
              </a:rPr>
              <a:t>Se busca una regla que controle principalmente (o primero) el Error tipo I. Cómo?</a:t>
            </a: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a:t>
            </a:r>
            <a:r>
              <a:rPr lang="es" sz="3400"/>
              <a:t>H</a:t>
            </a:r>
            <a:r>
              <a:rPr lang="es" sz="3400" baseline="-25000"/>
              <a:t>0</a:t>
            </a:r>
            <a:r>
              <a:rPr lang="es" sz="3400"/>
              <a:t> vs H</a:t>
            </a:r>
            <a:r>
              <a:rPr lang="es" sz="3400" baseline="-25000"/>
              <a:t>1</a:t>
            </a:r>
            <a:r>
              <a:rPr lang="es" sz="2400">
                <a:latin typeface="Open Sans"/>
                <a:ea typeface="Open Sans"/>
                <a:cs typeface="Open Sans"/>
                <a:sym typeface="Open Sans"/>
              </a:rPr>
              <a:t> </a:t>
            </a:r>
            <a:endParaRPr/>
          </a:p>
        </p:txBody>
      </p:sp>
      <p:graphicFrame>
        <p:nvGraphicFramePr>
          <p:cNvPr id="99" name="Google Shape;99;p19"/>
          <p:cNvGraphicFramePr/>
          <p:nvPr/>
        </p:nvGraphicFramePr>
        <p:xfrm>
          <a:off x="1909975" y="1298175"/>
          <a:ext cx="6507825" cy="2548660"/>
        </p:xfrm>
        <a:graphic>
          <a:graphicData uri="http://schemas.openxmlformats.org/drawingml/2006/table">
            <a:tbl>
              <a:tblPr>
                <a:noFill/>
                <a:tableStyleId>{17582739-DFEA-47E1-A5AE-512455B4713D}</a:tableStyleId>
              </a:tblPr>
              <a:tblGrid>
                <a:gridCol w="949775">
                  <a:extLst>
                    <a:ext uri="{9D8B030D-6E8A-4147-A177-3AD203B41FA5}">
                      <a16:colId xmlns:a16="http://schemas.microsoft.com/office/drawing/2014/main" val="20000"/>
                    </a:ext>
                  </a:extLst>
                </a:gridCol>
                <a:gridCol w="2779025">
                  <a:extLst>
                    <a:ext uri="{9D8B030D-6E8A-4147-A177-3AD203B41FA5}">
                      <a16:colId xmlns:a16="http://schemas.microsoft.com/office/drawing/2014/main" val="20001"/>
                    </a:ext>
                  </a:extLst>
                </a:gridCol>
                <a:gridCol w="2779025">
                  <a:extLst>
                    <a:ext uri="{9D8B030D-6E8A-4147-A177-3AD203B41FA5}">
                      <a16:colId xmlns:a16="http://schemas.microsoft.com/office/drawing/2014/main" val="20002"/>
                    </a:ext>
                  </a:extLst>
                </a:gridCol>
              </a:tblGrid>
              <a:tr h="678800">
                <a:tc>
                  <a:txBody>
                    <a:bodyPr/>
                    <a:lstStyle/>
                    <a:p>
                      <a:pPr marL="0" lvl="0" indent="0" algn="ctr" rtl="0">
                        <a:lnSpc>
                          <a:spcPct val="115000"/>
                        </a:lnSpc>
                        <a:spcBef>
                          <a:spcPts val="0"/>
                        </a:spcBef>
                        <a:spcAft>
                          <a:spcPts val="1600"/>
                        </a:spcAft>
                        <a:buClr>
                          <a:schemeClr val="dk1"/>
                        </a:buClr>
                        <a:buSzPts val="1100"/>
                        <a:buFont typeface="Arial"/>
                        <a:buNone/>
                      </a:pPr>
                      <a:r>
                        <a:rPr lang="es" sz="2200">
                          <a:solidFill>
                            <a:schemeClr val="dk1"/>
                          </a:solidFill>
                          <a:latin typeface="Open Sans"/>
                          <a:ea typeface="Open Sans"/>
                          <a:cs typeface="Open Sans"/>
                          <a:sym typeface="Open Sans"/>
                        </a:rPr>
                        <a:t>H</a:t>
                      </a:r>
                      <a:r>
                        <a:rPr lang="es" sz="2200" baseline="-25000">
                          <a:solidFill>
                            <a:schemeClr val="dk1"/>
                          </a:solidFill>
                          <a:latin typeface="Open Sans"/>
                          <a:ea typeface="Open Sans"/>
                          <a:cs typeface="Open Sans"/>
                          <a:sym typeface="Open Sans"/>
                        </a:rPr>
                        <a:t>0</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s" sz="2200" u="none" strike="noStrike" cap="none"/>
                        <a:t>Rechazo </a:t>
                      </a:r>
                      <a:r>
                        <a:rPr lang="es" sz="2200" u="none" strike="noStrike" cap="none">
                          <a:solidFill>
                            <a:srgbClr val="000000"/>
                          </a:solidFill>
                        </a:rPr>
                        <a:t> H</a:t>
                      </a:r>
                      <a:r>
                        <a:rPr lang="es" sz="2200" u="none" strike="noStrike" cap="none" baseline="-25000">
                          <a:solidFill>
                            <a:srgbClr val="000000"/>
                          </a:solidFill>
                        </a:rPr>
                        <a:t>0</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s" sz="2200" u="none" strike="noStrike" cap="none">
                          <a:solidFill>
                            <a:srgbClr val="000000"/>
                          </a:solidFill>
                        </a:rPr>
                        <a:t> No rechazo  H</a:t>
                      </a:r>
                      <a:r>
                        <a:rPr lang="es" sz="2200" u="none" strike="noStrike" cap="none" baseline="-25000">
                          <a:solidFill>
                            <a:srgbClr val="000000"/>
                          </a:solidFill>
                        </a:rPr>
                        <a:t>0</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extLst>
                  <a:ext uri="{0D108BD9-81ED-4DB2-BD59-A6C34878D82A}">
                    <a16:rowId xmlns:a16="http://schemas.microsoft.com/office/drawing/2014/main" val="10000"/>
                  </a:ext>
                </a:extLst>
              </a:tr>
              <a:tr h="1016450">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t>V</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 sz="2200" b="1"/>
                        <a:t>P(</a:t>
                      </a:r>
                      <a:r>
                        <a:rPr lang="es" sz="2200" b="1" u="none" strike="noStrike" cap="none"/>
                        <a:t>Error tipo I)=</a:t>
                      </a:r>
                      <a:r>
                        <a:rPr lang="es" sz="2200" b="1">
                          <a:solidFill>
                            <a:schemeClr val="dk1"/>
                          </a:solidFill>
                        </a:rPr>
                        <a:t>𝜶</a:t>
                      </a:r>
                      <a:endParaRPr sz="2200" b="1"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 sz="2200"/>
                        <a:t>P(</a:t>
                      </a:r>
                      <a:r>
                        <a:rPr lang="es" sz="2200" u="none" strike="noStrike" cap="none"/>
                        <a:t>Decisión correcta)=1-</a:t>
                      </a:r>
                      <a:r>
                        <a:rPr lang="es" sz="2200">
                          <a:solidFill>
                            <a:schemeClr val="dk1"/>
                          </a:solidFill>
                        </a:rPr>
                        <a:t>𝜶</a:t>
                      </a:r>
                      <a:endParaRPr sz="22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00FF00"/>
                    </a:solidFill>
                  </a:tcPr>
                </a:tc>
                <a:extLst>
                  <a:ext uri="{0D108BD9-81ED-4DB2-BD59-A6C34878D82A}">
                    <a16:rowId xmlns:a16="http://schemas.microsoft.com/office/drawing/2014/main" val="10001"/>
                  </a:ext>
                </a:extLst>
              </a:tr>
              <a:tr h="617600">
                <a:tc>
                  <a:txBody>
                    <a:bodyPr/>
                    <a:lstStyle/>
                    <a:p>
                      <a:pPr marL="0" marR="0" lvl="0" indent="0" algn="ctr" rtl="0">
                        <a:lnSpc>
                          <a:spcPct val="100000"/>
                        </a:lnSpc>
                        <a:spcBef>
                          <a:spcPts val="0"/>
                        </a:spcBef>
                        <a:spcAft>
                          <a:spcPts val="0"/>
                        </a:spcAft>
                        <a:buClr>
                          <a:srgbClr val="000000"/>
                        </a:buClr>
                        <a:buSzPts val="1400"/>
                        <a:buFont typeface="Arial"/>
                        <a:buNone/>
                      </a:pPr>
                      <a:r>
                        <a:rPr lang="es" sz="2200" u="none" strike="noStrike" cap="none"/>
                        <a:t>F</a:t>
                      </a:r>
                      <a:endParaRPr sz="2200" u="none" strike="noStrike" cap="none"/>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D0E0E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s" sz="2200"/>
                        <a:t>P(</a:t>
                      </a:r>
                      <a:r>
                        <a:rPr lang="es" sz="2200" u="none" strike="noStrike" cap="none">
                          <a:solidFill>
                            <a:srgbClr val="000000"/>
                          </a:solidFill>
                        </a:rPr>
                        <a:t>Decisión correcta)=1-</a:t>
                      </a:r>
                      <a:r>
                        <a:rPr lang="es" sz="2200">
                          <a:solidFill>
                            <a:schemeClr val="dk1"/>
                          </a:solidFill>
                        </a:rPr>
                        <a:t>𝜷</a:t>
                      </a:r>
                      <a:endParaRPr sz="2200" u="none" strike="noStrike" cap="none">
                        <a:solidFill>
                          <a:srgbClr val="000000"/>
                        </a:solidFill>
                      </a:endParaRPr>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00FF0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 sz="2200" b="1"/>
                        <a:t>P(</a:t>
                      </a:r>
                      <a:r>
                        <a:rPr lang="es" sz="2200" b="1" u="none" strike="noStrike" cap="none">
                          <a:solidFill>
                            <a:srgbClr val="000000"/>
                          </a:solidFill>
                        </a:rPr>
                        <a:t>Error tipo II)=</a:t>
                      </a:r>
                      <a:r>
                        <a:rPr lang="es" sz="2200" b="1">
                          <a:solidFill>
                            <a:schemeClr val="dk1"/>
                          </a:solidFill>
                        </a:rPr>
                        <a:t>𝜷</a:t>
                      </a:r>
                      <a:endParaRPr sz="2200" b="1"/>
                    </a:p>
                  </a:txBody>
                  <a:tcPr marL="91425" marR="91425" marT="91425" marB="91425" anchor="ctr">
                    <a:lnL w="19050" cap="flat" cmpd="sng">
                      <a:solidFill>
                        <a:srgbClr val="A61C00"/>
                      </a:solidFill>
                      <a:prstDash val="solid"/>
                      <a:round/>
                      <a:headEnd type="none" w="sm" len="sm"/>
                      <a:tailEnd type="none" w="sm" len="sm"/>
                    </a:lnL>
                    <a:lnR w="19050" cap="flat" cmpd="sng">
                      <a:solidFill>
                        <a:srgbClr val="A61C00"/>
                      </a:solidFill>
                      <a:prstDash val="solid"/>
                      <a:round/>
                      <a:headEnd type="none" w="sm" len="sm"/>
                      <a:tailEnd type="none" w="sm" len="sm"/>
                    </a:lnR>
                    <a:lnT w="19050" cap="flat" cmpd="sng">
                      <a:solidFill>
                        <a:srgbClr val="A61C00"/>
                      </a:solidFill>
                      <a:prstDash val="solid"/>
                      <a:round/>
                      <a:headEnd type="none" w="sm" len="sm"/>
                      <a:tailEnd type="none" w="sm" len="sm"/>
                    </a:lnT>
                    <a:lnB w="19050" cap="flat" cmpd="sng">
                      <a:solidFill>
                        <a:srgbClr val="A61C00"/>
                      </a:solidFill>
                      <a:prstDash val="solid"/>
                      <a:round/>
                      <a:headEnd type="none" w="sm" len="sm"/>
                      <a:tailEnd type="none" w="sm" len="sm"/>
                    </a:lnB>
                    <a:solidFill>
                      <a:srgbClr val="FFFF00"/>
                    </a:solidFill>
                  </a:tcPr>
                </a:tc>
                <a:extLst>
                  <a:ext uri="{0D108BD9-81ED-4DB2-BD59-A6C34878D82A}">
                    <a16:rowId xmlns:a16="http://schemas.microsoft.com/office/drawing/2014/main" val="10002"/>
                  </a:ext>
                </a:extLst>
              </a:tr>
            </a:tbl>
          </a:graphicData>
        </a:graphic>
      </p:graphicFrame>
      <p:sp>
        <p:nvSpPr>
          <p:cNvPr id="100" name="Google Shape;100;p19"/>
          <p:cNvSpPr txBox="1"/>
          <p:nvPr/>
        </p:nvSpPr>
        <p:spPr>
          <a:xfrm>
            <a:off x="152400" y="4114800"/>
            <a:ext cx="8924400" cy="94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980000"/>
                </a:solidFill>
              </a:rPr>
              <a:t>P(Error tipo I)</a:t>
            </a:r>
            <a:r>
              <a:rPr lang="es" sz="2000" b="1">
                <a:solidFill>
                  <a:schemeClr val="dk1"/>
                </a:solidFill>
              </a:rPr>
              <a:t>=P(rechazar H</a:t>
            </a:r>
            <a:r>
              <a:rPr lang="es" sz="2000" b="1" baseline="-25000">
                <a:solidFill>
                  <a:schemeClr val="dk1"/>
                </a:solidFill>
              </a:rPr>
              <a:t>0</a:t>
            </a:r>
            <a:r>
              <a:rPr lang="es" sz="2000" b="1">
                <a:solidFill>
                  <a:schemeClr val="dk1"/>
                </a:solidFill>
              </a:rPr>
              <a:t>|  H</a:t>
            </a:r>
            <a:r>
              <a:rPr lang="es" sz="2000" b="1" baseline="-25000">
                <a:solidFill>
                  <a:schemeClr val="dk1"/>
                </a:solidFill>
              </a:rPr>
              <a:t>0</a:t>
            </a:r>
            <a:r>
              <a:rPr lang="es" sz="2000" b="1">
                <a:solidFill>
                  <a:schemeClr val="dk1"/>
                </a:solidFill>
              </a:rPr>
              <a:t> verdadera)=𝜶  </a:t>
            </a:r>
            <a:r>
              <a:rPr lang="es" sz="2000" b="1">
                <a:solidFill>
                  <a:srgbClr val="A61C00"/>
                </a:solidFill>
              </a:rPr>
              <a:t>nivel de significancia</a:t>
            </a:r>
            <a:endParaRPr sz="2000" b="1">
              <a:solidFill>
                <a:srgbClr val="A61C00"/>
              </a:solidFill>
            </a:endParaRPr>
          </a:p>
          <a:p>
            <a:pPr marL="0" lvl="0" indent="0" algn="l" rtl="0">
              <a:spcBef>
                <a:spcPts val="0"/>
              </a:spcBef>
              <a:spcAft>
                <a:spcPts val="0"/>
              </a:spcAft>
              <a:buClr>
                <a:schemeClr val="dk1"/>
              </a:buClr>
              <a:buSzPts val="1400"/>
              <a:buFont typeface="Arial"/>
              <a:buNone/>
            </a:pPr>
            <a:r>
              <a:rPr lang="es" sz="2200" b="1">
                <a:solidFill>
                  <a:srgbClr val="00FF00"/>
                </a:solidFill>
              </a:rPr>
              <a:t>Potencia</a:t>
            </a:r>
            <a:r>
              <a:rPr lang="es" sz="2200" b="1">
                <a:solidFill>
                  <a:schemeClr val="dk1"/>
                </a:solidFill>
              </a:rPr>
              <a:t>=1-</a:t>
            </a:r>
            <a:r>
              <a:rPr lang="es" sz="2200" b="1">
                <a:solidFill>
                  <a:srgbClr val="F1C232"/>
                </a:solidFill>
              </a:rPr>
              <a:t>P(Error tipo II)</a:t>
            </a:r>
            <a:r>
              <a:rPr lang="es" sz="2200" b="1">
                <a:solidFill>
                  <a:schemeClr val="dk1"/>
                </a:solidFill>
              </a:rPr>
              <a:t>=1-𝜷  = 1-</a:t>
            </a:r>
            <a:r>
              <a:rPr lang="es" sz="2000" b="1">
                <a:solidFill>
                  <a:srgbClr val="FFD966"/>
                </a:solidFill>
              </a:rPr>
              <a:t>P(No rechazar H</a:t>
            </a:r>
            <a:r>
              <a:rPr lang="es" sz="2000" b="1" baseline="-25000">
                <a:solidFill>
                  <a:srgbClr val="FFD966"/>
                </a:solidFill>
              </a:rPr>
              <a:t>0</a:t>
            </a:r>
            <a:r>
              <a:rPr lang="es" sz="2000" b="1">
                <a:solidFill>
                  <a:srgbClr val="FFD966"/>
                </a:solidFill>
              </a:rPr>
              <a:t>|  H</a:t>
            </a:r>
            <a:r>
              <a:rPr lang="es" sz="2000" b="1" baseline="-25000">
                <a:solidFill>
                  <a:srgbClr val="FFD966"/>
                </a:solidFill>
              </a:rPr>
              <a:t>0</a:t>
            </a:r>
            <a:r>
              <a:rPr lang="es" sz="2000" b="1">
                <a:solidFill>
                  <a:srgbClr val="FFD966"/>
                </a:solidFill>
              </a:rPr>
              <a:t> Falsa)</a:t>
            </a:r>
            <a:endParaRPr sz="2000" b="1">
              <a:solidFill>
                <a:srgbClr val="FFD96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a:t>
            </a:r>
            <a:r>
              <a:rPr lang="es" sz="2400">
                <a:latin typeface="Open Sans"/>
                <a:ea typeface="Open Sans"/>
                <a:cs typeface="Open Sans"/>
                <a:sym typeface="Open Sans"/>
              </a:rPr>
              <a:t>H</a:t>
            </a:r>
            <a:r>
              <a:rPr lang="es" sz="2400" baseline="-25000">
                <a:latin typeface="Open Sans"/>
                <a:ea typeface="Open Sans"/>
                <a:cs typeface="Open Sans"/>
                <a:sym typeface="Open Sans"/>
              </a:rPr>
              <a:t>0</a:t>
            </a:r>
            <a:r>
              <a:rPr lang="es" sz="2400">
                <a:latin typeface="Open Sans"/>
                <a:ea typeface="Open Sans"/>
                <a:cs typeface="Open Sans"/>
                <a:sym typeface="Open Sans"/>
              </a:rPr>
              <a:t> vs H</a:t>
            </a:r>
            <a:r>
              <a:rPr lang="es" sz="2400" baseline="-25000">
                <a:latin typeface="Open Sans"/>
                <a:ea typeface="Open Sans"/>
                <a:cs typeface="Open Sans"/>
                <a:sym typeface="Open Sans"/>
              </a:rPr>
              <a:t>1</a:t>
            </a:r>
            <a:r>
              <a:rPr lang="es" sz="2400">
                <a:latin typeface="Open Sans"/>
                <a:ea typeface="Open Sans"/>
                <a:cs typeface="Open Sans"/>
                <a:sym typeface="Open Sans"/>
              </a:rPr>
              <a:t> </a:t>
            </a:r>
            <a:endParaRPr/>
          </a:p>
        </p:txBody>
      </p:sp>
      <p:sp>
        <p:nvSpPr>
          <p:cNvPr id="106" name="Google Shape;106;p20"/>
          <p:cNvSpPr txBox="1">
            <a:spLocks noGrp="1"/>
          </p:cNvSpPr>
          <p:nvPr>
            <p:ph type="body" idx="1"/>
          </p:nvPr>
        </p:nvSpPr>
        <p:spPr>
          <a:xfrm>
            <a:off x="311700" y="1225225"/>
            <a:ext cx="8520600" cy="6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400"/>
              <a:t>Rechazar o no rechazar, esa es la cuestión...</a:t>
            </a:r>
            <a:endParaRPr sz="2400"/>
          </a:p>
          <a:p>
            <a:pPr marL="0" lvl="0" indent="0" algn="l" rtl="0">
              <a:lnSpc>
                <a:spcPct val="100000"/>
              </a:lnSpc>
              <a:spcBef>
                <a:spcPts val="1600"/>
              </a:spcBef>
              <a:spcAft>
                <a:spcPts val="0"/>
              </a:spcAft>
              <a:buNone/>
            </a:pPr>
            <a:endParaRPr/>
          </a:p>
          <a:p>
            <a:pPr marL="0" lvl="0" indent="0" algn="l" rtl="0">
              <a:lnSpc>
                <a:spcPct val="100000"/>
              </a:lnSpc>
              <a:spcBef>
                <a:spcPts val="0"/>
              </a:spcBef>
              <a:spcAft>
                <a:spcPts val="0"/>
              </a:spcAft>
              <a:buClr>
                <a:schemeClr val="dk1"/>
              </a:buClr>
              <a:buSzPts val="1100"/>
              <a:buFont typeface="Arial"/>
              <a:buNone/>
            </a:pPr>
            <a:r>
              <a:rPr lang="es"/>
              <a:t>A partir de la muestra se construye o elige un </a:t>
            </a:r>
            <a:r>
              <a:rPr lang="es" b="1">
                <a:solidFill>
                  <a:srgbClr val="1B786E"/>
                </a:solidFill>
              </a:rPr>
              <a:t>estadístico</a:t>
            </a:r>
            <a:r>
              <a:rPr lang="es"/>
              <a:t> (función de la muestra) para afirmar o rechazar H</a:t>
            </a:r>
            <a:r>
              <a:rPr lang="es" baseline="-25000"/>
              <a:t>0</a:t>
            </a:r>
            <a:r>
              <a:rPr lang="es"/>
              <a:t>. Se supone que la evidencia empírica (la muestra) me dará las suficientes razones para </a:t>
            </a:r>
            <a:r>
              <a:rPr lang="es" b="1">
                <a:solidFill>
                  <a:srgbClr val="A61C00"/>
                </a:solidFill>
              </a:rPr>
              <a:t>rechazar o no H</a:t>
            </a:r>
            <a:r>
              <a:rPr lang="es" b="1" baseline="-25000">
                <a:solidFill>
                  <a:srgbClr val="A61C00"/>
                </a:solidFill>
              </a:rPr>
              <a:t>0</a:t>
            </a:r>
            <a:r>
              <a:rPr lang="es" baseline="-25000"/>
              <a:t>.</a:t>
            </a:r>
            <a:endParaRPr/>
          </a:p>
          <a:p>
            <a:pPr marL="0" lvl="0" indent="0" algn="just" rtl="0">
              <a:lnSpc>
                <a:spcPct val="100000"/>
              </a:lnSpc>
              <a:spcBef>
                <a:spcPts val="0"/>
              </a:spcBef>
              <a:spcAft>
                <a:spcPts val="0"/>
              </a:spcAft>
              <a:buClr>
                <a:schemeClr val="dk1"/>
              </a:buClr>
              <a:buSzPts val="1800"/>
              <a:buFont typeface="Arial"/>
              <a:buNone/>
            </a:pPr>
            <a:r>
              <a:rPr lang="es">
                <a:latin typeface="Arial"/>
                <a:ea typeface="Arial"/>
                <a:cs typeface="Arial"/>
                <a:sym typeface="Arial"/>
              </a:rPr>
              <a:t>Para ciertos valores del </a:t>
            </a:r>
            <a:r>
              <a:rPr lang="es" b="1">
                <a:solidFill>
                  <a:srgbClr val="1B786E"/>
                </a:solidFill>
              </a:rPr>
              <a:t>estadístico</a:t>
            </a:r>
            <a:r>
              <a:rPr lang="es">
                <a:latin typeface="Arial"/>
                <a:ea typeface="Arial"/>
                <a:cs typeface="Arial"/>
                <a:sym typeface="Arial"/>
              </a:rPr>
              <a:t> la decisión será rechazar  H</a:t>
            </a:r>
            <a:r>
              <a:rPr lang="es" baseline="-25000">
                <a:latin typeface="Arial"/>
                <a:ea typeface="Arial"/>
                <a:cs typeface="Arial"/>
                <a:sym typeface="Arial"/>
              </a:rPr>
              <a:t>0</a:t>
            </a:r>
            <a:r>
              <a:rPr lang="es">
                <a:latin typeface="Arial"/>
                <a:ea typeface="Arial"/>
                <a:cs typeface="Arial"/>
                <a:sym typeface="Arial"/>
              </a:rPr>
              <a:t>. Estos valores se conocen como los valores críticos y determinan una región crítica o de rechazo y una zona de aceptación. </a:t>
            </a:r>
            <a:endParaRPr sz="2400"/>
          </a:p>
          <a:p>
            <a:pPr marL="0" lvl="0" indent="0" algn="l" rtl="0">
              <a:spcBef>
                <a:spcPts val="0"/>
              </a:spcBef>
              <a:spcAft>
                <a:spcPts val="1600"/>
              </a:spcAft>
              <a:buNone/>
            </a:pP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a:t>
            </a:r>
            <a:r>
              <a:rPr lang="es" sz="2400">
                <a:latin typeface="Open Sans"/>
                <a:ea typeface="Open Sans"/>
                <a:cs typeface="Open Sans"/>
                <a:sym typeface="Open Sans"/>
              </a:rPr>
              <a:t>H</a:t>
            </a:r>
            <a:r>
              <a:rPr lang="es" sz="2400" baseline="-25000">
                <a:latin typeface="Open Sans"/>
                <a:ea typeface="Open Sans"/>
                <a:cs typeface="Open Sans"/>
                <a:sym typeface="Open Sans"/>
              </a:rPr>
              <a:t>0</a:t>
            </a:r>
            <a:r>
              <a:rPr lang="es" sz="2400">
                <a:latin typeface="Open Sans"/>
                <a:ea typeface="Open Sans"/>
                <a:cs typeface="Open Sans"/>
                <a:sym typeface="Open Sans"/>
              </a:rPr>
              <a:t> vs H</a:t>
            </a:r>
            <a:r>
              <a:rPr lang="es" sz="2400" baseline="-25000">
                <a:latin typeface="Open Sans"/>
                <a:ea typeface="Open Sans"/>
                <a:cs typeface="Open Sans"/>
                <a:sym typeface="Open Sans"/>
              </a:rPr>
              <a:t>1</a:t>
            </a:r>
            <a:r>
              <a:rPr lang="es" sz="2400">
                <a:latin typeface="Open Sans"/>
                <a:ea typeface="Open Sans"/>
                <a:cs typeface="Open Sans"/>
                <a:sym typeface="Open Sans"/>
              </a:rPr>
              <a:t> </a:t>
            </a:r>
            <a:endParaRPr/>
          </a:p>
        </p:txBody>
      </p:sp>
      <p:sp>
        <p:nvSpPr>
          <p:cNvPr id="112" name="Google Shape;112;p21"/>
          <p:cNvSpPr txBox="1">
            <a:spLocks noGrp="1"/>
          </p:cNvSpPr>
          <p:nvPr>
            <p:ph type="body" idx="1"/>
          </p:nvPr>
        </p:nvSpPr>
        <p:spPr>
          <a:xfrm>
            <a:off x="311700" y="1225225"/>
            <a:ext cx="8520600" cy="6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2400"/>
              <a:t>Atenti!! Receta!!</a:t>
            </a:r>
            <a:endParaRPr sz="2400"/>
          </a:p>
          <a:p>
            <a:pPr marL="0" lvl="0" indent="0" algn="l" rtl="0">
              <a:lnSpc>
                <a:spcPct val="100000"/>
              </a:lnSpc>
              <a:spcBef>
                <a:spcPts val="1600"/>
              </a:spcBef>
              <a:spcAft>
                <a:spcPts val="0"/>
              </a:spcAft>
              <a:buNone/>
            </a:pPr>
            <a:endParaRPr/>
          </a:p>
          <a:p>
            <a:pPr marL="457200" lvl="0" indent="-381000" algn="l" rtl="0">
              <a:lnSpc>
                <a:spcPct val="100000"/>
              </a:lnSpc>
              <a:spcBef>
                <a:spcPts val="0"/>
              </a:spcBef>
              <a:spcAft>
                <a:spcPts val="0"/>
              </a:spcAft>
              <a:buSzPts val="2400"/>
              <a:buFont typeface="Open Sans"/>
              <a:buAutoNum type="arabicPeriod"/>
            </a:pPr>
            <a:r>
              <a:rPr lang="es" sz="2400"/>
              <a:t>Formular la  H</a:t>
            </a:r>
            <a:r>
              <a:rPr lang="es" sz="2400" baseline="-25000"/>
              <a:t>0</a:t>
            </a:r>
            <a:r>
              <a:rPr lang="es" sz="2400"/>
              <a:t> a contrastar</a:t>
            </a:r>
            <a:endParaRPr sz="2400"/>
          </a:p>
          <a:p>
            <a:pPr marL="457200" lvl="0" indent="-381000" algn="l" rtl="0">
              <a:lnSpc>
                <a:spcPct val="100000"/>
              </a:lnSpc>
              <a:spcBef>
                <a:spcPts val="0"/>
              </a:spcBef>
              <a:spcAft>
                <a:spcPts val="0"/>
              </a:spcAft>
              <a:buSzPts val="2400"/>
              <a:buFont typeface="Open Sans"/>
              <a:buAutoNum type="arabicPeriod"/>
            </a:pPr>
            <a:r>
              <a:rPr lang="es" sz="2400"/>
              <a:t>Establecer el nivel de significancia del test </a:t>
            </a:r>
            <a:r>
              <a:rPr lang="es" sz="2400" b="1"/>
              <a:t>𝜶</a:t>
            </a:r>
            <a:endParaRPr sz="2400"/>
          </a:p>
          <a:p>
            <a:pPr marL="457200" lvl="0" indent="-381000" algn="l" rtl="0">
              <a:lnSpc>
                <a:spcPct val="100000"/>
              </a:lnSpc>
              <a:spcBef>
                <a:spcPts val="0"/>
              </a:spcBef>
              <a:spcAft>
                <a:spcPts val="0"/>
              </a:spcAft>
              <a:buSzPts val="2400"/>
              <a:buFont typeface="Open Sans"/>
              <a:buAutoNum type="arabicPeriod"/>
            </a:pPr>
            <a:r>
              <a:rPr lang="es" sz="2400"/>
              <a:t>Cálculo del estadístico de contraste</a:t>
            </a:r>
            <a:endParaRPr sz="2400"/>
          </a:p>
          <a:p>
            <a:pPr marL="457200" lvl="0" indent="-381000" algn="l" rtl="0">
              <a:lnSpc>
                <a:spcPct val="100000"/>
              </a:lnSpc>
              <a:spcBef>
                <a:spcPts val="0"/>
              </a:spcBef>
              <a:spcAft>
                <a:spcPts val="0"/>
              </a:spcAft>
              <a:buSzPts val="2400"/>
              <a:buFont typeface="Open Sans"/>
              <a:buAutoNum type="arabicPeriod"/>
            </a:pPr>
            <a:r>
              <a:rPr lang="es" sz="2400"/>
              <a:t>Regla de decisión</a:t>
            </a:r>
            <a:endParaRPr sz="2400"/>
          </a:p>
          <a:p>
            <a:pPr marL="457200" lvl="0" indent="-381000" algn="l" rtl="0">
              <a:lnSpc>
                <a:spcPct val="100000"/>
              </a:lnSpc>
              <a:spcBef>
                <a:spcPts val="0"/>
              </a:spcBef>
              <a:spcAft>
                <a:spcPts val="0"/>
              </a:spcAft>
              <a:buSzPts val="2400"/>
              <a:buFont typeface="Open Sans"/>
              <a:buAutoNum type="arabicPeriod"/>
            </a:pPr>
            <a:r>
              <a:rPr lang="es" sz="2400"/>
              <a:t>Conclusión</a:t>
            </a:r>
            <a:br>
              <a:rPr lang="es"/>
            </a:br>
            <a:r>
              <a:rPr lang="es"/>
              <a:t> </a:t>
            </a:r>
            <a:endParaRPr sz="2400"/>
          </a:p>
          <a:p>
            <a:pPr marL="0" lvl="0" indent="0" algn="l" rtl="0">
              <a:spcBef>
                <a:spcPts val="0"/>
              </a:spcBef>
              <a:spcAft>
                <a:spcPts val="1600"/>
              </a:spcAft>
              <a:buNone/>
            </a:pP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Formulación de las hipótesis</a:t>
            </a:r>
            <a:endParaRPr/>
          </a:p>
        </p:txBody>
      </p:sp>
      <p:sp>
        <p:nvSpPr>
          <p:cNvPr id="118" name="Google Shape;118;p2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a:latin typeface="Arial"/>
                <a:ea typeface="Arial"/>
                <a:cs typeface="Arial"/>
                <a:sym typeface="Arial"/>
              </a:rPr>
              <a:t>En la situación que tengo una m.a. de una distribución Normal, con media.μ.</a:t>
            </a:r>
            <a:endParaRPr>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800"/>
              <a:buFont typeface="Arial"/>
              <a:buNone/>
            </a:pPr>
            <a:r>
              <a:rPr lang="es">
                <a:latin typeface="Arial"/>
                <a:ea typeface="Arial"/>
                <a:cs typeface="Arial"/>
                <a:sym typeface="Arial"/>
              </a:rPr>
              <a:t>Ejemplos de planteamientos:</a:t>
            </a:r>
            <a:endParaRPr>
              <a:latin typeface="Arial"/>
              <a:ea typeface="Arial"/>
              <a:cs typeface="Arial"/>
              <a:sym typeface="Arial"/>
            </a:endParaRPr>
          </a:p>
          <a:p>
            <a:pPr marL="0" lvl="0" indent="0" algn="l" rtl="0">
              <a:lnSpc>
                <a:spcPct val="100000"/>
              </a:lnSpc>
              <a:spcBef>
                <a:spcPts val="0"/>
              </a:spcBef>
              <a:spcAft>
                <a:spcPts val="0"/>
              </a:spcAft>
              <a:buClr>
                <a:schemeClr val="dk1"/>
              </a:buClr>
              <a:buSzPts val="1800"/>
              <a:buFont typeface="Arial"/>
              <a:buNone/>
            </a:pPr>
            <a:endParaRPr>
              <a:latin typeface="Arial"/>
              <a:ea typeface="Arial"/>
              <a:cs typeface="Arial"/>
              <a:sym typeface="Arial"/>
            </a:endParaRPr>
          </a:p>
          <a:p>
            <a:pPr marL="0" lvl="0" indent="457200" algn="l" rtl="0">
              <a:lnSpc>
                <a:spcPct val="100000"/>
              </a:lnSpc>
              <a:spcBef>
                <a:spcPts val="0"/>
              </a:spcBef>
              <a:spcAft>
                <a:spcPts val="0"/>
              </a:spcAft>
              <a:buClr>
                <a:schemeClr val="dk1"/>
              </a:buClr>
              <a:buSzPts val="1800"/>
              <a:buFont typeface="Arial"/>
              <a:buNone/>
            </a:pPr>
            <a:r>
              <a:rPr lang="es">
                <a:latin typeface="Arial"/>
                <a:ea typeface="Arial"/>
                <a:cs typeface="Arial"/>
                <a:sym typeface="Arial"/>
              </a:rPr>
              <a:t>H</a:t>
            </a:r>
            <a:r>
              <a:rPr lang="es" baseline="-25000">
                <a:latin typeface="Arial"/>
                <a:ea typeface="Arial"/>
                <a:cs typeface="Arial"/>
                <a:sym typeface="Arial"/>
              </a:rPr>
              <a:t>0</a:t>
            </a:r>
            <a:r>
              <a:rPr lang="es">
                <a:latin typeface="Arial"/>
                <a:ea typeface="Arial"/>
                <a:cs typeface="Arial"/>
                <a:sym typeface="Arial"/>
              </a:rPr>
              <a:t> : μ ≥ 18 vs. H</a:t>
            </a:r>
            <a:r>
              <a:rPr lang="es" baseline="-25000">
                <a:latin typeface="Arial"/>
                <a:ea typeface="Arial"/>
                <a:cs typeface="Arial"/>
                <a:sym typeface="Arial"/>
              </a:rPr>
              <a:t>1</a:t>
            </a:r>
            <a:r>
              <a:rPr lang="es">
                <a:latin typeface="Arial"/>
                <a:ea typeface="Arial"/>
                <a:cs typeface="Arial"/>
                <a:sym typeface="Arial"/>
              </a:rPr>
              <a:t> : μ &lt; 18 (hipótesis alternativa unilateral)</a:t>
            </a:r>
            <a:endParaRPr>
              <a:latin typeface="Arial"/>
              <a:ea typeface="Arial"/>
              <a:cs typeface="Arial"/>
              <a:sym typeface="Arial"/>
            </a:endParaRPr>
          </a:p>
          <a:p>
            <a:pPr marL="0" lvl="0" indent="0" algn="ctr" rtl="0">
              <a:lnSpc>
                <a:spcPct val="100000"/>
              </a:lnSpc>
              <a:spcBef>
                <a:spcPts val="0"/>
              </a:spcBef>
              <a:spcAft>
                <a:spcPts val="0"/>
              </a:spcAft>
              <a:buClr>
                <a:schemeClr val="dk1"/>
              </a:buClr>
              <a:buSzPts val="1800"/>
              <a:buFont typeface="Arial"/>
              <a:buNone/>
            </a:pPr>
            <a:r>
              <a:rPr lang="es">
                <a:latin typeface="Arial"/>
                <a:ea typeface="Arial"/>
                <a:cs typeface="Arial"/>
                <a:sym typeface="Arial"/>
              </a:rPr>
              <a:t>ó</a:t>
            </a:r>
            <a:endParaRPr>
              <a:latin typeface="Arial"/>
              <a:ea typeface="Arial"/>
              <a:cs typeface="Arial"/>
              <a:sym typeface="Arial"/>
            </a:endParaRPr>
          </a:p>
          <a:p>
            <a:pPr marL="0" lvl="0" indent="457200" algn="l" rtl="0">
              <a:lnSpc>
                <a:spcPct val="100000"/>
              </a:lnSpc>
              <a:spcBef>
                <a:spcPts val="0"/>
              </a:spcBef>
              <a:spcAft>
                <a:spcPts val="0"/>
              </a:spcAft>
              <a:buClr>
                <a:schemeClr val="dk1"/>
              </a:buClr>
              <a:buSzPts val="1800"/>
              <a:buFont typeface="Arial"/>
              <a:buNone/>
            </a:pPr>
            <a:r>
              <a:rPr lang="es">
                <a:latin typeface="Arial"/>
                <a:ea typeface="Arial"/>
                <a:cs typeface="Arial"/>
                <a:sym typeface="Arial"/>
              </a:rPr>
              <a:t>H</a:t>
            </a:r>
            <a:r>
              <a:rPr lang="es" baseline="-25000">
                <a:latin typeface="Arial"/>
                <a:ea typeface="Arial"/>
                <a:cs typeface="Arial"/>
                <a:sym typeface="Arial"/>
              </a:rPr>
              <a:t>0</a:t>
            </a:r>
            <a:r>
              <a:rPr lang="es">
                <a:latin typeface="Arial"/>
                <a:ea typeface="Arial"/>
                <a:cs typeface="Arial"/>
                <a:sym typeface="Arial"/>
              </a:rPr>
              <a:t> : μ ≤ 18 vs. H</a:t>
            </a:r>
            <a:r>
              <a:rPr lang="es" baseline="-25000">
                <a:latin typeface="Arial"/>
                <a:ea typeface="Arial"/>
                <a:cs typeface="Arial"/>
                <a:sym typeface="Arial"/>
              </a:rPr>
              <a:t>1</a:t>
            </a:r>
            <a:r>
              <a:rPr lang="es">
                <a:latin typeface="Arial"/>
                <a:ea typeface="Arial"/>
                <a:cs typeface="Arial"/>
                <a:sym typeface="Arial"/>
              </a:rPr>
              <a:t> : μ &gt; 18 (hipótesis alternativa unilateral)</a:t>
            </a:r>
            <a:endParaRPr>
              <a:latin typeface="Arial"/>
              <a:ea typeface="Arial"/>
              <a:cs typeface="Arial"/>
              <a:sym typeface="Arial"/>
            </a:endParaRPr>
          </a:p>
          <a:p>
            <a:pPr marL="0" lvl="0" indent="0" algn="ctr" rtl="0">
              <a:lnSpc>
                <a:spcPct val="100000"/>
              </a:lnSpc>
              <a:spcBef>
                <a:spcPts val="0"/>
              </a:spcBef>
              <a:spcAft>
                <a:spcPts val="0"/>
              </a:spcAft>
              <a:buClr>
                <a:schemeClr val="dk1"/>
              </a:buClr>
              <a:buSzPts val="1800"/>
              <a:buFont typeface="Arial"/>
              <a:buNone/>
            </a:pPr>
            <a:r>
              <a:rPr lang="es">
                <a:latin typeface="Arial"/>
                <a:ea typeface="Arial"/>
                <a:cs typeface="Arial"/>
                <a:sym typeface="Arial"/>
              </a:rPr>
              <a:t>ó</a:t>
            </a:r>
            <a:endParaRPr>
              <a:latin typeface="Arial"/>
              <a:ea typeface="Arial"/>
              <a:cs typeface="Arial"/>
              <a:sym typeface="Arial"/>
            </a:endParaRPr>
          </a:p>
          <a:p>
            <a:pPr marL="0" lvl="0" indent="457200" algn="l" rtl="0">
              <a:lnSpc>
                <a:spcPct val="100000"/>
              </a:lnSpc>
              <a:spcBef>
                <a:spcPts val="0"/>
              </a:spcBef>
              <a:spcAft>
                <a:spcPts val="0"/>
              </a:spcAft>
              <a:buClr>
                <a:schemeClr val="dk1"/>
              </a:buClr>
              <a:buSzPts val="1800"/>
              <a:buFont typeface="Arial"/>
              <a:buNone/>
            </a:pPr>
            <a:r>
              <a:rPr lang="es">
                <a:latin typeface="Arial"/>
                <a:ea typeface="Arial"/>
                <a:cs typeface="Arial"/>
                <a:sym typeface="Arial"/>
              </a:rPr>
              <a:t>H</a:t>
            </a:r>
            <a:r>
              <a:rPr lang="es" baseline="-25000">
                <a:latin typeface="Arial"/>
                <a:ea typeface="Arial"/>
                <a:cs typeface="Arial"/>
                <a:sym typeface="Arial"/>
              </a:rPr>
              <a:t>0</a:t>
            </a:r>
            <a:r>
              <a:rPr lang="es">
                <a:latin typeface="Arial"/>
                <a:ea typeface="Arial"/>
                <a:cs typeface="Arial"/>
                <a:sym typeface="Arial"/>
              </a:rPr>
              <a:t> : μ =18 vs. H</a:t>
            </a:r>
            <a:r>
              <a:rPr lang="es" baseline="-25000">
                <a:latin typeface="Arial"/>
                <a:ea typeface="Arial"/>
                <a:cs typeface="Arial"/>
                <a:sym typeface="Arial"/>
              </a:rPr>
              <a:t>1</a:t>
            </a:r>
            <a:r>
              <a:rPr lang="es">
                <a:latin typeface="Arial"/>
                <a:ea typeface="Arial"/>
                <a:cs typeface="Arial"/>
                <a:sym typeface="Arial"/>
              </a:rPr>
              <a:t> : μ  ≠ 18 (hipótesis alternativa bilateral)</a:t>
            </a:r>
            <a:endParaRPr>
              <a:latin typeface="Arial"/>
              <a:ea typeface="Arial"/>
              <a:cs typeface="Arial"/>
              <a:sym typeface="Arial"/>
            </a:endParaRPr>
          </a:p>
          <a:p>
            <a:pPr marL="0" lvl="0" indent="0" algn="l" rtl="0">
              <a:spcBef>
                <a:spcPts val="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Ejemplo </a:t>
            </a:r>
            <a:endParaRPr/>
          </a:p>
        </p:txBody>
      </p:sp>
      <p:sp>
        <p:nvSpPr>
          <p:cNvPr id="124" name="Google Shape;124;p2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a:latin typeface="Arial"/>
                <a:ea typeface="Arial"/>
                <a:cs typeface="Arial"/>
                <a:sym typeface="Arial"/>
              </a:rPr>
              <a:t>En la situación que tengo una m.a. de una distribución Normal, con media.μ.</a:t>
            </a:r>
            <a:endParaRPr>
              <a:latin typeface="Arial"/>
              <a:ea typeface="Arial"/>
              <a:cs typeface="Arial"/>
              <a:sym typeface="Arial"/>
            </a:endParaRPr>
          </a:p>
          <a:p>
            <a:pPr marL="0" lvl="0" indent="0" algn="l" rtl="0">
              <a:lnSpc>
                <a:spcPct val="100000"/>
              </a:lnSpc>
              <a:spcBef>
                <a:spcPts val="0"/>
              </a:spcBef>
              <a:spcAft>
                <a:spcPts val="0"/>
              </a:spcAft>
              <a:buNone/>
            </a:pPr>
            <a:endParaRPr>
              <a:latin typeface="Arial"/>
              <a:ea typeface="Arial"/>
              <a:cs typeface="Arial"/>
              <a:sym typeface="Arial"/>
            </a:endParaRPr>
          </a:p>
          <a:p>
            <a:pPr marL="0" lvl="0" indent="0" algn="l" rtl="0">
              <a:lnSpc>
                <a:spcPct val="100000"/>
              </a:lnSpc>
              <a:spcBef>
                <a:spcPts val="0"/>
              </a:spcBef>
              <a:spcAft>
                <a:spcPts val="0"/>
              </a:spcAft>
              <a:buNone/>
            </a:pPr>
            <a:r>
              <a:rPr lang="es">
                <a:latin typeface="Arial"/>
                <a:ea typeface="Arial"/>
                <a:cs typeface="Arial"/>
                <a:sym typeface="Arial"/>
              </a:rPr>
              <a:t>H</a:t>
            </a:r>
            <a:r>
              <a:rPr lang="es" baseline="-25000">
                <a:latin typeface="Arial"/>
                <a:ea typeface="Arial"/>
                <a:cs typeface="Arial"/>
                <a:sym typeface="Arial"/>
              </a:rPr>
              <a:t>0</a:t>
            </a:r>
            <a:r>
              <a:rPr lang="es">
                <a:latin typeface="Arial"/>
                <a:ea typeface="Arial"/>
                <a:cs typeface="Arial"/>
                <a:sym typeface="Arial"/>
              </a:rPr>
              <a:t> : μ =18 vs. H</a:t>
            </a:r>
            <a:r>
              <a:rPr lang="es" baseline="-25000">
                <a:latin typeface="Arial"/>
                <a:ea typeface="Arial"/>
                <a:cs typeface="Arial"/>
                <a:sym typeface="Arial"/>
              </a:rPr>
              <a:t>1</a:t>
            </a:r>
            <a:r>
              <a:rPr lang="es">
                <a:latin typeface="Arial"/>
                <a:ea typeface="Arial"/>
                <a:cs typeface="Arial"/>
                <a:sym typeface="Arial"/>
              </a:rPr>
              <a:t> : μ  ≠ 18 (bilateral)</a:t>
            </a:r>
            <a:endParaRPr>
              <a:latin typeface="Arial"/>
              <a:ea typeface="Arial"/>
              <a:cs typeface="Arial"/>
              <a:sym typeface="Arial"/>
            </a:endParaRPr>
          </a:p>
          <a:p>
            <a:pPr marL="0" lvl="0" indent="0" algn="l" rtl="0">
              <a:lnSpc>
                <a:spcPct val="100000"/>
              </a:lnSpc>
              <a:spcBef>
                <a:spcPts val="0"/>
              </a:spcBef>
              <a:spcAft>
                <a:spcPts val="0"/>
              </a:spcAft>
              <a:buNone/>
            </a:pPr>
            <a:endParaRPr>
              <a:latin typeface="Arial"/>
              <a:ea typeface="Arial"/>
              <a:cs typeface="Arial"/>
              <a:sym typeface="Arial"/>
            </a:endParaRPr>
          </a:p>
          <a:p>
            <a:pPr marL="0" lvl="0" indent="0" algn="l" rtl="0">
              <a:spcBef>
                <a:spcPts val="0"/>
              </a:spcBef>
              <a:spcAft>
                <a:spcPts val="0"/>
              </a:spcAft>
              <a:buNone/>
            </a:pPr>
            <a:r>
              <a:rPr lang="es"/>
              <a:t>Se fija el nivel de significancia </a:t>
            </a:r>
            <a:r>
              <a:rPr lang="es" sz="2400" b="1"/>
              <a:t>𝜶</a:t>
            </a:r>
            <a:endParaRPr/>
          </a:p>
          <a:p>
            <a:pPr marL="0" lvl="0" indent="0" algn="l" rtl="0">
              <a:spcBef>
                <a:spcPts val="1600"/>
              </a:spcBef>
              <a:spcAft>
                <a:spcPts val="0"/>
              </a:spcAft>
              <a:buNone/>
            </a:pPr>
            <a:r>
              <a:rPr lang="es"/>
              <a:t>Se elige el estadístico</a:t>
            </a:r>
            <a:endParaRPr/>
          </a:p>
          <a:p>
            <a:pPr marL="0" lvl="0" indent="0" algn="l" rtl="0">
              <a:spcBef>
                <a:spcPts val="1600"/>
              </a:spcBef>
              <a:spcAft>
                <a:spcPts val="0"/>
              </a:spcAft>
              <a:buNone/>
            </a:pPr>
            <a:r>
              <a:rPr lang="es"/>
              <a:t>Bajo </a:t>
            </a:r>
            <a:r>
              <a:rPr lang="es">
                <a:latin typeface="Arial"/>
                <a:ea typeface="Arial"/>
                <a:cs typeface="Arial"/>
                <a:sym typeface="Arial"/>
              </a:rPr>
              <a:t>H</a:t>
            </a:r>
            <a:r>
              <a:rPr lang="es" baseline="-25000">
                <a:latin typeface="Arial"/>
                <a:ea typeface="Arial"/>
                <a:cs typeface="Arial"/>
                <a:sym typeface="Arial"/>
              </a:rPr>
              <a:t>0</a:t>
            </a:r>
            <a:r>
              <a:rPr lang="es">
                <a:latin typeface="Arial"/>
                <a:ea typeface="Arial"/>
                <a:cs typeface="Arial"/>
                <a:sym typeface="Arial"/>
              </a:rPr>
              <a:t> :</a:t>
            </a:r>
            <a:r>
              <a:rPr lang="es"/>
              <a:t> </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pic>
        <p:nvPicPr>
          <p:cNvPr id="125" name="Google Shape;125;p23"/>
          <p:cNvPicPr preferRelativeResize="0"/>
          <p:nvPr/>
        </p:nvPicPr>
        <p:blipFill rotWithShape="1">
          <a:blip r:embed="rId3">
            <a:alphaModFix/>
          </a:blip>
          <a:srcRect/>
          <a:stretch/>
        </p:blipFill>
        <p:spPr>
          <a:xfrm>
            <a:off x="4907233" y="1793800"/>
            <a:ext cx="3925079" cy="3184200"/>
          </a:xfrm>
          <a:prstGeom prst="rect">
            <a:avLst/>
          </a:prstGeom>
          <a:noFill/>
          <a:ln>
            <a:noFill/>
          </a:ln>
        </p:spPr>
      </p:pic>
      <p:pic>
        <p:nvPicPr>
          <p:cNvPr id="126" name="Google Shape;126;p23" descr="\overline{X}"/>
          <p:cNvPicPr preferRelativeResize="0"/>
          <p:nvPr/>
        </p:nvPicPr>
        <p:blipFill>
          <a:blip r:embed="rId4">
            <a:alphaModFix/>
          </a:blip>
          <a:stretch>
            <a:fillRect/>
          </a:stretch>
        </p:blipFill>
        <p:spPr>
          <a:xfrm>
            <a:off x="2787700" y="2985250"/>
            <a:ext cx="307925" cy="291350"/>
          </a:xfrm>
          <a:prstGeom prst="rect">
            <a:avLst/>
          </a:prstGeom>
          <a:noFill/>
          <a:ln>
            <a:noFill/>
          </a:ln>
        </p:spPr>
      </p:pic>
      <p:pic>
        <p:nvPicPr>
          <p:cNvPr id="127" name="Google Shape;127;p23" descr="\frac{\overline{X}-\mu_0}{s /\sqrt{n}}\sim t_{n-1}"/>
          <p:cNvPicPr preferRelativeResize="0"/>
          <p:nvPr/>
        </p:nvPicPr>
        <p:blipFill>
          <a:blip r:embed="rId5">
            <a:alphaModFix/>
          </a:blip>
          <a:stretch>
            <a:fillRect/>
          </a:stretch>
        </p:blipFill>
        <p:spPr>
          <a:xfrm>
            <a:off x="1524000" y="3556150"/>
            <a:ext cx="1420625" cy="558650"/>
          </a:xfrm>
          <a:prstGeom prst="rect">
            <a:avLst/>
          </a:prstGeom>
          <a:noFill/>
          <a:ln>
            <a:noFill/>
          </a:ln>
        </p:spPr>
      </p:pic>
      <p:pic>
        <p:nvPicPr>
          <p:cNvPr id="128" name="Google Shape;128;p23" descr="P \left ( \left .\left| \frac{\overline{X}-\mu_0}{s /\sqrt{n}} &#10; \right |\geq  t_{\alpha/2}\ \right | H_0 \right )=\alpha"/>
          <p:cNvPicPr preferRelativeResize="0"/>
          <p:nvPr/>
        </p:nvPicPr>
        <p:blipFill>
          <a:blip r:embed="rId6">
            <a:alphaModFix/>
          </a:blip>
          <a:stretch>
            <a:fillRect/>
          </a:stretch>
        </p:blipFill>
        <p:spPr>
          <a:xfrm>
            <a:off x="685800" y="4354550"/>
            <a:ext cx="2960850" cy="558650"/>
          </a:xfrm>
          <a:prstGeom prst="rect">
            <a:avLst/>
          </a:prstGeom>
          <a:noFill/>
          <a:ln>
            <a:noFill/>
          </a:ln>
        </p:spPr>
      </p:pic>
      <p:sp>
        <p:nvSpPr>
          <p:cNvPr id="129" name="Google Shape;129;p23"/>
          <p:cNvSpPr/>
          <p:nvPr/>
        </p:nvSpPr>
        <p:spPr>
          <a:xfrm>
            <a:off x="1050725" y="4354550"/>
            <a:ext cx="1568400" cy="644100"/>
          </a:xfrm>
          <a:prstGeom prst="roundRect">
            <a:avLst>
              <a:gd name="adj" fmla="val 16667"/>
            </a:avLst>
          </a:prstGeom>
          <a:noFill/>
          <a:ln w="28575"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3"/>
          <p:cNvSpPr txBox="1"/>
          <p:nvPr/>
        </p:nvSpPr>
        <p:spPr>
          <a:xfrm>
            <a:off x="4278500" y="4509250"/>
            <a:ext cx="14205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b="1">
                <a:solidFill>
                  <a:srgbClr val="1155CC"/>
                </a:solidFill>
                <a:latin typeface="Open Sans"/>
                <a:ea typeface="Open Sans"/>
                <a:cs typeface="Open Sans"/>
                <a:sym typeface="Open Sans"/>
              </a:rPr>
              <a:t>Rechazo </a:t>
            </a:r>
            <a:endParaRPr b="1">
              <a:solidFill>
                <a:srgbClr val="1155CC"/>
              </a:solidFill>
              <a:latin typeface="Open Sans"/>
              <a:ea typeface="Open Sans"/>
              <a:cs typeface="Open Sans"/>
              <a:sym typeface="Open Sans"/>
            </a:endParaRPr>
          </a:p>
        </p:txBody>
      </p:sp>
      <p:cxnSp>
        <p:nvCxnSpPr>
          <p:cNvPr id="131" name="Google Shape;131;p23"/>
          <p:cNvCxnSpPr/>
          <p:nvPr/>
        </p:nvCxnSpPr>
        <p:spPr>
          <a:xfrm rot="10800000" flipH="1">
            <a:off x="2619200" y="4807300"/>
            <a:ext cx="1583100" cy="174000"/>
          </a:xfrm>
          <a:prstGeom prst="straightConnector1">
            <a:avLst/>
          </a:prstGeom>
          <a:noFill/>
          <a:ln w="9525" cap="flat" cmpd="sng">
            <a:solidFill>
              <a:schemeClr val="dk2"/>
            </a:solidFill>
            <a:prstDash val="solid"/>
            <a:round/>
            <a:headEnd type="triangle" w="med" len="med"/>
            <a:tailEnd type="none" w="med" len="med"/>
          </a:ln>
        </p:spPr>
      </p:cxnSp>
      <p:cxnSp>
        <p:nvCxnSpPr>
          <p:cNvPr id="132" name="Google Shape;132;p23"/>
          <p:cNvCxnSpPr/>
          <p:nvPr/>
        </p:nvCxnSpPr>
        <p:spPr>
          <a:xfrm flipH="1">
            <a:off x="4888175" y="3981050"/>
            <a:ext cx="941700" cy="597600"/>
          </a:xfrm>
          <a:prstGeom prst="straightConnector1">
            <a:avLst/>
          </a:prstGeom>
          <a:noFill/>
          <a:ln w="9525" cap="flat" cmpd="sng">
            <a:solidFill>
              <a:schemeClr val="dk2"/>
            </a:solidFill>
            <a:prstDash val="solid"/>
            <a:round/>
            <a:headEnd type="triangl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10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1000"/>
                                        <p:tgtEl>
                                          <p:spTgt spid="1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fade">
                                      <p:cBhvr>
                                        <p:cTn id="17" dur="1000"/>
                                        <p:tgtEl>
                                          <p:spTgt spid="128"/>
                                        </p:tgtEl>
                                      </p:cBhvr>
                                    </p:animEffect>
                                  </p:childTnLst>
                                </p:cTn>
                              </p:par>
                              <p:par>
                                <p:cTn id="18" presetID="10" presetClass="entr" presetSubtype="0" fill="hold" nodeType="withEffect">
                                  <p:stCondLst>
                                    <p:cond delay="0"/>
                                  </p:stCondLst>
                                  <p:childTnLst>
                                    <p:set>
                                      <p:cBhvr>
                                        <p:cTn id="19" dur="1" fill="hold">
                                          <p:stCondLst>
                                            <p:cond delay="0"/>
                                          </p:stCondLst>
                                        </p:cTn>
                                        <p:tgtEl>
                                          <p:spTgt spid="125"/>
                                        </p:tgtEl>
                                        <p:attrNameLst>
                                          <p:attrName>style.visibility</p:attrName>
                                        </p:attrNameLst>
                                      </p:cBhvr>
                                      <p:to>
                                        <p:strVal val="visible"/>
                                      </p:to>
                                    </p:set>
                                    <p:animEffect transition="in" filter="fade">
                                      <p:cBhvr>
                                        <p:cTn id="20" dur="1000"/>
                                        <p:tgtEl>
                                          <p:spTgt spid="1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9"/>
                                        </p:tgtEl>
                                        <p:attrNameLst>
                                          <p:attrName>style.visibility</p:attrName>
                                        </p:attrNameLst>
                                      </p:cBhvr>
                                      <p:to>
                                        <p:strVal val="visible"/>
                                      </p:to>
                                    </p:set>
                                    <p:animEffect transition="in" filter="fade">
                                      <p:cBhvr>
                                        <p:cTn id="25" dur="1000"/>
                                        <p:tgtEl>
                                          <p:spTgt spid="129"/>
                                        </p:tgtEl>
                                      </p:cBhvr>
                                    </p:animEffect>
                                  </p:childTnLst>
                                </p:cTn>
                              </p:par>
                              <p:par>
                                <p:cTn id="26" presetID="10" presetClass="entr" presetSubtype="0" fill="hold" nodeType="with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fade">
                                      <p:cBhvr>
                                        <p:cTn id="28" dur="1000"/>
                                        <p:tgtEl>
                                          <p:spTgt spid="130"/>
                                        </p:tgtEl>
                                      </p:cBhvr>
                                    </p:animEffect>
                                  </p:childTnLst>
                                </p:cTn>
                              </p:par>
                              <p:par>
                                <p:cTn id="29" presetID="10" presetClass="entr" presetSubtype="0" fill="hold" nodeType="withEffect">
                                  <p:stCondLst>
                                    <p:cond delay="0"/>
                                  </p:stCondLst>
                                  <p:childTnLst>
                                    <p:set>
                                      <p:cBhvr>
                                        <p:cTn id="30" dur="1" fill="hold">
                                          <p:stCondLst>
                                            <p:cond delay="0"/>
                                          </p:stCondLst>
                                        </p:cTn>
                                        <p:tgtEl>
                                          <p:spTgt spid="132"/>
                                        </p:tgtEl>
                                        <p:attrNameLst>
                                          <p:attrName>style.visibility</p:attrName>
                                        </p:attrNameLst>
                                      </p:cBhvr>
                                      <p:to>
                                        <p:strVal val="visible"/>
                                      </p:to>
                                    </p:set>
                                    <p:animEffect transition="in" filter="fade">
                                      <p:cBhvr>
                                        <p:cTn id="31" dur="1000"/>
                                        <p:tgtEl>
                                          <p:spTgt spid="132"/>
                                        </p:tgtEl>
                                      </p:cBhvr>
                                    </p:animEffect>
                                  </p:childTnLst>
                                </p:cTn>
                              </p:par>
                              <p:par>
                                <p:cTn id="32" presetID="10" presetClass="entr" presetSubtype="0" fill="hold" nodeType="withEffect">
                                  <p:stCondLst>
                                    <p:cond delay="0"/>
                                  </p:stCondLst>
                                  <p:childTnLst>
                                    <p:set>
                                      <p:cBhvr>
                                        <p:cTn id="33" dur="1" fill="hold">
                                          <p:stCondLst>
                                            <p:cond delay="0"/>
                                          </p:stCondLst>
                                        </p:cTn>
                                        <p:tgtEl>
                                          <p:spTgt spid="131"/>
                                        </p:tgtEl>
                                        <p:attrNameLst>
                                          <p:attrName>style.visibility</p:attrName>
                                        </p:attrNameLst>
                                      </p:cBhvr>
                                      <p:to>
                                        <p:strVal val="visible"/>
                                      </p:to>
                                    </p:set>
                                    <p:animEffect transition="in" filter="fade">
                                      <p:cBhvr>
                                        <p:cTn id="34"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p-valor</a:t>
            </a:r>
            <a:endParaRPr/>
          </a:p>
        </p:txBody>
      </p:sp>
      <p:sp>
        <p:nvSpPr>
          <p:cNvPr id="138" name="Google Shape;138;p24"/>
          <p:cNvSpPr txBox="1">
            <a:spLocks noGrp="1"/>
          </p:cNvSpPr>
          <p:nvPr>
            <p:ph type="body" idx="1"/>
          </p:nvPr>
        </p:nvSpPr>
        <p:spPr>
          <a:xfrm>
            <a:off x="235500" y="1225225"/>
            <a:ext cx="8363100" cy="1527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sz="2000"/>
              <a:t>Se calcula para la realización de NUESTRA muestra, nuestros datos</a:t>
            </a:r>
            <a:endParaRPr sz="2000"/>
          </a:p>
          <a:p>
            <a:pPr marL="0" lvl="0" indent="0" algn="l" rtl="0">
              <a:lnSpc>
                <a:spcPct val="100000"/>
              </a:lnSpc>
              <a:spcBef>
                <a:spcPts val="0"/>
              </a:spcBef>
              <a:spcAft>
                <a:spcPts val="0"/>
              </a:spcAft>
              <a:buNone/>
            </a:pPr>
            <a:endParaRPr sz="2000"/>
          </a:p>
          <a:p>
            <a:pPr marL="0" lvl="0" indent="0" algn="l" rtl="0">
              <a:lnSpc>
                <a:spcPct val="100000"/>
              </a:lnSpc>
              <a:spcBef>
                <a:spcPts val="0"/>
              </a:spcBef>
              <a:spcAft>
                <a:spcPts val="0"/>
              </a:spcAft>
              <a:buNone/>
            </a:pPr>
            <a:r>
              <a:rPr lang="es" sz="2000"/>
              <a:t>Es el nivel de significancia más pequeño que conduce al rechazo de la hipótesis nula H</a:t>
            </a:r>
            <a:r>
              <a:rPr lang="es" sz="2000" baseline="-25000"/>
              <a:t>0</a:t>
            </a:r>
            <a:r>
              <a:rPr lang="es" sz="2000"/>
              <a:t> </a:t>
            </a:r>
            <a:r>
              <a:rPr lang="es">
                <a:latin typeface="Arial"/>
                <a:ea typeface="Arial"/>
                <a:cs typeface="Arial"/>
                <a:sym typeface="Arial"/>
              </a:rPr>
              <a:t>: 𝝻=𝝻</a:t>
            </a:r>
            <a:r>
              <a:rPr lang="es" baseline="-25000">
                <a:latin typeface="Arial"/>
                <a:ea typeface="Arial"/>
                <a:cs typeface="Arial"/>
                <a:sym typeface="Arial"/>
              </a:rPr>
              <a:t>0</a:t>
            </a:r>
            <a:r>
              <a:rPr lang="es" sz="2000"/>
              <a:t>  En el primer ejemplo:</a:t>
            </a:r>
            <a:endParaRPr sz="2000"/>
          </a:p>
        </p:txBody>
      </p:sp>
      <p:pic>
        <p:nvPicPr>
          <p:cNvPr id="139" name="Google Shape;139;p24" descr="P \left ( \left .\left| \frac{\overline{X}-\mu_0}{s /\sqrt{n}} &#10; \right |\geq  \left| \frac{\overline{x}-\mu_0}{s /\sqrt{n}} &#10; \right |  \right | H_0 \right )=p-valor"/>
          <p:cNvPicPr preferRelativeResize="0"/>
          <p:nvPr/>
        </p:nvPicPr>
        <p:blipFill>
          <a:blip r:embed="rId3">
            <a:alphaModFix/>
          </a:blip>
          <a:stretch>
            <a:fillRect/>
          </a:stretch>
        </p:blipFill>
        <p:spPr>
          <a:xfrm>
            <a:off x="1371600" y="2971800"/>
            <a:ext cx="5819775" cy="790575"/>
          </a:xfrm>
          <a:prstGeom prst="rect">
            <a:avLst/>
          </a:prstGeom>
          <a:noFill/>
          <a:ln>
            <a:noFill/>
          </a:ln>
        </p:spPr>
      </p:pic>
      <p:sp>
        <p:nvSpPr>
          <p:cNvPr id="140" name="Google Shape;140;p24"/>
          <p:cNvSpPr txBox="1"/>
          <p:nvPr/>
        </p:nvSpPr>
        <p:spPr>
          <a:xfrm>
            <a:off x="1748225" y="3896100"/>
            <a:ext cx="15885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b="1">
                <a:solidFill>
                  <a:srgbClr val="1155CC"/>
                </a:solidFill>
                <a:latin typeface="Open Sans"/>
                <a:ea typeface="Open Sans"/>
                <a:cs typeface="Open Sans"/>
                <a:sym typeface="Open Sans"/>
              </a:rPr>
              <a:t>estadístico  T</a:t>
            </a:r>
            <a:r>
              <a:rPr lang="es" b="1" baseline="-25000">
                <a:solidFill>
                  <a:srgbClr val="1155CC"/>
                </a:solidFill>
                <a:latin typeface="Open Sans"/>
                <a:ea typeface="Open Sans"/>
                <a:cs typeface="Open Sans"/>
                <a:sym typeface="Open Sans"/>
              </a:rPr>
              <a:t>n-1</a:t>
            </a:r>
            <a:endParaRPr b="1" baseline="-25000">
              <a:solidFill>
                <a:srgbClr val="1155CC"/>
              </a:solidFill>
              <a:latin typeface="Open Sans"/>
              <a:ea typeface="Open Sans"/>
              <a:cs typeface="Open Sans"/>
              <a:sym typeface="Open Sans"/>
            </a:endParaRPr>
          </a:p>
        </p:txBody>
      </p:sp>
      <p:cxnSp>
        <p:nvCxnSpPr>
          <p:cNvPr id="141" name="Google Shape;141;p24"/>
          <p:cNvCxnSpPr/>
          <p:nvPr/>
        </p:nvCxnSpPr>
        <p:spPr>
          <a:xfrm>
            <a:off x="2175300" y="3780600"/>
            <a:ext cx="14700" cy="185700"/>
          </a:xfrm>
          <a:prstGeom prst="straightConnector1">
            <a:avLst/>
          </a:prstGeom>
          <a:noFill/>
          <a:ln w="9525" cap="flat" cmpd="sng">
            <a:solidFill>
              <a:schemeClr val="dk2"/>
            </a:solidFill>
            <a:prstDash val="solid"/>
            <a:round/>
            <a:headEnd type="triangle" w="med" len="med"/>
            <a:tailEnd type="none" w="med" len="med"/>
          </a:ln>
        </p:spPr>
      </p:cxnSp>
      <p:sp>
        <p:nvSpPr>
          <p:cNvPr id="142" name="Google Shape;142;p24"/>
          <p:cNvSpPr/>
          <p:nvPr/>
        </p:nvSpPr>
        <p:spPr>
          <a:xfrm>
            <a:off x="1888925" y="2877913"/>
            <a:ext cx="1279800" cy="901200"/>
          </a:xfrm>
          <a:prstGeom prst="roundRect">
            <a:avLst>
              <a:gd name="adj" fmla="val 16667"/>
            </a:avLst>
          </a:prstGeom>
          <a:noFill/>
          <a:ln w="28575"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4"/>
          <p:cNvSpPr/>
          <p:nvPr/>
        </p:nvSpPr>
        <p:spPr>
          <a:xfrm>
            <a:off x="3551275" y="2988800"/>
            <a:ext cx="1217700" cy="790500"/>
          </a:xfrm>
          <a:prstGeom prst="roundRect">
            <a:avLst>
              <a:gd name="adj" fmla="val 16667"/>
            </a:avLst>
          </a:prstGeom>
          <a:noFill/>
          <a:ln w="28575"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4"/>
          <p:cNvSpPr txBox="1"/>
          <p:nvPr/>
        </p:nvSpPr>
        <p:spPr>
          <a:xfrm>
            <a:off x="3500825" y="3896100"/>
            <a:ext cx="14205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b="1">
                <a:solidFill>
                  <a:srgbClr val="1155CC"/>
                </a:solidFill>
                <a:latin typeface="Open Sans"/>
                <a:ea typeface="Open Sans"/>
                <a:cs typeface="Open Sans"/>
                <a:sym typeface="Open Sans"/>
              </a:rPr>
              <a:t>realización</a:t>
            </a:r>
            <a:endParaRPr b="1">
              <a:solidFill>
                <a:srgbClr val="1155CC"/>
              </a:solidFill>
              <a:latin typeface="Open Sans"/>
              <a:ea typeface="Open Sans"/>
              <a:cs typeface="Open Sans"/>
              <a:sym typeface="Open Sans"/>
            </a:endParaRPr>
          </a:p>
        </p:txBody>
      </p:sp>
      <p:cxnSp>
        <p:nvCxnSpPr>
          <p:cNvPr id="145" name="Google Shape;145;p24"/>
          <p:cNvCxnSpPr/>
          <p:nvPr/>
        </p:nvCxnSpPr>
        <p:spPr>
          <a:xfrm>
            <a:off x="3927900" y="3780600"/>
            <a:ext cx="14700" cy="185700"/>
          </a:xfrm>
          <a:prstGeom prst="straightConnector1">
            <a:avLst/>
          </a:prstGeom>
          <a:noFill/>
          <a:ln w="9525" cap="flat" cmpd="sng">
            <a:solidFill>
              <a:schemeClr val="dk2"/>
            </a:solidFill>
            <a:prstDash val="solid"/>
            <a:round/>
            <a:headEnd type="triangl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fade">
                                      <p:cBhvr>
                                        <p:cTn id="7" dur="1000"/>
                                        <p:tgtEl>
                                          <p:spTgt spid="1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1"/>
                                        </p:tgtEl>
                                        <p:attrNameLst>
                                          <p:attrName>style.visibility</p:attrName>
                                        </p:attrNameLst>
                                      </p:cBhvr>
                                      <p:to>
                                        <p:strVal val="visible"/>
                                      </p:to>
                                    </p:set>
                                    <p:animEffect transition="in" filter="fade">
                                      <p:cBhvr>
                                        <p:cTn id="12" dur="1000"/>
                                        <p:tgtEl>
                                          <p:spTgt spid="141"/>
                                        </p:tgtEl>
                                      </p:cBhvr>
                                    </p:animEffect>
                                  </p:childTnLst>
                                </p:cTn>
                              </p:par>
                              <p:par>
                                <p:cTn id="13" presetID="10" presetClass="entr" presetSubtype="0" fill="hold" nodeType="withEffect">
                                  <p:stCondLst>
                                    <p:cond delay="0"/>
                                  </p:stCondLst>
                                  <p:childTnLst>
                                    <p:set>
                                      <p:cBhvr>
                                        <p:cTn id="14" dur="1" fill="hold">
                                          <p:stCondLst>
                                            <p:cond delay="0"/>
                                          </p:stCondLst>
                                        </p:cTn>
                                        <p:tgtEl>
                                          <p:spTgt spid="142"/>
                                        </p:tgtEl>
                                        <p:attrNameLst>
                                          <p:attrName>style.visibility</p:attrName>
                                        </p:attrNameLst>
                                      </p:cBhvr>
                                      <p:to>
                                        <p:strVal val="visible"/>
                                      </p:to>
                                    </p:set>
                                    <p:animEffect transition="in" filter="fade">
                                      <p:cBhvr>
                                        <p:cTn id="15" dur="1000"/>
                                        <p:tgtEl>
                                          <p:spTgt spid="142"/>
                                        </p:tgtEl>
                                      </p:cBhvr>
                                    </p:animEffect>
                                  </p:childTnLst>
                                </p:cTn>
                              </p:par>
                              <p:par>
                                <p:cTn id="16" presetID="10" presetClass="entr" presetSubtype="0" fill="hold" nodeType="withEffect">
                                  <p:stCondLst>
                                    <p:cond delay="0"/>
                                  </p:stCondLst>
                                  <p:childTnLst>
                                    <p:set>
                                      <p:cBhvr>
                                        <p:cTn id="17" dur="1" fill="hold">
                                          <p:stCondLst>
                                            <p:cond delay="0"/>
                                          </p:stCondLst>
                                        </p:cTn>
                                        <p:tgtEl>
                                          <p:spTgt spid="140"/>
                                        </p:tgtEl>
                                        <p:attrNameLst>
                                          <p:attrName>style.visibility</p:attrName>
                                        </p:attrNameLst>
                                      </p:cBhvr>
                                      <p:to>
                                        <p:strVal val="visible"/>
                                      </p:to>
                                    </p:set>
                                    <p:animEffect transition="in" filter="fade">
                                      <p:cBhvr>
                                        <p:cTn id="18" dur="1000"/>
                                        <p:tgtEl>
                                          <p:spTgt spid="14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3"/>
                                        </p:tgtEl>
                                        <p:attrNameLst>
                                          <p:attrName>style.visibility</p:attrName>
                                        </p:attrNameLst>
                                      </p:cBhvr>
                                      <p:to>
                                        <p:strVal val="visible"/>
                                      </p:to>
                                    </p:set>
                                    <p:animEffect transition="in" filter="fade">
                                      <p:cBhvr>
                                        <p:cTn id="23" dur="1000"/>
                                        <p:tgtEl>
                                          <p:spTgt spid="143"/>
                                        </p:tgtEl>
                                      </p:cBhvr>
                                    </p:animEffect>
                                  </p:childTnLst>
                                </p:cTn>
                              </p:par>
                              <p:par>
                                <p:cTn id="24" presetID="10" presetClass="entr" presetSubtype="0" fill="hold" nodeType="withEffect">
                                  <p:stCondLst>
                                    <p:cond delay="0"/>
                                  </p:stCondLst>
                                  <p:childTnLst>
                                    <p:set>
                                      <p:cBhvr>
                                        <p:cTn id="25" dur="1" fill="hold">
                                          <p:stCondLst>
                                            <p:cond delay="0"/>
                                          </p:stCondLst>
                                        </p:cTn>
                                        <p:tgtEl>
                                          <p:spTgt spid="145"/>
                                        </p:tgtEl>
                                        <p:attrNameLst>
                                          <p:attrName>style.visibility</p:attrName>
                                        </p:attrNameLst>
                                      </p:cBhvr>
                                      <p:to>
                                        <p:strVal val="visible"/>
                                      </p:to>
                                    </p:set>
                                    <p:animEffect transition="in" filter="fade">
                                      <p:cBhvr>
                                        <p:cTn id="26" dur="1000"/>
                                        <p:tgtEl>
                                          <p:spTgt spid="145"/>
                                        </p:tgtEl>
                                      </p:cBhvr>
                                    </p:animEffect>
                                  </p:childTnLst>
                                </p:cTn>
                              </p:par>
                              <p:par>
                                <p:cTn id="27" presetID="10" presetClass="entr" presetSubtype="0" fill="hold" nodeType="withEffect">
                                  <p:stCondLst>
                                    <p:cond delay="0"/>
                                  </p:stCondLst>
                                  <p:childTnLst>
                                    <p:set>
                                      <p:cBhvr>
                                        <p:cTn id="28" dur="1" fill="hold">
                                          <p:stCondLst>
                                            <p:cond delay="0"/>
                                          </p:stCondLst>
                                        </p:cTn>
                                        <p:tgtEl>
                                          <p:spTgt spid="144"/>
                                        </p:tgtEl>
                                        <p:attrNameLst>
                                          <p:attrName>style.visibility</p:attrName>
                                        </p:attrNameLst>
                                      </p:cBhvr>
                                      <p:to>
                                        <p:strVal val="visible"/>
                                      </p:to>
                                    </p:set>
                                    <p:animEffect transition="in" filter="fade">
                                      <p:cBhvr>
                                        <p:cTn id="29" dur="10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p-valor</a:t>
            </a:r>
            <a:endParaRPr/>
          </a:p>
        </p:txBody>
      </p:sp>
      <p:sp>
        <p:nvSpPr>
          <p:cNvPr id="151" name="Google Shape;151;p25"/>
          <p:cNvSpPr txBox="1">
            <a:spLocks noGrp="1"/>
          </p:cNvSpPr>
          <p:nvPr>
            <p:ph type="body" idx="1"/>
          </p:nvPr>
        </p:nvSpPr>
        <p:spPr>
          <a:xfrm>
            <a:off x="235500" y="1225225"/>
            <a:ext cx="8908500" cy="1527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a:t>Se usan nuestros datos, NUESTRA muestra. El resultado experimental es la realización del estadístico para nuestros datos (del experimento o estudio) .</a:t>
            </a:r>
            <a:endParaRPr/>
          </a:p>
        </p:txBody>
      </p:sp>
      <p:sp>
        <p:nvSpPr>
          <p:cNvPr id="152" name="Google Shape;152;p25"/>
          <p:cNvSpPr txBox="1"/>
          <p:nvPr/>
        </p:nvSpPr>
        <p:spPr>
          <a:xfrm>
            <a:off x="6320225" y="3438900"/>
            <a:ext cx="14205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b="1">
                <a:solidFill>
                  <a:srgbClr val="1155CC"/>
                </a:solidFill>
                <a:latin typeface="Open Sans"/>
                <a:ea typeface="Open Sans"/>
                <a:cs typeface="Open Sans"/>
                <a:sym typeface="Open Sans"/>
              </a:rPr>
              <a:t>realización/ experimental</a:t>
            </a:r>
            <a:endParaRPr b="1">
              <a:solidFill>
                <a:srgbClr val="1155CC"/>
              </a:solidFill>
              <a:latin typeface="Open Sans"/>
              <a:ea typeface="Open Sans"/>
              <a:cs typeface="Open Sans"/>
              <a:sym typeface="Open Sans"/>
            </a:endParaRPr>
          </a:p>
        </p:txBody>
      </p:sp>
      <p:cxnSp>
        <p:nvCxnSpPr>
          <p:cNvPr id="153" name="Google Shape;153;p25"/>
          <p:cNvCxnSpPr/>
          <p:nvPr/>
        </p:nvCxnSpPr>
        <p:spPr>
          <a:xfrm rot="10800000" flipH="1">
            <a:off x="2846525" y="3761750"/>
            <a:ext cx="3392400" cy="317700"/>
          </a:xfrm>
          <a:prstGeom prst="straightConnector1">
            <a:avLst/>
          </a:prstGeom>
          <a:noFill/>
          <a:ln w="19050" cap="flat" cmpd="sng">
            <a:solidFill>
              <a:schemeClr val="dk2"/>
            </a:solidFill>
            <a:prstDash val="solid"/>
            <a:round/>
            <a:headEnd type="triangle" w="med" len="med"/>
            <a:tailEnd type="none" w="med" len="med"/>
          </a:ln>
        </p:spPr>
      </p:cxnSp>
      <p:pic>
        <p:nvPicPr>
          <p:cNvPr id="154" name="Google Shape;154;p25"/>
          <p:cNvPicPr preferRelativeResize="0"/>
          <p:nvPr/>
        </p:nvPicPr>
        <p:blipFill rotWithShape="1">
          <a:blip r:embed="rId3">
            <a:alphaModFix/>
          </a:blip>
          <a:srcRect/>
          <a:stretch/>
        </p:blipFill>
        <p:spPr>
          <a:xfrm>
            <a:off x="216500" y="1947675"/>
            <a:ext cx="4704825" cy="3141000"/>
          </a:xfrm>
          <a:prstGeom prst="rect">
            <a:avLst/>
          </a:prstGeom>
          <a:noFill/>
          <a:ln>
            <a:noFill/>
          </a:ln>
        </p:spPr>
      </p:pic>
      <p:cxnSp>
        <p:nvCxnSpPr>
          <p:cNvPr id="155" name="Google Shape;155;p25"/>
          <p:cNvCxnSpPr/>
          <p:nvPr/>
        </p:nvCxnSpPr>
        <p:spPr>
          <a:xfrm rot="10800000" flipH="1">
            <a:off x="6593800" y="3940375"/>
            <a:ext cx="172500" cy="378900"/>
          </a:xfrm>
          <a:prstGeom prst="straightConnector1">
            <a:avLst/>
          </a:prstGeom>
          <a:noFill/>
          <a:ln w="19050" cap="flat" cmpd="sng">
            <a:solidFill>
              <a:schemeClr val="dk2"/>
            </a:solidFill>
            <a:prstDash val="solid"/>
            <a:round/>
            <a:headEnd type="triangle" w="med" len="med"/>
            <a:tailEnd type="none" w="med" len="med"/>
          </a:ln>
        </p:spPr>
      </p:cxnSp>
      <p:pic>
        <p:nvPicPr>
          <p:cNvPr id="156" name="Google Shape;156;p25" descr="P \left ( \left .\left| \frac{\overline{X}-\mu_0}{s /\sqrt{n}} &#10; \right |\geq  \left| \frac{\overline{x}-\mu_0}{s /\sqrt{n}} &#10; \right |  \right | H_0 \right )=p-valor"/>
          <p:cNvPicPr preferRelativeResize="0"/>
          <p:nvPr/>
        </p:nvPicPr>
        <p:blipFill>
          <a:blip r:embed="rId4">
            <a:alphaModFix/>
          </a:blip>
          <a:stretch>
            <a:fillRect/>
          </a:stretch>
        </p:blipFill>
        <p:spPr>
          <a:xfrm>
            <a:off x="5077825" y="4492475"/>
            <a:ext cx="3257440" cy="442500"/>
          </a:xfrm>
          <a:prstGeom prst="rect">
            <a:avLst/>
          </a:prstGeom>
          <a:noFill/>
          <a:ln>
            <a:noFill/>
          </a:ln>
        </p:spPr>
      </p:pic>
      <p:sp>
        <p:nvSpPr>
          <p:cNvPr id="157" name="Google Shape;157;p25"/>
          <p:cNvSpPr/>
          <p:nvPr/>
        </p:nvSpPr>
        <p:spPr>
          <a:xfrm>
            <a:off x="6320225" y="4416275"/>
            <a:ext cx="652500" cy="555600"/>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a:t>
            </a:r>
            <a:endParaRPr/>
          </a:p>
        </p:txBody>
      </p:sp>
      <p:sp>
        <p:nvSpPr>
          <p:cNvPr id="163" name="Google Shape;163;p2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Hay test para hacer dulce! depende de lo que se plantee como H</a:t>
            </a:r>
            <a:r>
              <a:rPr lang="es" baseline="-25000"/>
              <a:t>0</a:t>
            </a:r>
            <a:r>
              <a:rPr lang="es"/>
              <a:t>:</a:t>
            </a:r>
            <a:endParaRPr/>
          </a:p>
          <a:p>
            <a:pPr marL="457200" lvl="0" indent="-342900" algn="l" rtl="0">
              <a:spcBef>
                <a:spcPts val="1600"/>
              </a:spcBef>
              <a:spcAft>
                <a:spcPts val="0"/>
              </a:spcAft>
              <a:buSzPts val="1800"/>
              <a:buChar char="●"/>
            </a:pPr>
            <a:r>
              <a:rPr lang="es"/>
              <a:t>Independencia de variables. </a:t>
            </a:r>
            <a:endParaRPr/>
          </a:p>
          <a:p>
            <a:pPr marL="457200" lvl="0" indent="-342900" algn="l" rtl="0">
              <a:spcBef>
                <a:spcPts val="0"/>
              </a:spcBef>
              <a:spcAft>
                <a:spcPts val="0"/>
              </a:spcAft>
              <a:buSzPts val="1800"/>
              <a:buChar char="●"/>
            </a:pPr>
            <a:r>
              <a:rPr lang="es"/>
              <a:t>Independencias de variable categóricas: Test Chi-Cuadrado</a:t>
            </a:r>
            <a:endParaRPr/>
          </a:p>
          <a:p>
            <a:pPr marL="457200" lvl="0" indent="-342900" algn="l" rtl="0">
              <a:spcBef>
                <a:spcPts val="0"/>
              </a:spcBef>
              <a:spcAft>
                <a:spcPts val="0"/>
              </a:spcAft>
              <a:buSzPts val="1800"/>
              <a:buChar char="●"/>
            </a:pPr>
            <a:r>
              <a:rPr lang="es"/>
              <a:t>Que los datos provienen de  una distribución normal:  Test K-S</a:t>
            </a:r>
            <a:endParaRPr/>
          </a:p>
          <a:p>
            <a:pPr marL="457200" lvl="0" indent="-342900" algn="l" rtl="0">
              <a:spcBef>
                <a:spcPts val="0"/>
              </a:spcBef>
              <a:spcAft>
                <a:spcPts val="0"/>
              </a:spcAft>
              <a:buSzPts val="1800"/>
              <a:buChar char="●"/>
            </a:pPr>
            <a:r>
              <a:rPr lang="es"/>
              <a:t>Homocedasticidad (varianzas iguales).</a:t>
            </a:r>
            <a:endParaRPr/>
          </a:p>
          <a:p>
            <a:pPr marL="457200" lvl="0" indent="-342900" algn="l" rtl="0">
              <a:spcBef>
                <a:spcPts val="0"/>
              </a:spcBef>
              <a:spcAft>
                <a:spcPts val="0"/>
              </a:spcAft>
              <a:buSzPts val="1800"/>
              <a:buChar char="●"/>
            </a:pPr>
            <a:r>
              <a:rPr lang="es"/>
              <a:t>Igualdad de medias (de dos o más distribuciones/ tratamientos)</a:t>
            </a:r>
            <a:endParaRPr/>
          </a:p>
          <a:p>
            <a:pPr marL="457200" lvl="0" indent="-342900" algn="l" rtl="0">
              <a:spcBef>
                <a:spcPts val="0"/>
              </a:spcBef>
              <a:spcAft>
                <a:spcPts val="0"/>
              </a:spcAft>
              <a:buSzPts val="1800"/>
              <a:buChar char="●"/>
            </a:pPr>
            <a:r>
              <a:rPr lang="es"/>
              <a:t>A las de verificación de supuestos en general se las conoce como Pruebas de Bondad de ajuste.</a:t>
            </a:r>
            <a:endParaRPr/>
          </a:p>
          <a:p>
            <a:pPr marL="457200" lvl="0" indent="-342900" algn="l" rtl="0">
              <a:spcBef>
                <a:spcPts val="0"/>
              </a:spcBef>
              <a:spcAft>
                <a:spcPts val="0"/>
              </a:spcAft>
              <a:buSzPts val="1800"/>
              <a:buChar char="●"/>
            </a:pPr>
            <a:r>
              <a:rPr lang="es"/>
              <a:t>etc.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a:t>
            </a:r>
            <a:endParaRPr/>
          </a:p>
        </p:txBody>
      </p:sp>
      <p:sp>
        <p:nvSpPr>
          <p:cNvPr id="169" name="Google Shape;169;p27"/>
          <p:cNvSpPr txBox="1">
            <a:spLocks noGrp="1"/>
          </p:cNvSpPr>
          <p:nvPr>
            <p:ph type="body" idx="1"/>
          </p:nvPr>
        </p:nvSpPr>
        <p:spPr>
          <a:xfrm>
            <a:off x="311700" y="1225225"/>
            <a:ext cx="87144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b="1" u="sng">
                <a:solidFill>
                  <a:srgbClr val="1B786E"/>
                </a:solidFill>
              </a:rPr>
              <a:t>Test Chi-Cuadrado para independencia de v.a. categóricas:</a:t>
            </a:r>
            <a:endParaRPr b="1" u="sng">
              <a:solidFill>
                <a:srgbClr val="1B786E"/>
              </a:solidFill>
            </a:endParaRPr>
          </a:p>
          <a:p>
            <a:pPr marL="0" lvl="0" indent="0" algn="l" rtl="0">
              <a:spcBef>
                <a:spcPts val="1600"/>
              </a:spcBef>
              <a:spcAft>
                <a:spcPts val="0"/>
              </a:spcAft>
              <a:buNone/>
            </a:pPr>
            <a:r>
              <a:rPr lang="es"/>
              <a:t>Prueba si la distribución de datos categóricos de muestra coincide con una distribución esperada (de datos independientes). Nos sirve para probar si “el género” es independiente del “signo” de las personas (en determinada población). </a:t>
            </a:r>
            <a:endParaRPr/>
          </a:p>
          <a:p>
            <a:pPr marL="0" lvl="0" indent="0" algn="l" rtl="0">
              <a:spcBef>
                <a:spcPts val="1600"/>
              </a:spcBef>
              <a:spcAft>
                <a:spcPts val="0"/>
              </a:spcAft>
              <a:buNone/>
            </a:pPr>
            <a:r>
              <a:rPr lang="es"/>
              <a:t>Al trabajar con datos categóricos, los valores de las observaciones en sí mismas no son de mucha utilidad para las pruebas estadísticas porque las categorías como "masculino", "femenino" y "otro" no tienen ningún significado matemático. Las pruebas que tratan con variables categóricas se basan en </a:t>
            </a:r>
            <a:r>
              <a:rPr lang="es" b="1">
                <a:solidFill>
                  <a:srgbClr val="1B786E"/>
                </a:solidFill>
              </a:rPr>
              <a:t>conteos</a:t>
            </a:r>
            <a:r>
              <a:rPr lang="es"/>
              <a:t> de variables en lugar del valor real de las variables mismas.</a:t>
            </a:r>
            <a:endParaRPr/>
          </a:p>
          <a:p>
            <a:pPr marL="0" lvl="0" indent="0" algn="l" rtl="0">
              <a:spcBef>
                <a:spcPts val="1600"/>
              </a:spcBef>
              <a:spcAft>
                <a:spcPts val="16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3800"/>
              <a:t>Test Chi-Cuadrado  p/ independencia de v.a. categóricas</a:t>
            </a:r>
            <a:endParaRPr sz="3800"/>
          </a:p>
        </p:txBody>
      </p:sp>
      <p:sp>
        <p:nvSpPr>
          <p:cNvPr id="175" name="Google Shape;175;p28"/>
          <p:cNvSpPr txBox="1">
            <a:spLocks noGrp="1"/>
          </p:cNvSpPr>
          <p:nvPr>
            <p:ph type="body" idx="1"/>
          </p:nvPr>
        </p:nvSpPr>
        <p:spPr>
          <a:xfrm>
            <a:off x="311700" y="1225225"/>
            <a:ext cx="87144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1600"/>
              </a:spcAft>
              <a:buNone/>
            </a:pPr>
            <a:endParaRPr/>
          </a:p>
        </p:txBody>
      </p:sp>
      <p:sp>
        <p:nvSpPr>
          <p:cNvPr id="176" name="Google Shape;176;p28"/>
          <p:cNvSpPr txBox="1"/>
          <p:nvPr/>
        </p:nvSpPr>
        <p:spPr>
          <a:xfrm>
            <a:off x="326550" y="1118575"/>
            <a:ext cx="8490300" cy="831300"/>
          </a:xfrm>
          <a:prstGeom prst="rect">
            <a:avLst/>
          </a:prstGeom>
          <a:noFill/>
          <a:ln>
            <a:noFill/>
          </a:ln>
        </p:spPr>
        <p:txBody>
          <a:bodyPr spcFirstLastPara="1" wrap="square" lIns="76025" tIns="76025" rIns="76025" bIns="76025" anchor="t" anchorCtr="0">
            <a:noAutofit/>
          </a:bodyPr>
          <a:lstStyle/>
          <a:p>
            <a:pPr marL="0" lvl="0" indent="0" algn="l" rtl="0">
              <a:spcBef>
                <a:spcPts val="0"/>
              </a:spcBef>
              <a:spcAft>
                <a:spcPts val="0"/>
              </a:spcAft>
              <a:buNone/>
            </a:pPr>
            <a:r>
              <a:rPr lang="es" sz="1800">
                <a:latin typeface="Open Sans"/>
                <a:ea typeface="Open Sans"/>
                <a:cs typeface="Open Sans"/>
                <a:sym typeface="Open Sans"/>
              </a:rPr>
              <a:t>Supongamos que tenemos los datos de 4 tratamientos médicos y con una descripción de cómo lo han recibido los pacientes. Los plasmamos en una </a:t>
            </a:r>
            <a:r>
              <a:rPr lang="es" sz="1800" b="1">
                <a:latin typeface="Open Sans"/>
                <a:ea typeface="Open Sans"/>
                <a:cs typeface="Open Sans"/>
                <a:sym typeface="Open Sans"/>
              </a:rPr>
              <a:t>tabla de contingencia</a:t>
            </a:r>
            <a:endParaRPr sz="1800" b="1">
              <a:latin typeface="Open Sans"/>
              <a:ea typeface="Open Sans"/>
              <a:cs typeface="Open Sans"/>
              <a:sym typeface="Open Sans"/>
            </a:endParaRPr>
          </a:p>
        </p:txBody>
      </p:sp>
      <p:graphicFrame>
        <p:nvGraphicFramePr>
          <p:cNvPr id="177" name="Google Shape;177;p28"/>
          <p:cNvGraphicFramePr/>
          <p:nvPr/>
        </p:nvGraphicFramePr>
        <p:xfrm>
          <a:off x="952500" y="2266650"/>
          <a:ext cx="7239000" cy="2377260"/>
        </p:xfrm>
        <a:graphic>
          <a:graphicData uri="http://schemas.openxmlformats.org/drawingml/2006/table">
            <a:tbl>
              <a:tblPr>
                <a:noFill/>
                <a:tableStyleId>{17582739-DFEA-47E1-A5AE-512455B4713D}</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s"/>
                        <a:t>Trat_</a:t>
                      </a:r>
                      <a:r>
                        <a:rPr lang="es" sz="1400" u="none" strike="noStrike" cap="none"/>
                        <a:t>i \Res_ j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Peor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igual</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mejor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Tratamiento1</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7</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28</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115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solidFill>
                            <a:srgbClr val="000000"/>
                          </a:solidFill>
                        </a:rPr>
                        <a:t>Tratamiento2</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20</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85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solidFill>
                            <a:srgbClr val="000000"/>
                          </a:solidFill>
                        </a:rPr>
                        <a:t>Tratamiento3</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10</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30</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90</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solidFill>
                            <a:srgbClr val="000000"/>
                          </a:solidFill>
                        </a:rPr>
                        <a:t>Tratamiento4</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40</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115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560</a:t>
                      </a:r>
                      <a:endParaRPr sz="1400" u="none" strike="noStrike" cap="none"/>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3800"/>
              <a:t>Test Chi-Cuadrado  p/ independencia de v.a. categóricas</a:t>
            </a:r>
            <a:endParaRPr sz="3800"/>
          </a:p>
        </p:txBody>
      </p:sp>
      <p:sp>
        <p:nvSpPr>
          <p:cNvPr id="183" name="Google Shape;183;p29"/>
          <p:cNvSpPr txBox="1">
            <a:spLocks noGrp="1"/>
          </p:cNvSpPr>
          <p:nvPr>
            <p:ph type="body" idx="1"/>
          </p:nvPr>
        </p:nvSpPr>
        <p:spPr>
          <a:xfrm>
            <a:off x="311700" y="1225225"/>
            <a:ext cx="87144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1600"/>
              </a:spcAft>
              <a:buNone/>
            </a:pPr>
            <a:endParaRPr/>
          </a:p>
        </p:txBody>
      </p:sp>
      <p:sp>
        <p:nvSpPr>
          <p:cNvPr id="184" name="Google Shape;184;p29"/>
          <p:cNvSpPr txBox="1"/>
          <p:nvPr/>
        </p:nvSpPr>
        <p:spPr>
          <a:xfrm>
            <a:off x="326550" y="1118575"/>
            <a:ext cx="8490300" cy="831300"/>
          </a:xfrm>
          <a:prstGeom prst="rect">
            <a:avLst/>
          </a:prstGeom>
          <a:noFill/>
          <a:ln>
            <a:noFill/>
          </a:ln>
        </p:spPr>
        <p:txBody>
          <a:bodyPr spcFirstLastPara="1" wrap="square" lIns="76025" tIns="76025" rIns="76025" bIns="76025" anchor="t" anchorCtr="0">
            <a:noAutofit/>
          </a:bodyPr>
          <a:lstStyle/>
          <a:p>
            <a:pPr marL="0" lvl="0" indent="0" algn="l" rtl="0">
              <a:spcBef>
                <a:spcPts val="0"/>
              </a:spcBef>
              <a:spcAft>
                <a:spcPts val="0"/>
              </a:spcAft>
              <a:buClr>
                <a:schemeClr val="dk1"/>
              </a:buClr>
              <a:buSzPts val="1800"/>
              <a:buFont typeface="Arial"/>
              <a:buNone/>
            </a:pPr>
            <a:r>
              <a:rPr lang="es" sz="1800">
                <a:solidFill>
                  <a:schemeClr val="dk1"/>
                </a:solidFill>
              </a:rPr>
              <a:t>En primer lugar vamos a plantear nuestras hipótesis</a:t>
            </a:r>
            <a:endParaRPr sz="1800">
              <a:solidFill>
                <a:schemeClr val="dk1"/>
              </a:solidFill>
            </a:endParaRPr>
          </a:p>
          <a:p>
            <a:pPr marL="0" lvl="0" indent="0" algn="l" rtl="0">
              <a:spcBef>
                <a:spcPts val="0"/>
              </a:spcBef>
              <a:spcAft>
                <a:spcPts val="0"/>
              </a:spcAft>
              <a:buClr>
                <a:schemeClr val="dk1"/>
              </a:buClr>
              <a:buSzPts val="1800"/>
              <a:buFont typeface="Arial"/>
              <a:buNone/>
            </a:pPr>
            <a:endParaRPr sz="1800">
              <a:solidFill>
                <a:schemeClr val="dk1"/>
              </a:solidFill>
            </a:endParaRPr>
          </a:p>
          <a:p>
            <a:pPr marL="0" lvl="0" indent="0" algn="ctr" rtl="0">
              <a:spcBef>
                <a:spcPts val="0"/>
              </a:spcBef>
              <a:spcAft>
                <a:spcPts val="0"/>
              </a:spcAft>
              <a:buClr>
                <a:schemeClr val="dk1"/>
              </a:buClr>
              <a:buSzPts val="1800"/>
              <a:buFont typeface="Arial"/>
              <a:buNone/>
            </a:pPr>
            <a:r>
              <a:rPr lang="es" sz="1800" b="1">
                <a:solidFill>
                  <a:schemeClr val="dk1"/>
                </a:solidFill>
              </a:rPr>
              <a:t>H</a:t>
            </a:r>
            <a:r>
              <a:rPr lang="es" sz="1800" b="1" baseline="-25000">
                <a:solidFill>
                  <a:schemeClr val="dk1"/>
                </a:solidFill>
              </a:rPr>
              <a:t>0</a:t>
            </a:r>
            <a:r>
              <a:rPr lang="es" sz="1800" b="1">
                <a:solidFill>
                  <a:schemeClr val="dk1"/>
                </a:solidFill>
              </a:rPr>
              <a:t>=”las dos variables en estudio son independientes”</a:t>
            </a:r>
            <a:endParaRPr sz="1800" b="1">
              <a:solidFill>
                <a:schemeClr val="dk1"/>
              </a:solidFill>
            </a:endParaRPr>
          </a:p>
          <a:p>
            <a:pPr marL="0" lvl="0" indent="0" algn="ctr" rtl="0">
              <a:spcBef>
                <a:spcPts val="0"/>
              </a:spcBef>
              <a:spcAft>
                <a:spcPts val="0"/>
              </a:spcAft>
              <a:buClr>
                <a:schemeClr val="dk1"/>
              </a:buClr>
              <a:buSzPts val="1800"/>
              <a:buFont typeface="Arial"/>
              <a:buNone/>
            </a:pPr>
            <a:endParaRPr sz="1800" b="1">
              <a:solidFill>
                <a:schemeClr val="dk1"/>
              </a:solidFill>
            </a:endParaRPr>
          </a:p>
          <a:p>
            <a:pPr marL="0" lvl="0" indent="0" algn="ctr" rtl="0">
              <a:spcBef>
                <a:spcPts val="0"/>
              </a:spcBef>
              <a:spcAft>
                <a:spcPts val="0"/>
              </a:spcAft>
              <a:buClr>
                <a:schemeClr val="dk1"/>
              </a:buClr>
              <a:buSzPts val="1800"/>
              <a:buFont typeface="Arial"/>
              <a:buNone/>
            </a:pPr>
            <a:r>
              <a:rPr lang="es" sz="1800" b="1">
                <a:solidFill>
                  <a:schemeClr val="dk1"/>
                </a:solidFill>
              </a:rPr>
              <a:t>H</a:t>
            </a:r>
            <a:r>
              <a:rPr lang="es" sz="1800" b="1" baseline="-25000">
                <a:solidFill>
                  <a:schemeClr val="dk1"/>
                </a:solidFill>
              </a:rPr>
              <a:t>1</a:t>
            </a:r>
            <a:r>
              <a:rPr lang="es" sz="1800" b="1">
                <a:solidFill>
                  <a:schemeClr val="dk1"/>
                </a:solidFill>
              </a:rPr>
              <a:t>=”las dos variables en estudio están relacionadas”</a:t>
            </a:r>
            <a:endParaRPr sz="1800" b="1">
              <a:solidFill>
                <a:schemeClr val="dk1"/>
              </a:solidFill>
            </a:endParaRPr>
          </a:p>
          <a:p>
            <a:pPr marL="0" lvl="0" indent="0" algn="ctr" rtl="0">
              <a:spcBef>
                <a:spcPts val="0"/>
              </a:spcBef>
              <a:spcAft>
                <a:spcPts val="0"/>
              </a:spcAft>
              <a:buClr>
                <a:schemeClr val="dk1"/>
              </a:buClr>
              <a:buSzPts val="1800"/>
              <a:buFont typeface="Arial"/>
              <a:buNone/>
            </a:pPr>
            <a:endParaRPr sz="1800" b="1">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Como en los juicios, en estadística, se cumple </a:t>
            </a:r>
            <a:r>
              <a:rPr lang="es" sz="1800" b="1">
                <a:solidFill>
                  <a:schemeClr val="dk1"/>
                </a:solidFill>
              </a:rPr>
              <a:t>H</a:t>
            </a:r>
            <a:r>
              <a:rPr lang="es" sz="1800" b="1" baseline="-25000">
                <a:solidFill>
                  <a:schemeClr val="dk1"/>
                </a:solidFill>
              </a:rPr>
              <a:t>0</a:t>
            </a:r>
            <a:r>
              <a:rPr lang="es" sz="1800">
                <a:solidFill>
                  <a:schemeClr val="dk1"/>
                </a:solidFill>
              </a:rPr>
              <a:t> (las variables son independientes) hasta que demostremos lo contrario.</a:t>
            </a:r>
            <a:endParaRPr sz="1800">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3800"/>
              <a:t>Test Chi-Cuadrado  p/ independencia de v.a. categóricas</a:t>
            </a:r>
            <a:endParaRPr sz="3800"/>
          </a:p>
        </p:txBody>
      </p:sp>
      <p:sp>
        <p:nvSpPr>
          <p:cNvPr id="190" name="Google Shape;190;p30"/>
          <p:cNvSpPr txBox="1">
            <a:spLocks noGrp="1"/>
          </p:cNvSpPr>
          <p:nvPr>
            <p:ph type="body" idx="1"/>
          </p:nvPr>
        </p:nvSpPr>
        <p:spPr>
          <a:xfrm>
            <a:off x="311700" y="1225225"/>
            <a:ext cx="87144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1600"/>
              </a:spcAft>
              <a:buNone/>
            </a:pPr>
            <a:endParaRPr/>
          </a:p>
        </p:txBody>
      </p:sp>
      <p:sp>
        <p:nvSpPr>
          <p:cNvPr id="191" name="Google Shape;191;p30"/>
          <p:cNvSpPr txBox="1"/>
          <p:nvPr/>
        </p:nvSpPr>
        <p:spPr>
          <a:xfrm>
            <a:off x="326550" y="1347168"/>
            <a:ext cx="8327100" cy="895500"/>
          </a:xfrm>
          <a:prstGeom prst="rect">
            <a:avLst/>
          </a:prstGeom>
          <a:noFill/>
          <a:ln>
            <a:noFill/>
          </a:ln>
        </p:spPr>
        <p:txBody>
          <a:bodyPr spcFirstLastPara="1" wrap="square" lIns="76025" tIns="76025" rIns="76025" bIns="76025" anchor="t" anchorCtr="0">
            <a:noAutofit/>
          </a:bodyPr>
          <a:lstStyle/>
          <a:p>
            <a:pPr marL="0" lvl="0" indent="0" algn="l" rtl="0">
              <a:spcBef>
                <a:spcPts val="0"/>
              </a:spcBef>
              <a:spcAft>
                <a:spcPts val="0"/>
              </a:spcAft>
              <a:buNone/>
            </a:pPr>
            <a:r>
              <a:rPr lang="es" sz="1800">
                <a:latin typeface="Open Sans"/>
                <a:ea typeface="Open Sans"/>
                <a:cs typeface="Open Sans"/>
                <a:sym typeface="Open Sans"/>
              </a:rPr>
              <a:t>Entonces como datos disponibles tenemos las </a:t>
            </a:r>
            <a:r>
              <a:rPr lang="es" sz="1800">
                <a:highlight>
                  <a:srgbClr val="D5A6BD"/>
                </a:highlight>
                <a:latin typeface="Open Sans"/>
                <a:ea typeface="Open Sans"/>
                <a:cs typeface="Open Sans"/>
                <a:sym typeface="Open Sans"/>
              </a:rPr>
              <a:t>frecuencias observadas</a:t>
            </a:r>
            <a:r>
              <a:rPr lang="es" sz="1800">
                <a:latin typeface="Open Sans"/>
                <a:ea typeface="Open Sans"/>
                <a:cs typeface="Open Sans"/>
                <a:sym typeface="Open Sans"/>
              </a:rPr>
              <a:t>,  las </a:t>
            </a:r>
            <a:r>
              <a:rPr lang="es" sz="1800">
                <a:highlight>
                  <a:srgbClr val="6FA8DC"/>
                </a:highlight>
                <a:latin typeface="Open Sans"/>
                <a:ea typeface="Open Sans"/>
                <a:cs typeface="Open Sans"/>
                <a:sym typeface="Open Sans"/>
              </a:rPr>
              <a:t>frecuencias marginales </a:t>
            </a:r>
            <a:r>
              <a:rPr lang="es" sz="1800">
                <a:latin typeface="Open Sans"/>
                <a:ea typeface="Open Sans"/>
                <a:cs typeface="Open Sans"/>
                <a:sym typeface="Open Sans"/>
              </a:rPr>
              <a:t> y el número ‘gran total’ de la muestra</a:t>
            </a:r>
            <a:endParaRPr sz="1800">
              <a:latin typeface="Open Sans"/>
              <a:ea typeface="Open Sans"/>
              <a:cs typeface="Open Sans"/>
              <a:sym typeface="Open Sans"/>
            </a:endParaRPr>
          </a:p>
        </p:txBody>
      </p:sp>
      <p:graphicFrame>
        <p:nvGraphicFramePr>
          <p:cNvPr id="192" name="Google Shape;192;p30"/>
          <p:cNvGraphicFramePr/>
          <p:nvPr/>
        </p:nvGraphicFramePr>
        <p:xfrm>
          <a:off x="1028400" y="2246875"/>
          <a:ext cx="7239000" cy="2377260"/>
        </p:xfrm>
        <a:graphic>
          <a:graphicData uri="http://schemas.openxmlformats.org/drawingml/2006/table">
            <a:tbl>
              <a:tblPr>
                <a:noFill/>
                <a:tableStyleId>{17582739-DFEA-47E1-A5AE-512455B4713D}</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i x j = 4*3</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Peor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igual</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mejor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Tratamiento1</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7</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28</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115</a:t>
                      </a:r>
                      <a:endParaRPr sz="1400" u="none" strike="noStrike" cap="none">
                        <a:solidFill>
                          <a:srgbClr val="FFFF00"/>
                        </a:solidFill>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150</a:t>
                      </a:r>
                      <a:endParaRPr sz="1400" u="none" strike="noStrike" cap="none">
                        <a:highlight>
                          <a:srgbClr val="6D9EEB"/>
                        </a:highlight>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solidFill>
                            <a:srgbClr val="000000"/>
                          </a:solidFill>
                        </a:rPr>
                        <a:t>Tratamiento2</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15</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20</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85</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120</a:t>
                      </a:r>
                      <a:endParaRPr sz="1400" u="none" strike="noStrike" cap="none">
                        <a:highlight>
                          <a:srgbClr val="6D9EEB"/>
                        </a:highlight>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solidFill>
                            <a:srgbClr val="000000"/>
                          </a:solidFill>
                        </a:rPr>
                        <a:t>Tratamiento3</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10</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30</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90</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130</a:t>
                      </a:r>
                      <a:endParaRPr sz="1400" u="none" strike="noStrike" cap="none">
                        <a:highlight>
                          <a:srgbClr val="6D9EEB"/>
                        </a:highlight>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solidFill>
                            <a:srgbClr val="000000"/>
                          </a:solidFill>
                        </a:rPr>
                        <a:t>Tratamiento4</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5</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40</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C27BA0"/>
                          </a:highlight>
                        </a:rPr>
                        <a:t>115</a:t>
                      </a:r>
                      <a:endParaRPr sz="1400" u="none" strike="noStrike" cap="none">
                        <a:highlight>
                          <a:srgbClr val="C27BA0"/>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160</a:t>
                      </a:r>
                      <a:endParaRPr sz="1400" u="none" strike="noStrike" cap="none">
                        <a:highlight>
                          <a:srgbClr val="6D9EEB"/>
                        </a:highlight>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37</a:t>
                      </a:r>
                      <a:endParaRPr sz="1400" u="none" strike="noStrike" cap="none">
                        <a:highlight>
                          <a:srgbClr val="6D9EEB"/>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118</a:t>
                      </a:r>
                      <a:endParaRPr sz="1400" u="none" strike="noStrike" cap="none">
                        <a:highlight>
                          <a:srgbClr val="6D9EEB"/>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highlight>
                            <a:srgbClr val="6D9EEB"/>
                          </a:highlight>
                        </a:rPr>
                        <a:t>405</a:t>
                      </a:r>
                      <a:endParaRPr sz="1400" u="none" strike="noStrike" cap="none">
                        <a:highlight>
                          <a:srgbClr val="6D9EEB"/>
                        </a:highligh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560</a:t>
                      </a:r>
                      <a:endParaRPr sz="1400" u="none" strike="noStrike" cap="none"/>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3800"/>
              <a:t>Test Chi-Cuadrado  p/ independencia de v.a. categóricas</a:t>
            </a:r>
            <a:endParaRPr sz="3800"/>
          </a:p>
        </p:txBody>
      </p:sp>
      <p:sp>
        <p:nvSpPr>
          <p:cNvPr id="198" name="Google Shape;198;p31"/>
          <p:cNvSpPr txBox="1">
            <a:spLocks noGrp="1"/>
          </p:cNvSpPr>
          <p:nvPr>
            <p:ph type="body" idx="1"/>
          </p:nvPr>
        </p:nvSpPr>
        <p:spPr>
          <a:xfrm>
            <a:off x="311700" y="1225225"/>
            <a:ext cx="8714400" cy="83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1600"/>
              </a:spcAft>
              <a:buNone/>
            </a:pPr>
            <a:endParaRPr/>
          </a:p>
        </p:txBody>
      </p:sp>
      <p:sp>
        <p:nvSpPr>
          <p:cNvPr id="199" name="Google Shape;199;p31"/>
          <p:cNvSpPr/>
          <p:nvPr/>
        </p:nvSpPr>
        <p:spPr>
          <a:xfrm>
            <a:off x="6257375" y="1254025"/>
            <a:ext cx="2107800" cy="1649100"/>
          </a:xfrm>
          <a:prstGeom prst="rect">
            <a:avLst/>
          </a:prstGeom>
          <a:solidFill>
            <a:srgbClr val="EEECE1"/>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FF0000"/>
              </a:highlight>
              <a:latin typeface="Arial"/>
              <a:ea typeface="Arial"/>
              <a:cs typeface="Arial"/>
              <a:sym typeface="Arial"/>
            </a:endParaRPr>
          </a:p>
        </p:txBody>
      </p:sp>
      <p:sp>
        <p:nvSpPr>
          <p:cNvPr id="200" name="Google Shape;200;p31"/>
          <p:cNvSpPr txBox="1"/>
          <p:nvPr/>
        </p:nvSpPr>
        <p:spPr>
          <a:xfrm>
            <a:off x="326550" y="1194778"/>
            <a:ext cx="8327100" cy="2994600"/>
          </a:xfrm>
          <a:prstGeom prst="rect">
            <a:avLst/>
          </a:prstGeom>
          <a:noFill/>
          <a:ln>
            <a:noFill/>
          </a:ln>
        </p:spPr>
        <p:txBody>
          <a:bodyPr spcFirstLastPara="1" wrap="square" lIns="76025" tIns="76025" rIns="76025" bIns="76025" anchor="t" anchorCtr="0">
            <a:noAutofit/>
          </a:bodyPr>
          <a:lstStyle/>
          <a:p>
            <a:pPr marL="0" lvl="0" indent="0" algn="l" rtl="0">
              <a:spcBef>
                <a:spcPts val="0"/>
              </a:spcBef>
              <a:spcAft>
                <a:spcPts val="0"/>
              </a:spcAft>
              <a:buNone/>
            </a:pPr>
            <a:r>
              <a:rPr lang="es" sz="1800"/>
              <a:t>¿cómo se contrasta la H</a:t>
            </a:r>
            <a:r>
              <a:rPr lang="es" sz="1800" baseline="-25000"/>
              <a:t>0</a:t>
            </a:r>
            <a:r>
              <a:rPr lang="es" sz="1800"/>
              <a:t>?</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s" sz="2800">
                <a:latin typeface="Economica"/>
                <a:ea typeface="Economica"/>
                <a:cs typeface="Economica"/>
                <a:sym typeface="Economica"/>
              </a:rPr>
              <a:t>fe</a:t>
            </a:r>
            <a:r>
              <a:rPr lang="es" sz="2800" baseline="-25000">
                <a:latin typeface="Economica"/>
                <a:ea typeface="Economica"/>
                <a:cs typeface="Economica"/>
                <a:sym typeface="Economica"/>
              </a:rPr>
              <a:t>ij</a:t>
            </a:r>
            <a:r>
              <a:rPr lang="es" sz="2800">
                <a:latin typeface="Economica"/>
                <a:ea typeface="Economica"/>
                <a:cs typeface="Economica"/>
                <a:sym typeface="Economica"/>
              </a:rPr>
              <a:t>= (total fila i-ésima)*(total columna j-ésima)</a:t>
            </a:r>
            <a:endParaRPr sz="2800">
              <a:latin typeface="Economica"/>
              <a:ea typeface="Economica"/>
              <a:cs typeface="Economica"/>
              <a:sym typeface="Economica"/>
            </a:endParaRPr>
          </a:p>
          <a:p>
            <a:pPr marL="2286000" lvl="0" indent="0" algn="l" rtl="0">
              <a:spcBef>
                <a:spcPts val="0"/>
              </a:spcBef>
              <a:spcAft>
                <a:spcPts val="0"/>
              </a:spcAft>
              <a:buNone/>
            </a:pPr>
            <a:r>
              <a:rPr lang="es" sz="2800">
                <a:latin typeface="Economica"/>
                <a:ea typeface="Economica"/>
                <a:cs typeface="Economica"/>
                <a:sym typeface="Economica"/>
              </a:rPr>
              <a:t>gran total</a:t>
            </a:r>
            <a:endParaRPr sz="2800">
              <a:latin typeface="Economica"/>
              <a:ea typeface="Economica"/>
              <a:cs typeface="Economica"/>
              <a:sym typeface="Economica"/>
            </a:endParaRPr>
          </a:p>
          <a:p>
            <a:pPr marL="2286000" lvl="0" indent="0" algn="l" rtl="0">
              <a:spcBef>
                <a:spcPts val="0"/>
              </a:spcBef>
              <a:spcAft>
                <a:spcPts val="0"/>
              </a:spcAft>
              <a:buNone/>
            </a:pPr>
            <a:endParaRPr sz="3000">
              <a:latin typeface="Economica"/>
              <a:ea typeface="Economica"/>
              <a:cs typeface="Economica"/>
              <a:sym typeface="Economica"/>
            </a:endParaRPr>
          </a:p>
          <a:p>
            <a:pPr marL="0" lvl="0" indent="0" algn="l" rtl="0">
              <a:spcBef>
                <a:spcPts val="0"/>
              </a:spcBef>
              <a:spcAft>
                <a:spcPts val="0"/>
              </a:spcAft>
              <a:buNone/>
            </a:pPr>
            <a:endParaRPr sz="1800">
              <a:latin typeface="Open Sans"/>
              <a:ea typeface="Open Sans"/>
              <a:cs typeface="Open Sans"/>
              <a:sym typeface="Open Sans"/>
            </a:endParaRPr>
          </a:p>
          <a:p>
            <a:pPr marL="0" lvl="0" indent="0" algn="l" rtl="0">
              <a:spcBef>
                <a:spcPts val="0"/>
              </a:spcBef>
              <a:spcAft>
                <a:spcPts val="0"/>
              </a:spcAft>
              <a:buNone/>
            </a:pPr>
            <a:r>
              <a:rPr lang="es" sz="1800">
                <a:latin typeface="Open Sans"/>
                <a:ea typeface="Open Sans"/>
                <a:cs typeface="Open Sans"/>
                <a:sym typeface="Open Sans"/>
              </a:rPr>
              <a:t>Estadístico					con dist. Chi cuadrado bajo  </a:t>
            </a:r>
            <a:r>
              <a:rPr lang="es" sz="1800">
                <a:solidFill>
                  <a:schemeClr val="dk1"/>
                </a:solidFill>
              </a:rPr>
              <a:t>H</a:t>
            </a:r>
            <a:r>
              <a:rPr lang="es" sz="1800" baseline="-25000">
                <a:solidFill>
                  <a:schemeClr val="dk1"/>
                </a:solidFill>
              </a:rPr>
              <a:t>0</a:t>
            </a:r>
            <a:r>
              <a:rPr lang="es" sz="1800">
                <a:latin typeface="Open Sans"/>
                <a:ea typeface="Open Sans"/>
                <a:cs typeface="Open Sans"/>
                <a:sym typeface="Open Sans"/>
              </a:rPr>
              <a:t>.</a:t>
            </a:r>
            <a:endParaRPr sz="1800">
              <a:latin typeface="Open Sans"/>
              <a:ea typeface="Open Sans"/>
              <a:cs typeface="Open Sans"/>
              <a:sym typeface="Open Sans"/>
            </a:endParaRPr>
          </a:p>
          <a:p>
            <a:pPr marL="0" lvl="0" indent="0" algn="l" rtl="0">
              <a:spcBef>
                <a:spcPts val="0"/>
              </a:spcBef>
              <a:spcAft>
                <a:spcPts val="0"/>
              </a:spcAft>
              <a:buNone/>
            </a:pPr>
            <a:endParaRPr sz="1800">
              <a:latin typeface="Open Sans"/>
              <a:ea typeface="Open Sans"/>
              <a:cs typeface="Open Sans"/>
              <a:sym typeface="Open Sans"/>
            </a:endParaRPr>
          </a:p>
          <a:p>
            <a:pPr marL="0" lvl="0" indent="0" algn="l" rtl="0">
              <a:spcBef>
                <a:spcPts val="0"/>
              </a:spcBef>
              <a:spcAft>
                <a:spcPts val="0"/>
              </a:spcAft>
              <a:buNone/>
            </a:pPr>
            <a:endParaRPr sz="1800">
              <a:latin typeface="Open Sans"/>
              <a:ea typeface="Open Sans"/>
              <a:cs typeface="Open Sans"/>
              <a:sym typeface="Open Sans"/>
            </a:endParaRPr>
          </a:p>
          <a:p>
            <a:pPr marL="0" lvl="0" indent="0" algn="l" rtl="0">
              <a:spcBef>
                <a:spcPts val="0"/>
              </a:spcBef>
              <a:spcAft>
                <a:spcPts val="0"/>
              </a:spcAft>
              <a:buNone/>
            </a:pPr>
            <a:r>
              <a:rPr lang="es" sz="1800">
                <a:latin typeface="Open Sans"/>
                <a:ea typeface="Open Sans"/>
                <a:cs typeface="Open Sans"/>
                <a:sym typeface="Open Sans"/>
              </a:rPr>
              <a:t>depende de la suma de las diferencias al cuadrado de la frecuencias observadas y las esperadas</a:t>
            </a:r>
            <a:endParaRPr sz="1800">
              <a:latin typeface="Open Sans"/>
              <a:ea typeface="Open Sans"/>
              <a:cs typeface="Open Sans"/>
              <a:sym typeface="Open Sans"/>
            </a:endParaRPr>
          </a:p>
          <a:p>
            <a:pPr marL="2286000" lvl="0" indent="0" algn="l" rtl="0">
              <a:spcBef>
                <a:spcPts val="0"/>
              </a:spcBef>
              <a:spcAft>
                <a:spcPts val="0"/>
              </a:spcAft>
              <a:buNone/>
            </a:pPr>
            <a:endParaRPr sz="3000">
              <a:latin typeface="Economica"/>
              <a:ea typeface="Economica"/>
              <a:cs typeface="Economica"/>
              <a:sym typeface="Economica"/>
            </a:endParaRPr>
          </a:p>
        </p:txBody>
      </p:sp>
      <p:cxnSp>
        <p:nvCxnSpPr>
          <p:cNvPr id="201" name="Google Shape;201;p31"/>
          <p:cNvCxnSpPr/>
          <p:nvPr/>
        </p:nvCxnSpPr>
        <p:spPr>
          <a:xfrm>
            <a:off x="917300" y="2291950"/>
            <a:ext cx="4794000" cy="0"/>
          </a:xfrm>
          <a:prstGeom prst="straightConnector1">
            <a:avLst/>
          </a:prstGeom>
          <a:noFill/>
          <a:ln w="9525" cap="flat" cmpd="sng">
            <a:solidFill>
              <a:srgbClr val="1F497D"/>
            </a:solidFill>
            <a:prstDash val="solid"/>
            <a:round/>
            <a:headEnd type="none" w="sm" len="sm"/>
            <a:tailEnd type="none" w="sm" len="sm"/>
          </a:ln>
        </p:spPr>
      </p:cxnSp>
      <p:sp>
        <p:nvSpPr>
          <p:cNvPr id="202" name="Google Shape;202;p31"/>
          <p:cNvSpPr txBox="1"/>
          <p:nvPr/>
        </p:nvSpPr>
        <p:spPr>
          <a:xfrm>
            <a:off x="6443025" y="1232675"/>
            <a:ext cx="1725300" cy="15261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rgbClr val="000000"/>
                </a:solidFill>
                <a:latin typeface="Arial"/>
                <a:ea typeface="Arial"/>
                <a:cs typeface="Arial"/>
                <a:sym typeface="Arial"/>
              </a:rPr>
              <a:t>Se calculan las frecuencias que cabría esperar si las 2 variables fueran independientes</a:t>
            </a:r>
            <a:endParaRPr sz="1400" b="0" i="0" u="none" strike="noStrike" cap="none">
              <a:solidFill>
                <a:srgbClr val="000000"/>
              </a:solidFill>
              <a:latin typeface="Arial"/>
              <a:ea typeface="Arial"/>
              <a:cs typeface="Arial"/>
              <a:sym typeface="Arial"/>
            </a:endParaRPr>
          </a:p>
        </p:txBody>
      </p:sp>
      <p:pic>
        <p:nvPicPr>
          <p:cNvPr id="203" name="Google Shape;203;p31"/>
          <p:cNvPicPr preferRelativeResize="0"/>
          <p:nvPr/>
        </p:nvPicPr>
        <p:blipFill rotWithShape="1">
          <a:blip r:embed="rId3">
            <a:alphaModFix/>
          </a:blip>
          <a:srcRect/>
          <a:stretch/>
        </p:blipFill>
        <p:spPr>
          <a:xfrm>
            <a:off x="1652700" y="2873803"/>
            <a:ext cx="1725300" cy="12923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para igualdad de medias μ</a:t>
            </a:r>
            <a:r>
              <a:rPr lang="es" baseline="-25000"/>
              <a:t>1</a:t>
            </a:r>
            <a:r>
              <a:rPr lang="es"/>
              <a:t>=μ</a:t>
            </a:r>
            <a:r>
              <a:rPr lang="es" baseline="-25000"/>
              <a:t>2</a:t>
            </a:r>
            <a:r>
              <a:rPr lang="es"/>
              <a:t>  </a:t>
            </a:r>
            <a:endParaRPr/>
          </a:p>
        </p:txBody>
      </p:sp>
      <p:sp>
        <p:nvSpPr>
          <p:cNvPr id="209" name="Google Shape;209;p3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sz="3100">
                <a:latin typeface="Economica"/>
                <a:ea typeface="Economica"/>
                <a:cs typeface="Economica"/>
                <a:sym typeface="Economica"/>
              </a:rPr>
              <a:t>H</a:t>
            </a:r>
            <a:r>
              <a:rPr lang="es" sz="3100" baseline="-25000">
                <a:latin typeface="Economica"/>
                <a:ea typeface="Economica"/>
                <a:cs typeface="Economica"/>
                <a:sym typeface="Economica"/>
              </a:rPr>
              <a:t>0</a:t>
            </a:r>
            <a:r>
              <a:rPr lang="es" sz="3100">
                <a:latin typeface="Economica"/>
                <a:ea typeface="Economica"/>
                <a:cs typeface="Economica"/>
                <a:sym typeface="Economica"/>
              </a:rPr>
              <a:t>: μ</a:t>
            </a:r>
            <a:r>
              <a:rPr lang="es" sz="3100" baseline="-25000">
                <a:latin typeface="Economica"/>
                <a:ea typeface="Economica"/>
                <a:cs typeface="Economica"/>
                <a:sym typeface="Economica"/>
              </a:rPr>
              <a:t>1</a:t>
            </a:r>
            <a:r>
              <a:rPr lang="es" sz="3100">
                <a:latin typeface="Economica"/>
                <a:ea typeface="Economica"/>
                <a:cs typeface="Economica"/>
                <a:sym typeface="Economica"/>
              </a:rPr>
              <a:t>=μ</a:t>
            </a:r>
            <a:r>
              <a:rPr lang="es" sz="3100" baseline="-25000">
                <a:latin typeface="Economica"/>
                <a:ea typeface="Economica"/>
                <a:cs typeface="Economica"/>
                <a:sym typeface="Economica"/>
              </a:rPr>
              <a:t>2</a:t>
            </a:r>
            <a:r>
              <a:rPr lang="es" sz="3100">
                <a:latin typeface="Economica"/>
                <a:ea typeface="Economica"/>
                <a:cs typeface="Economica"/>
                <a:sym typeface="Economica"/>
              </a:rPr>
              <a:t>        o bien     H</a:t>
            </a:r>
            <a:r>
              <a:rPr lang="es" sz="3100" baseline="-25000">
                <a:latin typeface="Economica"/>
                <a:ea typeface="Economica"/>
                <a:cs typeface="Economica"/>
                <a:sym typeface="Economica"/>
              </a:rPr>
              <a:t>0</a:t>
            </a:r>
            <a:r>
              <a:rPr lang="es" sz="3100">
                <a:latin typeface="Economica"/>
                <a:ea typeface="Economica"/>
                <a:cs typeface="Economica"/>
                <a:sym typeface="Economica"/>
              </a:rPr>
              <a:t>: μ</a:t>
            </a:r>
            <a:r>
              <a:rPr lang="es" sz="3100" baseline="-25000">
                <a:latin typeface="Economica"/>
                <a:ea typeface="Economica"/>
                <a:cs typeface="Economica"/>
                <a:sym typeface="Economica"/>
              </a:rPr>
              <a:t>1</a:t>
            </a:r>
            <a:r>
              <a:rPr lang="es" sz="3100">
                <a:latin typeface="Economica"/>
                <a:ea typeface="Economica"/>
                <a:cs typeface="Economica"/>
                <a:sym typeface="Economica"/>
              </a:rPr>
              <a:t>-μ</a:t>
            </a:r>
            <a:r>
              <a:rPr lang="es" sz="3100" baseline="-25000">
                <a:latin typeface="Economica"/>
                <a:ea typeface="Economica"/>
                <a:cs typeface="Economica"/>
                <a:sym typeface="Economica"/>
              </a:rPr>
              <a:t>2</a:t>
            </a:r>
            <a:r>
              <a:rPr lang="es" sz="3100">
                <a:latin typeface="Economica"/>
                <a:ea typeface="Economica"/>
                <a:cs typeface="Economica"/>
                <a:sym typeface="Economica"/>
              </a:rPr>
              <a:t>=0</a:t>
            </a:r>
            <a:endParaRPr sz="3100">
              <a:latin typeface="Economica"/>
              <a:ea typeface="Economica"/>
              <a:cs typeface="Economica"/>
              <a:sym typeface="Economica"/>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Muestras apareadas</a:t>
            </a: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X</a:t>
            </a:r>
            <a:r>
              <a:rPr lang="es" baseline="-25000">
                <a:latin typeface="Arial"/>
                <a:ea typeface="Arial"/>
                <a:cs typeface="Arial"/>
                <a:sym typeface="Arial"/>
              </a:rPr>
              <a:t>1</a:t>
            </a:r>
            <a:r>
              <a:rPr lang="es">
                <a:latin typeface="Arial"/>
                <a:ea typeface="Arial"/>
                <a:cs typeface="Arial"/>
                <a:sym typeface="Arial"/>
              </a:rPr>
              <a:t>, X</a:t>
            </a:r>
            <a:r>
              <a:rPr lang="es" baseline="-25000">
                <a:latin typeface="Arial"/>
                <a:ea typeface="Arial"/>
                <a:cs typeface="Arial"/>
                <a:sym typeface="Arial"/>
              </a:rPr>
              <a:t> 2</a:t>
            </a:r>
            <a:r>
              <a:rPr lang="es">
                <a:latin typeface="Arial"/>
                <a:ea typeface="Arial"/>
                <a:cs typeface="Arial"/>
                <a:sym typeface="Arial"/>
              </a:rPr>
              <a:t> ,..., X</a:t>
            </a:r>
            <a:r>
              <a:rPr lang="es" baseline="-25000">
                <a:latin typeface="Arial"/>
                <a:ea typeface="Arial"/>
                <a:cs typeface="Arial"/>
                <a:sym typeface="Arial"/>
              </a:rPr>
              <a:t> n</a:t>
            </a:r>
            <a:r>
              <a:rPr lang="es">
                <a:latin typeface="Arial"/>
                <a:ea typeface="Arial"/>
                <a:cs typeface="Arial"/>
                <a:sym typeface="Arial"/>
              </a:rPr>
              <a:t>  una m.a. de una v.a. X~N(𝝻</a:t>
            </a:r>
            <a:r>
              <a:rPr lang="es" baseline="-25000">
                <a:latin typeface="Arial"/>
                <a:ea typeface="Arial"/>
                <a:cs typeface="Arial"/>
                <a:sym typeface="Arial"/>
              </a:rPr>
              <a:t>1</a:t>
            </a:r>
            <a:r>
              <a:rPr lang="es">
                <a:latin typeface="Arial"/>
                <a:ea typeface="Arial"/>
                <a:cs typeface="Arial"/>
                <a:sym typeface="Arial"/>
              </a:rPr>
              <a:t>,𝞂</a:t>
            </a:r>
            <a:r>
              <a:rPr lang="es" baseline="-25000">
                <a:latin typeface="Arial"/>
                <a:ea typeface="Arial"/>
                <a:cs typeface="Arial"/>
                <a:sym typeface="Arial"/>
              </a:rPr>
              <a:t>1</a:t>
            </a:r>
            <a:r>
              <a:rPr lang="es" baseline="30000">
                <a:latin typeface="Arial"/>
                <a:ea typeface="Arial"/>
                <a:cs typeface="Arial"/>
                <a:sym typeface="Arial"/>
              </a:rPr>
              <a:t>2</a:t>
            </a:r>
            <a:r>
              <a:rPr lang="es">
                <a:latin typeface="Arial"/>
                <a:ea typeface="Arial"/>
                <a:cs typeface="Arial"/>
                <a:sym typeface="Arial"/>
              </a:rPr>
              <a:t>)</a:t>
            </a: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Y</a:t>
            </a:r>
            <a:r>
              <a:rPr lang="es" baseline="-25000">
                <a:latin typeface="Arial"/>
                <a:ea typeface="Arial"/>
                <a:cs typeface="Arial"/>
                <a:sym typeface="Arial"/>
              </a:rPr>
              <a:t>1</a:t>
            </a:r>
            <a:r>
              <a:rPr lang="es">
                <a:latin typeface="Arial"/>
                <a:ea typeface="Arial"/>
                <a:cs typeface="Arial"/>
                <a:sym typeface="Arial"/>
              </a:rPr>
              <a:t>, X</a:t>
            </a:r>
            <a:r>
              <a:rPr lang="es" baseline="-25000">
                <a:latin typeface="Arial"/>
                <a:ea typeface="Arial"/>
                <a:cs typeface="Arial"/>
                <a:sym typeface="Arial"/>
              </a:rPr>
              <a:t> 2</a:t>
            </a:r>
            <a:r>
              <a:rPr lang="es">
                <a:latin typeface="Arial"/>
                <a:ea typeface="Arial"/>
                <a:cs typeface="Arial"/>
                <a:sym typeface="Arial"/>
              </a:rPr>
              <a:t> ,..., Y</a:t>
            </a:r>
            <a:r>
              <a:rPr lang="es" baseline="-25000">
                <a:latin typeface="Arial"/>
                <a:ea typeface="Arial"/>
                <a:cs typeface="Arial"/>
                <a:sym typeface="Arial"/>
              </a:rPr>
              <a:t> n</a:t>
            </a:r>
            <a:r>
              <a:rPr lang="es">
                <a:latin typeface="Arial"/>
                <a:ea typeface="Arial"/>
                <a:cs typeface="Arial"/>
                <a:sym typeface="Arial"/>
              </a:rPr>
              <a:t>  una m.a. de una v.a. Y~N(𝝻</a:t>
            </a:r>
            <a:r>
              <a:rPr lang="es" baseline="-25000">
                <a:latin typeface="Arial"/>
                <a:ea typeface="Arial"/>
                <a:cs typeface="Arial"/>
                <a:sym typeface="Arial"/>
              </a:rPr>
              <a:t>2</a:t>
            </a:r>
            <a:r>
              <a:rPr lang="es">
                <a:latin typeface="Arial"/>
                <a:ea typeface="Arial"/>
                <a:cs typeface="Arial"/>
                <a:sym typeface="Arial"/>
              </a:rPr>
              <a:t>,𝞂</a:t>
            </a:r>
            <a:r>
              <a:rPr lang="es" baseline="-25000">
                <a:latin typeface="Arial"/>
                <a:ea typeface="Arial"/>
                <a:cs typeface="Arial"/>
                <a:sym typeface="Arial"/>
              </a:rPr>
              <a:t>2</a:t>
            </a:r>
            <a:r>
              <a:rPr lang="es" baseline="30000">
                <a:latin typeface="Arial"/>
                <a:ea typeface="Arial"/>
                <a:cs typeface="Arial"/>
                <a:sym typeface="Arial"/>
              </a:rPr>
              <a:t>2</a:t>
            </a:r>
            <a:r>
              <a:rPr lang="es">
                <a:latin typeface="Arial"/>
                <a:ea typeface="Arial"/>
                <a:cs typeface="Arial"/>
                <a:sym typeface="Arial"/>
              </a:rPr>
              <a:t>)</a:t>
            </a:r>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(X</a:t>
            </a:r>
            <a:r>
              <a:rPr lang="es" baseline="-25000">
                <a:latin typeface="Arial"/>
                <a:ea typeface="Arial"/>
                <a:cs typeface="Arial"/>
                <a:sym typeface="Arial"/>
              </a:rPr>
              <a:t>1</a:t>
            </a:r>
            <a:r>
              <a:rPr lang="es">
                <a:latin typeface="Arial"/>
                <a:ea typeface="Arial"/>
                <a:cs typeface="Arial"/>
                <a:sym typeface="Arial"/>
              </a:rPr>
              <a:t>,Y</a:t>
            </a:r>
            <a:r>
              <a:rPr lang="es" baseline="-25000">
                <a:latin typeface="Arial"/>
                <a:ea typeface="Arial"/>
                <a:cs typeface="Arial"/>
                <a:sym typeface="Arial"/>
              </a:rPr>
              <a:t>1</a:t>
            </a:r>
            <a:r>
              <a:rPr lang="es">
                <a:latin typeface="Arial"/>
                <a:ea typeface="Arial"/>
                <a:cs typeface="Arial"/>
                <a:sym typeface="Arial"/>
              </a:rPr>
              <a:t>), (X</a:t>
            </a:r>
            <a:r>
              <a:rPr lang="es" baseline="-25000">
                <a:latin typeface="Arial"/>
                <a:ea typeface="Arial"/>
                <a:cs typeface="Arial"/>
                <a:sym typeface="Arial"/>
              </a:rPr>
              <a:t> 2</a:t>
            </a:r>
            <a:r>
              <a:rPr lang="es">
                <a:latin typeface="Arial"/>
                <a:ea typeface="Arial"/>
                <a:cs typeface="Arial"/>
                <a:sym typeface="Arial"/>
              </a:rPr>
              <a:t>,Y</a:t>
            </a:r>
            <a:r>
              <a:rPr lang="es" baseline="-25000">
                <a:latin typeface="Arial"/>
                <a:ea typeface="Arial"/>
                <a:cs typeface="Arial"/>
                <a:sym typeface="Arial"/>
              </a:rPr>
              <a:t>2</a:t>
            </a:r>
            <a:r>
              <a:rPr lang="es">
                <a:latin typeface="Arial"/>
                <a:ea typeface="Arial"/>
                <a:cs typeface="Arial"/>
                <a:sym typeface="Arial"/>
              </a:rPr>
              <a:t>)   ..., (X</a:t>
            </a:r>
            <a:r>
              <a:rPr lang="es" baseline="-25000">
                <a:latin typeface="Arial"/>
                <a:ea typeface="Arial"/>
                <a:cs typeface="Arial"/>
                <a:sym typeface="Arial"/>
              </a:rPr>
              <a:t> n</a:t>
            </a:r>
            <a:r>
              <a:rPr lang="es">
                <a:latin typeface="Arial"/>
                <a:ea typeface="Arial"/>
                <a:cs typeface="Arial"/>
                <a:sym typeface="Arial"/>
              </a:rPr>
              <a:t>,Y</a:t>
            </a:r>
            <a:r>
              <a:rPr lang="es" baseline="-25000">
                <a:latin typeface="Arial"/>
                <a:ea typeface="Arial"/>
                <a:cs typeface="Arial"/>
                <a:sym typeface="Arial"/>
              </a:rPr>
              <a:t>n</a:t>
            </a:r>
            <a:r>
              <a:rPr lang="es">
                <a:latin typeface="Arial"/>
                <a:ea typeface="Arial"/>
                <a:cs typeface="Arial"/>
                <a:sym typeface="Arial"/>
              </a:rPr>
              <a:t>)    una m.a. de una N((𝝻</a:t>
            </a:r>
            <a:r>
              <a:rPr lang="es" baseline="-25000">
                <a:latin typeface="Arial"/>
                <a:ea typeface="Arial"/>
                <a:cs typeface="Arial"/>
                <a:sym typeface="Arial"/>
              </a:rPr>
              <a:t>1</a:t>
            </a:r>
            <a:r>
              <a:rPr lang="es">
                <a:latin typeface="Arial"/>
                <a:ea typeface="Arial"/>
                <a:cs typeface="Arial"/>
                <a:sym typeface="Arial"/>
              </a:rPr>
              <a:t>,𝝻</a:t>
            </a:r>
            <a:r>
              <a:rPr lang="es" baseline="-25000">
                <a:latin typeface="Arial"/>
                <a:ea typeface="Arial"/>
                <a:cs typeface="Arial"/>
                <a:sym typeface="Arial"/>
              </a:rPr>
              <a:t>1</a:t>
            </a:r>
            <a:r>
              <a:rPr lang="es">
                <a:latin typeface="Arial"/>
                <a:ea typeface="Arial"/>
                <a:cs typeface="Arial"/>
                <a:sym typeface="Arial"/>
              </a:rPr>
              <a:t>),𝞂</a:t>
            </a:r>
            <a:r>
              <a:rPr lang="es" baseline="-25000">
                <a:latin typeface="Arial"/>
                <a:ea typeface="Arial"/>
                <a:cs typeface="Arial"/>
                <a:sym typeface="Arial"/>
              </a:rPr>
              <a:t>1</a:t>
            </a:r>
            <a:r>
              <a:rPr lang="es" baseline="30000">
                <a:latin typeface="Arial"/>
                <a:ea typeface="Arial"/>
                <a:cs typeface="Arial"/>
                <a:sym typeface="Arial"/>
              </a:rPr>
              <a:t>2</a:t>
            </a:r>
            <a:r>
              <a:rPr lang="es">
                <a:latin typeface="Arial"/>
                <a:ea typeface="Arial"/>
                <a:cs typeface="Arial"/>
                <a:sym typeface="Arial"/>
              </a:rPr>
              <a:t>, 𝞂</a:t>
            </a:r>
            <a:r>
              <a:rPr lang="es" baseline="-25000">
                <a:latin typeface="Arial"/>
                <a:ea typeface="Arial"/>
                <a:cs typeface="Arial"/>
                <a:sym typeface="Arial"/>
              </a:rPr>
              <a:t>2</a:t>
            </a:r>
            <a:r>
              <a:rPr lang="es" baseline="30000">
                <a:latin typeface="Arial"/>
                <a:ea typeface="Arial"/>
                <a:cs typeface="Arial"/>
                <a:sym typeface="Arial"/>
              </a:rPr>
              <a:t>2</a:t>
            </a:r>
            <a:r>
              <a:rPr lang="es">
                <a:latin typeface="Arial"/>
                <a:ea typeface="Arial"/>
                <a:cs typeface="Arial"/>
                <a:sym typeface="Arial"/>
              </a:rPr>
              <a:t>,𝛒)     </a:t>
            </a:r>
            <a:endParaRPr>
              <a:latin typeface="Arial"/>
              <a:ea typeface="Arial"/>
              <a:cs typeface="Arial"/>
              <a:sym typeface="Arial"/>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Z</a:t>
            </a:r>
            <a:r>
              <a:rPr lang="es" baseline="-25000">
                <a:latin typeface="Arial"/>
                <a:ea typeface="Arial"/>
                <a:cs typeface="Arial"/>
                <a:sym typeface="Arial"/>
              </a:rPr>
              <a:t>i</a:t>
            </a:r>
            <a:r>
              <a:rPr lang="es">
                <a:latin typeface="Arial"/>
                <a:ea typeface="Arial"/>
                <a:cs typeface="Arial"/>
                <a:sym typeface="Arial"/>
              </a:rPr>
              <a:t>=X</a:t>
            </a:r>
            <a:r>
              <a:rPr lang="es" baseline="-25000">
                <a:latin typeface="Arial"/>
                <a:ea typeface="Arial"/>
                <a:cs typeface="Arial"/>
                <a:sym typeface="Arial"/>
              </a:rPr>
              <a:t>i</a:t>
            </a:r>
            <a:r>
              <a:rPr lang="es">
                <a:latin typeface="Arial"/>
                <a:ea typeface="Arial"/>
                <a:cs typeface="Arial"/>
                <a:sym typeface="Arial"/>
              </a:rPr>
              <a:t>-Y</a:t>
            </a:r>
            <a:r>
              <a:rPr lang="es" baseline="-25000">
                <a:latin typeface="Arial"/>
                <a:ea typeface="Arial"/>
                <a:cs typeface="Arial"/>
                <a:sym typeface="Arial"/>
              </a:rPr>
              <a:t>i</a:t>
            </a:r>
            <a:r>
              <a:rPr lang="es">
                <a:latin typeface="Arial"/>
                <a:ea typeface="Arial"/>
                <a:cs typeface="Arial"/>
                <a:sym typeface="Arial"/>
              </a:rPr>
              <a:t> </a:t>
            </a:r>
            <a:endParaRPr>
              <a:latin typeface="Arial"/>
              <a:ea typeface="Arial"/>
              <a:cs typeface="Arial"/>
              <a:sym typeface="Arial"/>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Z</a:t>
            </a:r>
            <a:r>
              <a:rPr lang="es" baseline="-25000">
                <a:latin typeface="Arial"/>
                <a:ea typeface="Arial"/>
                <a:cs typeface="Arial"/>
                <a:sym typeface="Arial"/>
              </a:rPr>
              <a:t>1</a:t>
            </a:r>
            <a:r>
              <a:rPr lang="es">
                <a:latin typeface="Arial"/>
                <a:ea typeface="Arial"/>
                <a:cs typeface="Arial"/>
                <a:sym typeface="Arial"/>
              </a:rPr>
              <a:t>, Z</a:t>
            </a:r>
            <a:r>
              <a:rPr lang="es" baseline="-25000">
                <a:latin typeface="Arial"/>
                <a:ea typeface="Arial"/>
                <a:cs typeface="Arial"/>
                <a:sym typeface="Arial"/>
              </a:rPr>
              <a:t> 2</a:t>
            </a:r>
            <a:r>
              <a:rPr lang="es">
                <a:latin typeface="Arial"/>
                <a:ea typeface="Arial"/>
                <a:cs typeface="Arial"/>
                <a:sym typeface="Arial"/>
              </a:rPr>
              <a:t> ,..., Z</a:t>
            </a:r>
            <a:r>
              <a:rPr lang="es" baseline="-25000">
                <a:latin typeface="Arial"/>
                <a:ea typeface="Arial"/>
                <a:cs typeface="Arial"/>
                <a:sym typeface="Arial"/>
              </a:rPr>
              <a:t> n</a:t>
            </a:r>
            <a:r>
              <a:rPr lang="es">
                <a:latin typeface="Arial"/>
                <a:ea typeface="Arial"/>
                <a:cs typeface="Arial"/>
                <a:sym typeface="Arial"/>
              </a:rPr>
              <a:t>  una m.a. de una v.a. N(</a:t>
            </a:r>
            <a:r>
              <a:rPr lang="es">
                <a:solidFill>
                  <a:srgbClr val="1B786E"/>
                </a:solidFill>
                <a:latin typeface="Arial"/>
                <a:ea typeface="Arial"/>
                <a:cs typeface="Arial"/>
                <a:sym typeface="Arial"/>
              </a:rPr>
              <a:t>𝝻</a:t>
            </a:r>
            <a:r>
              <a:rPr lang="es" baseline="-25000">
                <a:solidFill>
                  <a:srgbClr val="1B786E"/>
                </a:solidFill>
                <a:latin typeface="Arial"/>
                <a:ea typeface="Arial"/>
                <a:cs typeface="Arial"/>
                <a:sym typeface="Arial"/>
              </a:rPr>
              <a:t>1</a:t>
            </a:r>
            <a:r>
              <a:rPr lang="es">
                <a:solidFill>
                  <a:srgbClr val="1B786E"/>
                </a:solidFill>
                <a:latin typeface="Arial"/>
                <a:ea typeface="Arial"/>
                <a:cs typeface="Arial"/>
                <a:sym typeface="Arial"/>
              </a:rPr>
              <a:t>-𝝻</a:t>
            </a:r>
            <a:r>
              <a:rPr lang="es" baseline="-25000">
                <a:solidFill>
                  <a:srgbClr val="1B786E"/>
                </a:solidFill>
                <a:latin typeface="Arial"/>
                <a:ea typeface="Arial"/>
                <a:cs typeface="Arial"/>
                <a:sym typeface="Arial"/>
              </a:rPr>
              <a:t>2</a:t>
            </a:r>
            <a:r>
              <a:rPr lang="es">
                <a:latin typeface="Arial"/>
                <a:ea typeface="Arial"/>
                <a:cs typeface="Arial"/>
                <a:sym typeface="Arial"/>
              </a:rPr>
              <a:t>, </a:t>
            </a:r>
            <a:r>
              <a:rPr lang="es">
                <a:solidFill>
                  <a:srgbClr val="85200C"/>
                </a:solidFill>
                <a:latin typeface="Arial"/>
                <a:ea typeface="Arial"/>
                <a:cs typeface="Arial"/>
                <a:sym typeface="Arial"/>
              </a:rPr>
              <a:t> 𝞂</a:t>
            </a:r>
            <a:r>
              <a:rPr lang="es" baseline="-25000">
                <a:solidFill>
                  <a:srgbClr val="85200C"/>
                </a:solidFill>
                <a:latin typeface="Arial"/>
                <a:ea typeface="Arial"/>
                <a:cs typeface="Arial"/>
                <a:sym typeface="Arial"/>
              </a:rPr>
              <a:t>1</a:t>
            </a:r>
            <a:r>
              <a:rPr lang="es" baseline="30000">
                <a:solidFill>
                  <a:srgbClr val="85200C"/>
                </a:solidFill>
                <a:latin typeface="Arial"/>
                <a:ea typeface="Arial"/>
                <a:cs typeface="Arial"/>
                <a:sym typeface="Arial"/>
              </a:rPr>
              <a:t>2</a:t>
            </a:r>
            <a:r>
              <a:rPr lang="es">
                <a:solidFill>
                  <a:srgbClr val="85200C"/>
                </a:solidFill>
                <a:latin typeface="Arial"/>
                <a:ea typeface="Arial"/>
                <a:cs typeface="Arial"/>
                <a:sym typeface="Arial"/>
              </a:rPr>
              <a:t>+ 𝞂</a:t>
            </a:r>
            <a:r>
              <a:rPr lang="es" baseline="-25000">
                <a:solidFill>
                  <a:srgbClr val="85200C"/>
                </a:solidFill>
                <a:latin typeface="Arial"/>
                <a:ea typeface="Arial"/>
                <a:cs typeface="Arial"/>
                <a:sym typeface="Arial"/>
              </a:rPr>
              <a:t>2</a:t>
            </a:r>
            <a:r>
              <a:rPr lang="es" baseline="30000">
                <a:solidFill>
                  <a:srgbClr val="85200C"/>
                </a:solidFill>
                <a:latin typeface="Arial"/>
                <a:ea typeface="Arial"/>
                <a:cs typeface="Arial"/>
                <a:sym typeface="Arial"/>
              </a:rPr>
              <a:t>2</a:t>
            </a:r>
            <a:r>
              <a:rPr lang="es">
                <a:solidFill>
                  <a:srgbClr val="85200C"/>
                </a:solidFill>
                <a:latin typeface="Arial"/>
                <a:ea typeface="Arial"/>
                <a:cs typeface="Arial"/>
                <a:sym typeface="Arial"/>
              </a:rPr>
              <a:t>-2𝛒/(𝞂</a:t>
            </a:r>
            <a:r>
              <a:rPr lang="es" baseline="-25000">
                <a:solidFill>
                  <a:srgbClr val="85200C"/>
                </a:solidFill>
                <a:latin typeface="Arial"/>
                <a:ea typeface="Arial"/>
                <a:cs typeface="Arial"/>
                <a:sym typeface="Arial"/>
              </a:rPr>
              <a:t>1</a:t>
            </a:r>
            <a:r>
              <a:rPr lang="es">
                <a:solidFill>
                  <a:srgbClr val="85200C"/>
                </a:solidFill>
                <a:latin typeface="Arial"/>
                <a:ea typeface="Arial"/>
                <a:cs typeface="Arial"/>
                <a:sym typeface="Arial"/>
              </a:rPr>
              <a:t> 𝞂</a:t>
            </a:r>
            <a:r>
              <a:rPr lang="es" baseline="-25000">
                <a:solidFill>
                  <a:srgbClr val="85200C"/>
                </a:solidFill>
                <a:latin typeface="Arial"/>
                <a:ea typeface="Arial"/>
                <a:cs typeface="Arial"/>
                <a:sym typeface="Arial"/>
              </a:rPr>
              <a:t>2</a:t>
            </a:r>
            <a:r>
              <a:rPr lang="es">
                <a:solidFill>
                  <a:srgbClr val="85200C"/>
                </a:solidFill>
                <a:latin typeface="Arial"/>
                <a:ea typeface="Arial"/>
                <a:cs typeface="Arial"/>
                <a:sym typeface="Arial"/>
              </a:rPr>
              <a:t>)</a:t>
            </a:r>
            <a:r>
              <a:rPr lang="es">
                <a:latin typeface="Arial"/>
                <a:ea typeface="Arial"/>
                <a:cs typeface="Arial"/>
                <a:sym typeface="Arial"/>
              </a:rPr>
              <a:t>) </a:t>
            </a:r>
            <a:r>
              <a:rPr lang="es">
                <a:highlight>
                  <a:schemeClr val="accent6"/>
                </a:highlight>
                <a:latin typeface="Arial"/>
                <a:ea typeface="Arial"/>
                <a:cs typeface="Arial"/>
                <a:sym typeface="Arial"/>
              </a:rPr>
              <a:t>=N(</a:t>
            </a:r>
            <a:r>
              <a:rPr lang="es">
                <a:solidFill>
                  <a:srgbClr val="1B786E"/>
                </a:solidFill>
                <a:highlight>
                  <a:schemeClr val="accent6"/>
                </a:highlight>
                <a:latin typeface="Arial"/>
                <a:ea typeface="Arial"/>
                <a:cs typeface="Arial"/>
                <a:sym typeface="Arial"/>
              </a:rPr>
              <a:t>0</a:t>
            </a:r>
            <a:r>
              <a:rPr lang="es">
                <a:highlight>
                  <a:schemeClr val="accent6"/>
                </a:highlight>
                <a:latin typeface="Arial"/>
                <a:ea typeface="Arial"/>
                <a:cs typeface="Arial"/>
                <a:sym typeface="Arial"/>
              </a:rPr>
              <a:t>,</a:t>
            </a:r>
            <a:r>
              <a:rPr lang="es">
                <a:solidFill>
                  <a:srgbClr val="A61C00"/>
                </a:solidFill>
                <a:highlight>
                  <a:schemeClr val="accent6"/>
                </a:highlight>
                <a:latin typeface="Arial"/>
                <a:ea typeface="Arial"/>
                <a:cs typeface="Arial"/>
                <a:sym typeface="Arial"/>
              </a:rPr>
              <a:t>𝞂</a:t>
            </a:r>
            <a:r>
              <a:rPr lang="es" baseline="30000">
                <a:solidFill>
                  <a:srgbClr val="A61C00"/>
                </a:solidFill>
                <a:highlight>
                  <a:schemeClr val="accent6"/>
                </a:highlight>
                <a:latin typeface="Arial"/>
                <a:ea typeface="Arial"/>
                <a:cs typeface="Arial"/>
                <a:sym typeface="Arial"/>
              </a:rPr>
              <a:t>2</a:t>
            </a:r>
            <a:r>
              <a:rPr lang="es">
                <a:highlight>
                  <a:schemeClr val="accent6"/>
                </a:highlight>
                <a:latin typeface="Arial"/>
                <a:ea typeface="Arial"/>
                <a:cs typeface="Arial"/>
                <a:sym typeface="Arial"/>
              </a:rPr>
              <a:t>) bajo H</a:t>
            </a:r>
            <a:r>
              <a:rPr lang="es" baseline="-25000">
                <a:highlight>
                  <a:schemeClr val="accent6"/>
                </a:highlight>
                <a:latin typeface="Arial"/>
                <a:ea typeface="Arial"/>
                <a:cs typeface="Arial"/>
                <a:sym typeface="Arial"/>
              </a:rPr>
              <a:t>0</a:t>
            </a:r>
            <a:endParaRPr baseline="-25000">
              <a:highlight>
                <a:schemeClr val="accent6"/>
              </a:highlight>
              <a:latin typeface="Arial"/>
              <a:ea typeface="Arial"/>
              <a:cs typeface="Arial"/>
              <a:sym typeface="Arial"/>
            </a:endParaRPr>
          </a:p>
          <a:p>
            <a:pPr marL="0" lvl="0" indent="0" algn="just" rtl="0">
              <a:spcBef>
                <a:spcPts val="0"/>
              </a:spcBef>
              <a:spcAft>
                <a:spcPts val="0"/>
              </a:spcAft>
              <a:buNone/>
            </a:pPr>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para igualdad de medias μ</a:t>
            </a:r>
            <a:r>
              <a:rPr lang="es" baseline="-25000"/>
              <a:t>1</a:t>
            </a:r>
            <a:r>
              <a:rPr lang="es"/>
              <a:t>=μ</a:t>
            </a:r>
            <a:r>
              <a:rPr lang="es" baseline="-25000"/>
              <a:t>2</a:t>
            </a:r>
            <a:r>
              <a:rPr lang="es"/>
              <a:t> </a:t>
            </a:r>
            <a:endParaRPr/>
          </a:p>
        </p:txBody>
      </p:sp>
      <p:sp>
        <p:nvSpPr>
          <p:cNvPr id="215" name="Google Shape;215;p3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sz="3400">
                <a:latin typeface="Economica"/>
                <a:ea typeface="Economica"/>
                <a:cs typeface="Economica"/>
                <a:sym typeface="Economica"/>
              </a:rPr>
              <a:t>H</a:t>
            </a:r>
            <a:r>
              <a:rPr lang="es" sz="3400" baseline="-25000">
                <a:latin typeface="Economica"/>
                <a:ea typeface="Economica"/>
                <a:cs typeface="Economica"/>
                <a:sym typeface="Economica"/>
              </a:rPr>
              <a:t>0</a:t>
            </a:r>
            <a:r>
              <a:rPr lang="es" sz="3400">
                <a:latin typeface="Economica"/>
                <a:ea typeface="Economica"/>
                <a:cs typeface="Economica"/>
                <a:sym typeface="Economica"/>
              </a:rPr>
              <a:t>: μ</a:t>
            </a:r>
            <a:r>
              <a:rPr lang="es" sz="3400" baseline="-25000">
                <a:latin typeface="Economica"/>
                <a:ea typeface="Economica"/>
                <a:cs typeface="Economica"/>
                <a:sym typeface="Economica"/>
              </a:rPr>
              <a:t>1</a:t>
            </a:r>
            <a:r>
              <a:rPr lang="es" sz="3400">
                <a:latin typeface="Economica"/>
                <a:ea typeface="Economica"/>
                <a:cs typeface="Economica"/>
                <a:sym typeface="Economica"/>
              </a:rPr>
              <a:t>=μ</a:t>
            </a:r>
            <a:r>
              <a:rPr lang="es" sz="3400" baseline="-25000">
                <a:latin typeface="Economica"/>
                <a:ea typeface="Economica"/>
                <a:cs typeface="Economica"/>
                <a:sym typeface="Economica"/>
              </a:rPr>
              <a:t>2</a:t>
            </a:r>
            <a:r>
              <a:rPr lang="es" sz="3400">
                <a:latin typeface="Economica"/>
                <a:ea typeface="Economica"/>
                <a:cs typeface="Economica"/>
                <a:sym typeface="Economica"/>
              </a:rPr>
              <a:t>        o bien     H</a:t>
            </a:r>
            <a:r>
              <a:rPr lang="es" sz="3400" baseline="-25000">
                <a:latin typeface="Economica"/>
                <a:ea typeface="Economica"/>
                <a:cs typeface="Economica"/>
                <a:sym typeface="Economica"/>
              </a:rPr>
              <a:t>0</a:t>
            </a:r>
            <a:r>
              <a:rPr lang="es" sz="3400">
                <a:latin typeface="Economica"/>
                <a:ea typeface="Economica"/>
                <a:cs typeface="Economica"/>
                <a:sym typeface="Economica"/>
              </a:rPr>
              <a:t>: μ</a:t>
            </a:r>
            <a:r>
              <a:rPr lang="es" sz="3400" baseline="-25000">
                <a:latin typeface="Economica"/>
                <a:ea typeface="Economica"/>
                <a:cs typeface="Economica"/>
                <a:sym typeface="Economica"/>
              </a:rPr>
              <a:t>1</a:t>
            </a:r>
            <a:r>
              <a:rPr lang="es" sz="3400">
                <a:latin typeface="Economica"/>
                <a:ea typeface="Economica"/>
                <a:cs typeface="Economica"/>
                <a:sym typeface="Economica"/>
              </a:rPr>
              <a:t>-μ</a:t>
            </a:r>
            <a:r>
              <a:rPr lang="es" sz="3400" baseline="-25000">
                <a:latin typeface="Economica"/>
                <a:ea typeface="Economica"/>
                <a:cs typeface="Economica"/>
                <a:sym typeface="Economica"/>
              </a:rPr>
              <a:t>2</a:t>
            </a:r>
            <a:r>
              <a:rPr lang="es" sz="3400">
                <a:latin typeface="Economica"/>
                <a:ea typeface="Economica"/>
                <a:cs typeface="Economica"/>
                <a:sym typeface="Economica"/>
              </a:rPr>
              <a:t>=0    (dif de medias 0)</a:t>
            </a:r>
            <a:endParaRPr sz="3400">
              <a:latin typeface="Economica"/>
              <a:ea typeface="Economica"/>
              <a:cs typeface="Economica"/>
              <a:sym typeface="Economica"/>
            </a:endParaRPr>
          </a:p>
          <a:p>
            <a:pPr marL="0" lvl="0" indent="0" algn="just" rtl="0">
              <a:spcBef>
                <a:spcPts val="0"/>
              </a:spcBef>
              <a:spcAft>
                <a:spcPts val="0"/>
              </a:spcAft>
              <a:buNone/>
            </a:pPr>
            <a:endParaRPr sz="1200">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X</a:t>
            </a:r>
            <a:r>
              <a:rPr lang="es" baseline="-25000">
                <a:latin typeface="Arial"/>
                <a:ea typeface="Arial"/>
                <a:cs typeface="Arial"/>
                <a:sym typeface="Arial"/>
              </a:rPr>
              <a:t>1</a:t>
            </a:r>
            <a:r>
              <a:rPr lang="es">
                <a:latin typeface="Arial"/>
                <a:ea typeface="Arial"/>
                <a:cs typeface="Arial"/>
                <a:sym typeface="Arial"/>
              </a:rPr>
              <a:t>, X</a:t>
            </a:r>
            <a:r>
              <a:rPr lang="es" baseline="-25000">
                <a:latin typeface="Arial"/>
                <a:ea typeface="Arial"/>
                <a:cs typeface="Arial"/>
                <a:sym typeface="Arial"/>
              </a:rPr>
              <a:t> 2</a:t>
            </a:r>
            <a:r>
              <a:rPr lang="es">
                <a:latin typeface="Arial"/>
                <a:ea typeface="Arial"/>
                <a:cs typeface="Arial"/>
                <a:sym typeface="Arial"/>
              </a:rPr>
              <a:t> ,..., X</a:t>
            </a:r>
            <a:r>
              <a:rPr lang="es" baseline="-25000">
                <a:latin typeface="Arial"/>
                <a:ea typeface="Arial"/>
                <a:cs typeface="Arial"/>
                <a:sym typeface="Arial"/>
              </a:rPr>
              <a:t> n1</a:t>
            </a:r>
            <a:r>
              <a:rPr lang="es">
                <a:latin typeface="Arial"/>
                <a:ea typeface="Arial"/>
                <a:cs typeface="Arial"/>
                <a:sym typeface="Arial"/>
              </a:rPr>
              <a:t>  una m.a. de una v.a. X~N(𝝻</a:t>
            </a:r>
            <a:r>
              <a:rPr lang="es" baseline="-25000">
                <a:latin typeface="Arial"/>
                <a:ea typeface="Arial"/>
                <a:cs typeface="Arial"/>
                <a:sym typeface="Arial"/>
              </a:rPr>
              <a:t>1</a:t>
            </a:r>
            <a:r>
              <a:rPr lang="es">
                <a:latin typeface="Arial"/>
                <a:ea typeface="Arial"/>
                <a:cs typeface="Arial"/>
                <a:sym typeface="Arial"/>
              </a:rPr>
              <a:t>,𝞂</a:t>
            </a:r>
            <a:r>
              <a:rPr lang="es" baseline="30000">
                <a:latin typeface="Arial"/>
                <a:ea typeface="Arial"/>
                <a:cs typeface="Arial"/>
                <a:sym typeface="Arial"/>
              </a:rPr>
              <a:t>2</a:t>
            </a:r>
            <a:r>
              <a:rPr lang="es">
                <a:latin typeface="Arial"/>
                <a:ea typeface="Arial"/>
                <a:cs typeface="Arial"/>
                <a:sym typeface="Arial"/>
              </a:rPr>
              <a:t>)</a:t>
            </a: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Y</a:t>
            </a:r>
            <a:r>
              <a:rPr lang="es" baseline="-25000">
                <a:latin typeface="Arial"/>
                <a:ea typeface="Arial"/>
                <a:cs typeface="Arial"/>
                <a:sym typeface="Arial"/>
              </a:rPr>
              <a:t>1</a:t>
            </a:r>
            <a:r>
              <a:rPr lang="es">
                <a:latin typeface="Arial"/>
                <a:ea typeface="Arial"/>
                <a:cs typeface="Arial"/>
                <a:sym typeface="Arial"/>
              </a:rPr>
              <a:t>, Y</a:t>
            </a:r>
            <a:r>
              <a:rPr lang="es" baseline="-25000">
                <a:latin typeface="Arial"/>
                <a:ea typeface="Arial"/>
                <a:cs typeface="Arial"/>
                <a:sym typeface="Arial"/>
              </a:rPr>
              <a:t> 2</a:t>
            </a:r>
            <a:r>
              <a:rPr lang="es">
                <a:latin typeface="Arial"/>
                <a:ea typeface="Arial"/>
                <a:cs typeface="Arial"/>
                <a:sym typeface="Arial"/>
              </a:rPr>
              <a:t> ,..., Y</a:t>
            </a:r>
            <a:r>
              <a:rPr lang="es" baseline="-25000">
                <a:latin typeface="Arial"/>
                <a:ea typeface="Arial"/>
                <a:cs typeface="Arial"/>
                <a:sym typeface="Arial"/>
              </a:rPr>
              <a:t> n2</a:t>
            </a:r>
            <a:r>
              <a:rPr lang="es">
                <a:latin typeface="Arial"/>
                <a:ea typeface="Arial"/>
                <a:cs typeface="Arial"/>
                <a:sym typeface="Arial"/>
              </a:rPr>
              <a:t>  una m.a. de una v.a. Y~N(𝝻</a:t>
            </a:r>
            <a:r>
              <a:rPr lang="es" baseline="-25000">
                <a:latin typeface="Arial"/>
                <a:ea typeface="Arial"/>
                <a:cs typeface="Arial"/>
                <a:sym typeface="Arial"/>
              </a:rPr>
              <a:t>2</a:t>
            </a:r>
            <a:r>
              <a:rPr lang="es">
                <a:latin typeface="Arial"/>
                <a:ea typeface="Arial"/>
                <a:cs typeface="Arial"/>
                <a:sym typeface="Arial"/>
              </a:rPr>
              <a:t>,𝞂</a:t>
            </a:r>
            <a:r>
              <a:rPr lang="es" baseline="30000">
                <a:latin typeface="Arial"/>
                <a:ea typeface="Arial"/>
                <a:cs typeface="Arial"/>
                <a:sym typeface="Arial"/>
              </a:rPr>
              <a:t>2</a:t>
            </a:r>
            <a:r>
              <a:rPr lang="es">
                <a:latin typeface="Arial"/>
                <a:ea typeface="Arial"/>
                <a:cs typeface="Arial"/>
                <a:sym typeface="Arial"/>
              </a:rPr>
              <a:t>)</a:t>
            </a:r>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endParaRPr>
              <a:highlight>
                <a:srgbClr val="FFFF00"/>
              </a:highlight>
              <a:latin typeface="Arial"/>
              <a:ea typeface="Arial"/>
              <a:cs typeface="Arial"/>
              <a:sym typeface="Arial"/>
            </a:endParaRPr>
          </a:p>
          <a:p>
            <a:pPr marL="0" lvl="0" indent="0" algn="just" rtl="0">
              <a:spcBef>
                <a:spcPts val="0"/>
              </a:spcBef>
              <a:spcAft>
                <a:spcPts val="0"/>
              </a:spcAft>
              <a:buNone/>
            </a:pPr>
            <a:endParaRPr>
              <a:highlight>
                <a:srgbClr val="FFFF00"/>
              </a:highlight>
              <a:latin typeface="Arial"/>
              <a:ea typeface="Arial"/>
              <a:cs typeface="Arial"/>
              <a:sym typeface="Arial"/>
            </a:endParaRPr>
          </a:p>
          <a:p>
            <a:pPr marL="0" lvl="0" indent="0" algn="just" rtl="0">
              <a:spcBef>
                <a:spcPts val="0"/>
              </a:spcBef>
              <a:spcAft>
                <a:spcPts val="0"/>
              </a:spcAft>
              <a:buNone/>
            </a:pPr>
            <a:endParaRPr>
              <a:highlight>
                <a:srgbClr val="FFFF00"/>
              </a:highlight>
              <a:latin typeface="Arial"/>
              <a:ea typeface="Arial"/>
              <a:cs typeface="Arial"/>
              <a:sym typeface="Arial"/>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endParaRPr>
              <a:latin typeface="Arial"/>
              <a:ea typeface="Arial"/>
              <a:cs typeface="Arial"/>
              <a:sym typeface="Arial"/>
            </a:endParaRPr>
          </a:p>
          <a:p>
            <a:pPr marL="0" lvl="0" indent="0" algn="just" rtl="0">
              <a:spcBef>
                <a:spcPts val="0"/>
              </a:spcBef>
              <a:spcAft>
                <a:spcPts val="0"/>
              </a:spcAft>
              <a:buNone/>
            </a:pPr>
            <a:r>
              <a:rPr lang="es">
                <a:latin typeface="Arial"/>
                <a:ea typeface="Arial"/>
                <a:cs typeface="Arial"/>
                <a:sym typeface="Arial"/>
              </a:rPr>
              <a:t>Varianzas distintas: Test de Welch (usa t de student con k grados de libertad)</a:t>
            </a:r>
            <a:endParaRPr>
              <a:latin typeface="Arial"/>
              <a:ea typeface="Arial"/>
              <a:cs typeface="Arial"/>
              <a:sym typeface="Arial"/>
            </a:endParaRPr>
          </a:p>
        </p:txBody>
      </p:sp>
      <p:pic>
        <p:nvPicPr>
          <p:cNvPr id="216" name="Google Shape;216;p33"/>
          <p:cNvPicPr preferRelativeResize="0"/>
          <p:nvPr/>
        </p:nvPicPr>
        <p:blipFill>
          <a:blip r:embed="rId3">
            <a:alphaModFix/>
          </a:blip>
          <a:stretch>
            <a:fillRect/>
          </a:stretch>
        </p:blipFill>
        <p:spPr>
          <a:xfrm>
            <a:off x="5524825" y="3901400"/>
            <a:ext cx="3564850" cy="556300"/>
          </a:xfrm>
          <a:prstGeom prst="rect">
            <a:avLst/>
          </a:prstGeom>
          <a:noFill/>
          <a:ln>
            <a:noFill/>
          </a:ln>
        </p:spPr>
      </p:pic>
      <p:pic>
        <p:nvPicPr>
          <p:cNvPr id="217" name="Google Shape;217;p33"/>
          <p:cNvPicPr preferRelativeResize="0"/>
          <p:nvPr/>
        </p:nvPicPr>
        <p:blipFill>
          <a:blip r:embed="rId4">
            <a:alphaModFix/>
          </a:blip>
          <a:stretch>
            <a:fillRect/>
          </a:stretch>
        </p:blipFill>
        <p:spPr>
          <a:xfrm>
            <a:off x="362900" y="3045700"/>
            <a:ext cx="5450550" cy="920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a:t>
            </a:r>
            <a:endParaRPr/>
          </a:p>
        </p:txBody>
      </p:sp>
      <p:sp>
        <p:nvSpPr>
          <p:cNvPr id="223" name="Google Shape;223;p34"/>
          <p:cNvSpPr txBox="1">
            <a:spLocks noGrp="1"/>
          </p:cNvSpPr>
          <p:nvPr>
            <p:ph type="body" idx="1"/>
          </p:nvPr>
        </p:nvSpPr>
        <p:spPr>
          <a:xfrm>
            <a:off x="235500" y="1225225"/>
            <a:ext cx="6782400" cy="3354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a:latin typeface="Arial"/>
                <a:ea typeface="Arial"/>
                <a:cs typeface="Arial"/>
                <a:sym typeface="Arial"/>
              </a:rPr>
              <a:t>Volviendo a las recetas… Hay test para hacer dulce!</a:t>
            </a:r>
            <a:endParaRPr>
              <a:latin typeface="Arial"/>
              <a:ea typeface="Arial"/>
              <a:cs typeface="Arial"/>
              <a:sym typeface="Arial"/>
            </a:endParaRPr>
          </a:p>
          <a:p>
            <a:pPr marL="0" lvl="0" indent="0" algn="l" rtl="0">
              <a:lnSpc>
                <a:spcPct val="100000"/>
              </a:lnSpc>
              <a:spcBef>
                <a:spcPts val="0"/>
              </a:spcBef>
              <a:spcAft>
                <a:spcPts val="0"/>
              </a:spcAft>
              <a:buNone/>
            </a:pPr>
            <a:endParaRPr>
              <a:latin typeface="Arial"/>
              <a:ea typeface="Arial"/>
              <a:cs typeface="Arial"/>
              <a:sym typeface="Arial"/>
            </a:endParaRPr>
          </a:p>
          <a:p>
            <a:pPr marL="0" lvl="0" indent="0" algn="l" rtl="0">
              <a:lnSpc>
                <a:spcPct val="100000"/>
              </a:lnSpc>
              <a:spcBef>
                <a:spcPts val="0"/>
              </a:spcBef>
              <a:spcAft>
                <a:spcPts val="0"/>
              </a:spcAft>
              <a:buNone/>
            </a:pPr>
            <a:r>
              <a:rPr lang="es">
                <a:latin typeface="Arial"/>
                <a:ea typeface="Arial"/>
                <a:cs typeface="Arial"/>
                <a:sym typeface="Arial"/>
              </a:rPr>
              <a:t>Hay que plantear bien los supuestos y la hipótesis nula </a:t>
            </a:r>
            <a:endParaRPr>
              <a:latin typeface="Arial"/>
              <a:ea typeface="Arial"/>
              <a:cs typeface="Arial"/>
              <a:sym typeface="Arial"/>
            </a:endParaRPr>
          </a:p>
          <a:p>
            <a:pPr marL="0" lvl="0" indent="0" algn="l" rtl="0">
              <a:lnSpc>
                <a:spcPct val="100000"/>
              </a:lnSpc>
              <a:spcBef>
                <a:spcPts val="0"/>
              </a:spcBef>
              <a:spcAft>
                <a:spcPts val="0"/>
              </a:spcAft>
              <a:buNone/>
            </a:pPr>
            <a:r>
              <a:rPr lang="es">
                <a:latin typeface="Arial"/>
                <a:ea typeface="Arial"/>
                <a:cs typeface="Arial"/>
                <a:sym typeface="Arial"/>
              </a:rPr>
              <a:t>Luego se fija el nivel de significancia </a:t>
            </a:r>
            <a:r>
              <a:rPr lang="es" sz="2400"/>
              <a:t>𝜶</a:t>
            </a:r>
            <a:endParaRPr/>
          </a:p>
          <a:p>
            <a:pPr marL="0" lvl="0" indent="0" algn="l" rtl="0">
              <a:lnSpc>
                <a:spcPct val="100000"/>
              </a:lnSpc>
              <a:spcBef>
                <a:spcPts val="0"/>
              </a:spcBef>
              <a:spcAft>
                <a:spcPts val="0"/>
              </a:spcAft>
              <a:buNone/>
            </a:pPr>
            <a:r>
              <a:rPr lang="es">
                <a:latin typeface="Arial"/>
                <a:ea typeface="Arial"/>
                <a:cs typeface="Arial"/>
                <a:sym typeface="Arial"/>
              </a:rPr>
              <a:t>para controlar el Error tipo I</a:t>
            </a:r>
            <a:endParaRPr>
              <a:latin typeface="Arial"/>
              <a:ea typeface="Arial"/>
              <a:cs typeface="Arial"/>
              <a:sym typeface="Arial"/>
            </a:endParaRPr>
          </a:p>
          <a:p>
            <a:pPr marL="0" lvl="0" indent="0" algn="l" rtl="0">
              <a:lnSpc>
                <a:spcPct val="100000"/>
              </a:lnSpc>
              <a:spcBef>
                <a:spcPts val="0"/>
              </a:spcBef>
              <a:spcAft>
                <a:spcPts val="0"/>
              </a:spcAft>
              <a:buNone/>
            </a:pPr>
            <a:endParaRPr>
              <a:latin typeface="Arial"/>
              <a:ea typeface="Arial"/>
              <a:cs typeface="Arial"/>
              <a:sym typeface="Arial"/>
            </a:endParaRPr>
          </a:p>
          <a:p>
            <a:pPr marL="0" lvl="0" indent="0" algn="l" rtl="0">
              <a:lnSpc>
                <a:spcPct val="100000"/>
              </a:lnSpc>
              <a:spcBef>
                <a:spcPts val="0"/>
              </a:spcBef>
              <a:spcAft>
                <a:spcPts val="0"/>
              </a:spcAft>
              <a:buNone/>
            </a:pPr>
            <a:r>
              <a:rPr lang="es">
                <a:latin typeface="Arial"/>
                <a:ea typeface="Arial"/>
                <a:cs typeface="Arial"/>
                <a:sym typeface="Arial"/>
              </a:rPr>
              <a:t>Si hay dos o más test con el mismo nivel de</a:t>
            </a:r>
            <a:endParaRPr>
              <a:latin typeface="Arial"/>
              <a:ea typeface="Arial"/>
              <a:cs typeface="Arial"/>
              <a:sym typeface="Arial"/>
            </a:endParaRPr>
          </a:p>
          <a:p>
            <a:pPr marL="0" lvl="0" indent="0" algn="l" rtl="0">
              <a:lnSpc>
                <a:spcPct val="100000"/>
              </a:lnSpc>
              <a:spcBef>
                <a:spcPts val="0"/>
              </a:spcBef>
              <a:spcAft>
                <a:spcPts val="0"/>
              </a:spcAft>
              <a:buNone/>
            </a:pPr>
            <a:r>
              <a:rPr lang="es">
                <a:latin typeface="Arial"/>
                <a:ea typeface="Arial"/>
                <a:cs typeface="Arial"/>
                <a:sym typeface="Arial"/>
              </a:rPr>
              <a:t>significancia se elige el más potente:</a:t>
            </a:r>
            <a:endParaRPr>
              <a:latin typeface="Arial"/>
              <a:ea typeface="Arial"/>
              <a:cs typeface="Arial"/>
              <a:sym typeface="Arial"/>
            </a:endParaRPr>
          </a:p>
          <a:p>
            <a:pPr marL="0" lvl="0" indent="0" algn="l" rtl="0">
              <a:lnSpc>
                <a:spcPct val="100000"/>
              </a:lnSpc>
              <a:spcBef>
                <a:spcPts val="0"/>
              </a:spcBef>
              <a:spcAft>
                <a:spcPts val="0"/>
              </a:spcAft>
              <a:buNone/>
            </a:pPr>
            <a:r>
              <a:rPr lang="es">
                <a:latin typeface="Arial"/>
                <a:ea typeface="Arial"/>
                <a:cs typeface="Arial"/>
                <a:sym typeface="Arial"/>
              </a:rPr>
              <a:t>(1-𝜷) alto (menos prob de error tipo II) </a:t>
            </a:r>
            <a:endParaRPr>
              <a:latin typeface="Arial"/>
              <a:ea typeface="Arial"/>
              <a:cs typeface="Arial"/>
              <a:sym typeface="Arial"/>
            </a:endParaRPr>
          </a:p>
        </p:txBody>
      </p:sp>
      <p:pic>
        <p:nvPicPr>
          <p:cNvPr id="224" name="Google Shape;224;p34"/>
          <p:cNvPicPr preferRelativeResize="0"/>
          <p:nvPr/>
        </p:nvPicPr>
        <p:blipFill rotWithShape="1">
          <a:blip r:embed="rId3">
            <a:alphaModFix/>
          </a:blip>
          <a:srcRect/>
          <a:stretch/>
        </p:blipFill>
        <p:spPr>
          <a:xfrm>
            <a:off x="4845900" y="2279825"/>
            <a:ext cx="4226450" cy="264898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Test de Hipótesis:  </a:t>
            </a:r>
            <a:r>
              <a:rPr lang="es" sz="3800"/>
              <a:t>P(Error tipo II)= 𝜷</a:t>
            </a:r>
            <a:endParaRPr sz="3800"/>
          </a:p>
        </p:txBody>
      </p:sp>
      <p:pic>
        <p:nvPicPr>
          <p:cNvPr id="230" name="Google Shape;230;p35"/>
          <p:cNvPicPr preferRelativeResize="0"/>
          <p:nvPr/>
        </p:nvPicPr>
        <p:blipFill rotWithShape="1">
          <a:blip r:embed="rId3">
            <a:alphaModFix/>
          </a:blip>
          <a:srcRect t="24465"/>
          <a:stretch/>
        </p:blipFill>
        <p:spPr>
          <a:xfrm>
            <a:off x="575400" y="1475725"/>
            <a:ext cx="8124199" cy="3187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A no mentirse...</a:t>
            </a:r>
            <a:endParaRPr/>
          </a:p>
        </p:txBody>
      </p:sp>
      <p:pic>
        <p:nvPicPr>
          <p:cNvPr id="236" name="Google Shape;236;p36"/>
          <p:cNvPicPr preferRelativeResize="0"/>
          <p:nvPr/>
        </p:nvPicPr>
        <p:blipFill rotWithShape="1">
          <a:blip r:embed="rId3">
            <a:alphaModFix/>
          </a:blip>
          <a:srcRect/>
          <a:stretch/>
        </p:blipFill>
        <p:spPr>
          <a:xfrm>
            <a:off x="1113400" y="1347850"/>
            <a:ext cx="6234500" cy="3564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Para pensar… </a:t>
            </a:r>
            <a:endParaRPr/>
          </a:p>
        </p:txBody>
      </p:sp>
      <p:pic>
        <p:nvPicPr>
          <p:cNvPr id="242" name="Google Shape;242;p37"/>
          <p:cNvPicPr preferRelativeResize="0"/>
          <p:nvPr/>
        </p:nvPicPr>
        <p:blipFill>
          <a:blip r:embed="rId3">
            <a:alphaModFix/>
          </a:blip>
          <a:stretch>
            <a:fillRect/>
          </a:stretch>
        </p:blipFill>
        <p:spPr>
          <a:xfrm>
            <a:off x="2209800" y="1299625"/>
            <a:ext cx="3691475" cy="3691475"/>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1494</Words>
  <Application>Microsoft Office PowerPoint</Application>
  <PresentationFormat>Presentación en pantalla (16:9)</PresentationFormat>
  <Paragraphs>211</Paragraphs>
  <Slides>25</Slides>
  <Notes>24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Trebuchet MS</vt:lpstr>
      <vt:lpstr>Arial</vt:lpstr>
      <vt:lpstr>Gill Sans MT</vt:lpstr>
      <vt:lpstr>Open Sans</vt:lpstr>
      <vt:lpstr>Economica</vt:lpstr>
      <vt:lpstr>Luxe</vt:lpstr>
      <vt:lpstr>Presentación de PowerPoint</vt:lpstr>
      <vt:lpstr>Prueba o Test de Hipótesis</vt:lpstr>
      <vt:lpstr>Test de Hipótesis</vt:lpstr>
      <vt:lpstr>Test de Hipótesis</vt:lpstr>
      <vt:lpstr>Test de Hipótesis</vt:lpstr>
      <vt:lpstr>Test de Hipótesis:  H0 vs H1 </vt:lpstr>
      <vt:lpstr>Test de Hipótesis:  H0 vs H1 </vt:lpstr>
      <vt:lpstr>Test de Hipótesis: H0 vs H1 </vt:lpstr>
      <vt:lpstr>Test de Hipótesis: H0 vs H1 </vt:lpstr>
      <vt:lpstr>Test de Hipótesis: Formulación de las hipótesis</vt:lpstr>
      <vt:lpstr>Test de Hipótesis: Ejemplo </vt:lpstr>
      <vt:lpstr>Test de Hipótesis: p-valor</vt:lpstr>
      <vt:lpstr>Test de Hipótesis: p-valor</vt:lpstr>
      <vt:lpstr>Test de Hipótesis</vt:lpstr>
      <vt:lpstr>Test de Hipótesis</vt:lpstr>
      <vt:lpstr>Test Chi-Cuadrado  p/ independencia de v.a. categóricas</vt:lpstr>
      <vt:lpstr>Test Chi-Cuadrado  p/ independencia de v.a. categóricas</vt:lpstr>
      <vt:lpstr>Test Chi-Cuadrado  p/ independencia de v.a. categóricas</vt:lpstr>
      <vt:lpstr>Test Chi-Cuadrado  p/ independencia de v.a. categóricas</vt:lpstr>
      <vt:lpstr>Test para igualdad de medias μ1=μ2  </vt:lpstr>
      <vt:lpstr>Test para igualdad de medias μ1=μ2 </vt:lpstr>
      <vt:lpstr>Test de Hipótesis</vt:lpstr>
      <vt:lpstr>Test de Hipótesis:  P(Error tipo II)= 𝜷</vt:lpstr>
      <vt:lpstr>A no mentirse...</vt:lpstr>
      <vt:lpstr>Para pensar…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José Ramon Iglesias Gamarra</cp:lastModifiedBy>
  <cp:revision>1</cp:revision>
  <dcterms:modified xsi:type="dcterms:W3CDTF">2025-01-28T17:03:19Z</dcterms:modified>
</cp:coreProperties>
</file>