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Economica" panose="020B0604020202020204" charset="0"/>
      <p:regular r:id="rId19"/>
      <p:bold r:id="rId20"/>
      <p:italic r:id="rId21"/>
      <p:boldItalic r:id="rId22"/>
    </p:embeddedFont>
    <p:embeddedFont>
      <p:font typeface="Gill Sans MT" panose="020B0502020104020203" pitchFamily="34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Trebuchet MS" panose="020B0603020202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9AA0A6"/>
          </p15:clr>
        </p15:guide>
        <p15:guide id="2" orient="horz" pos="594">
          <p15:clr>
            <a:srgbClr val="9AA0A6"/>
          </p15:clr>
        </p15:guide>
        <p15:guide id="3" orient="horz" pos="186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pos="2880"/>
        <p:guide orient="horz" pos="594"/>
        <p:guide orient="horz" pos="1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5bade0c0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5bade0c0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876ac75b4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876ac75b4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d6a1f669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d6a1f669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d6a1f6699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d6a1f6699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usada para datos categóricos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d6a1f6699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d6a1f6699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usada para datos categóricos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873d983b02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873d983b02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85bade0c0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85bade0c0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76ac75b4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76ac75b4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76ac75b4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76ac75b4c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876ac75b4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876ac75b4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1abb0b9a6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1abb0b9a6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ee27df0b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ee27df0b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73d983b0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73d983b0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876ac75b4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876ac75b4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76ac75b4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76ac75b4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6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316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224000"/>
            <a:ext cx="2808000" cy="34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Economica"/>
              <a:buNone/>
              <a:defRPr sz="36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1663818" y="2894244"/>
            <a:ext cx="2656496" cy="1211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4350"/>
            <a:r>
              <a:rPr lang="en-US" sz="2025" dirty="0">
                <a:latin typeface="Gill Sans MT" panose="020B0502020104020203" pitchFamily="34" charset="77"/>
              </a:rPr>
              <a:t>Dr. José Ramón Iglesias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DSP-ASIC BUILDER GROUP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Director Semillero TRIAC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Ingenieria Electronica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Universidad Popular del Cesar</a:t>
            </a:r>
          </a:p>
          <a:p>
            <a:pPr defTabSz="514350"/>
            <a:endParaRPr lang="en-US" sz="1050" dirty="0">
              <a:solidFill>
                <a:prstClr val="white">
                  <a:lumMod val="50000"/>
                </a:prstClr>
              </a:solidFill>
              <a:latin typeface="Gill Sans MT" panose="020B0502020104020203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1889184" y="1315456"/>
            <a:ext cx="5365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50"/>
            <a:r>
              <a:rPr lang="en-US" sz="2475" dirty="0" err="1">
                <a:latin typeface="Arial" panose="020B0604020202020204" pitchFamily="34" charset="0"/>
                <a:cs typeface="Arial" panose="020B0604020202020204" pitchFamily="34" charset="0"/>
              </a:rPr>
              <a:t>Ciencia</a:t>
            </a:r>
            <a:r>
              <a:rPr lang="en-US" sz="2475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475" dirty="0" err="1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2475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2475" dirty="0" err="1">
                <a:latin typeface="Arial" panose="020B0604020202020204" pitchFamily="34" charset="0"/>
                <a:cs typeface="Arial" panose="020B0604020202020204" pitchFamily="34" charset="0"/>
              </a:rPr>
              <a:t>BigData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514350"/>
            <a:endParaRPr lang="en-US" sz="1125" dirty="0">
              <a:latin typeface="Gill Sans MT" panose="020B0502020104020203" pitchFamily="34" charset="77"/>
            </a:endParaRPr>
          </a:p>
        </p:txBody>
      </p:sp>
      <p:pic>
        <p:nvPicPr>
          <p:cNvPr id="5" name="Google Shape;30;p1">
            <a:extLst>
              <a:ext uri="{FF2B5EF4-FFF2-40B4-BE49-F238E27FC236}">
                <a16:creationId xmlns:a16="http://schemas.microsoft.com/office/drawing/2014/main" id="{4339DFEC-8BF3-4650-90E0-2B12933466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46153" y="679742"/>
            <a:ext cx="1942857" cy="6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F0B24A3F-60C1-46BB-9F38-67F6A9D0EA23}"/>
              </a:ext>
            </a:extLst>
          </p:cNvPr>
          <p:cNvSpPr txBox="1"/>
          <p:nvPr/>
        </p:nvSpPr>
        <p:spPr>
          <a:xfrm>
            <a:off x="1143001" y="22733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800" b="1" dirty="0">
                <a:latin typeface="Trebuchet MS"/>
                <a:cs typeface="Trebuchet MS"/>
              </a:rPr>
              <a:t>Análisis y Visualización de Datos – Estadísticos y Estadísticas</a:t>
            </a:r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400"/>
              <a:t>Teoría para aplicar</a:t>
            </a:r>
            <a:endParaRPr sz="4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Muestreo aleatorio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235500" y="996625"/>
            <a:ext cx="8520600" cy="26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1B786E"/>
                </a:solidFill>
              </a:rPr>
              <a:t>Cuando recogemos los datos muchas veces es imposible relevar la característica de interés de todo el grupo o universo, se examina una pequeña parte, llamada muestra.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Roboto"/>
                <a:ea typeface="Roboto"/>
                <a:cs typeface="Roboto"/>
                <a:sym typeface="Roboto"/>
              </a:rPr>
              <a:t>Población 		 Muestra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Roboto"/>
                <a:ea typeface="Roboto"/>
                <a:cs typeface="Roboto"/>
                <a:sym typeface="Roboto"/>
              </a:rPr>
              <a:t>La muestra debe ser representativa de la población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4738" y="2812138"/>
            <a:ext cx="3305175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2038" y="1783775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751000" y="663725"/>
            <a:ext cx="86931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Muestra aleatoria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3438" y="2582675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696325" y="1632425"/>
            <a:ext cx="7419600" cy="27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Open Sans"/>
                <a:ea typeface="Open Sans"/>
                <a:cs typeface="Open Sans"/>
                <a:sym typeface="Open Sans"/>
              </a:rPr>
              <a:t>Al medir una característica en una muestra, se consideran los datos  x</a:t>
            </a:r>
            <a:r>
              <a:rPr lang="es" sz="2000" baseline="-25000"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s" sz="2000">
                <a:latin typeface="Open Sans"/>
                <a:ea typeface="Open Sans"/>
                <a:cs typeface="Open Sans"/>
                <a:sym typeface="Open Sans"/>
              </a:rPr>
              <a:t>, x</a:t>
            </a:r>
            <a:r>
              <a:rPr lang="es" sz="2000" baseline="-25000"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s" sz="2000">
                <a:latin typeface="Open Sans"/>
                <a:ea typeface="Open Sans"/>
                <a:cs typeface="Open Sans"/>
                <a:sym typeface="Open Sans"/>
              </a:rPr>
              <a:t>,..., x</a:t>
            </a:r>
            <a:r>
              <a:rPr lang="es" sz="2000" baseline="-25000"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s" sz="2000">
                <a:latin typeface="Open Sans"/>
                <a:ea typeface="Open Sans"/>
                <a:cs typeface="Open Sans"/>
                <a:sym typeface="Open Sans"/>
              </a:rPr>
              <a:t> , 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como </a:t>
            </a:r>
            <a:r>
              <a:rPr lang="es" sz="2000">
                <a:latin typeface="Open Sans"/>
                <a:ea typeface="Open Sans"/>
                <a:cs typeface="Open Sans"/>
                <a:sym typeface="Open Sans"/>
              </a:rPr>
              <a:t>realizaciones de </a:t>
            </a:r>
            <a:r>
              <a:rPr lang="e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s" sz="2000" baseline="-2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X</a:t>
            </a:r>
            <a:r>
              <a:rPr lang="es" sz="2000" baseline="-2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,..., X</a:t>
            </a:r>
            <a:r>
              <a:rPr lang="es" sz="2000" baseline="-2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e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muestra aleatoria (m.a.)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249C90"/>
                </a:solidFill>
                <a:latin typeface="Open Sans"/>
                <a:ea typeface="Open Sans"/>
                <a:cs typeface="Open Sans"/>
                <a:sym typeface="Open Sans"/>
              </a:rPr>
              <a:t>Notar la diferencia entre minúscula y mayúscula</a:t>
            </a:r>
            <a:r>
              <a:rPr lang="es" sz="200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Muestra aleatoria</a:t>
            </a:r>
            <a:endParaRPr sz="30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118550" y="1223425"/>
            <a:ext cx="9025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sucesión de v.a. X</a:t>
            </a:r>
            <a:r>
              <a:rPr lang="es" baseline="-25000"/>
              <a:t>1</a:t>
            </a:r>
            <a:r>
              <a:rPr lang="es"/>
              <a:t>, X</a:t>
            </a:r>
            <a:r>
              <a:rPr lang="es" baseline="-25000"/>
              <a:t>2</a:t>
            </a:r>
            <a:r>
              <a:rPr lang="es"/>
              <a:t>,..., X</a:t>
            </a:r>
            <a:r>
              <a:rPr lang="es" baseline="-25000"/>
              <a:t>n</a:t>
            </a:r>
            <a:r>
              <a:rPr lang="es"/>
              <a:t> se dice </a:t>
            </a:r>
            <a:r>
              <a:rPr lang="es" b="1">
                <a:solidFill>
                  <a:srgbClr val="1B786E"/>
                </a:solidFill>
              </a:rPr>
              <a:t>muestra aleatoria (m.a.)</a:t>
            </a:r>
            <a:r>
              <a:rPr lang="es"/>
              <a:t> si son v. a. independientes e idénticamente distribuidas (i.i.d.). </a:t>
            </a:r>
            <a:r>
              <a:rPr lang="es">
                <a:solidFill>
                  <a:srgbClr val="999999"/>
                </a:solidFill>
              </a:rPr>
              <a:t>“Clones” de una misma X</a:t>
            </a:r>
            <a:endParaRPr>
              <a:solidFill>
                <a:srgbClr val="999999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">
                <a:solidFill>
                  <a:srgbClr val="999999"/>
                </a:solidFill>
              </a:rPr>
              <a:t>Todas las medidas antes mencionadas para una muestra de datos podemos pensarlas a partir de una muestra aleatoria,</a:t>
            </a:r>
            <a:r>
              <a:rPr lang="es">
                <a:solidFill>
                  <a:srgbClr val="666666"/>
                </a:solidFill>
              </a:rPr>
              <a:t> </a:t>
            </a:r>
            <a:r>
              <a:rPr lang="es">
                <a:solidFill>
                  <a:srgbClr val="999999"/>
                </a:solidFill>
              </a:rPr>
              <a:t>también serán variable aleatorias, llamadas  estadísticos. Como por ejemplo el</a:t>
            </a:r>
            <a:r>
              <a:rPr lang="es"/>
              <a:t> </a:t>
            </a:r>
            <a:r>
              <a:rPr lang="es" b="1">
                <a:solidFill>
                  <a:srgbClr val="1B786E"/>
                </a:solidFill>
              </a:rPr>
              <a:t>estadístico Media Muestral:</a:t>
            </a:r>
            <a:endParaRPr b="1">
              <a:solidFill>
                <a:srgbClr val="1B786E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1825" y="4186950"/>
            <a:ext cx="1478750" cy="7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Algunas propiedades teóricas: Muestra aleatoria</a:t>
            </a:r>
            <a:endParaRPr sz="30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118550" y="1299625"/>
            <a:ext cx="9025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Si X</a:t>
            </a:r>
            <a:r>
              <a:rPr lang="es" sz="2000" baseline="-25000"/>
              <a:t>1</a:t>
            </a:r>
            <a:r>
              <a:rPr lang="es" sz="2000"/>
              <a:t>, X</a:t>
            </a:r>
            <a:r>
              <a:rPr lang="es" sz="2000" baseline="-25000"/>
              <a:t>2</a:t>
            </a:r>
            <a:r>
              <a:rPr lang="es" sz="2000"/>
              <a:t>,..., X</a:t>
            </a:r>
            <a:r>
              <a:rPr lang="es" sz="2000" baseline="-25000"/>
              <a:t>n</a:t>
            </a:r>
            <a:r>
              <a:rPr lang="es" sz="2000"/>
              <a:t> m.a. (v.a.i.i.d.) tal que X</a:t>
            </a:r>
            <a:r>
              <a:rPr lang="es" sz="2000" baseline="-25000"/>
              <a:t>i</a:t>
            </a:r>
            <a:r>
              <a:rPr lang="es" sz="2000"/>
              <a:t>〜N(μ,σ</a:t>
            </a:r>
            <a:r>
              <a:rPr lang="es" sz="2000" baseline="30000"/>
              <a:t>2</a:t>
            </a:r>
            <a:r>
              <a:rPr lang="es" sz="2000"/>
              <a:t>), entonces:</a:t>
            </a:r>
            <a:br>
              <a:rPr lang="es" sz="2000"/>
            </a:br>
            <a:r>
              <a:rPr lang="es" sz="2000"/>
              <a:t>-  X</a:t>
            </a:r>
            <a:r>
              <a:rPr lang="es" sz="2000" baseline="-25000"/>
              <a:t>1</a:t>
            </a:r>
            <a:r>
              <a:rPr lang="es" sz="2000"/>
              <a:t>+ X</a:t>
            </a:r>
            <a:r>
              <a:rPr lang="es" sz="2000" baseline="-25000"/>
              <a:t>2</a:t>
            </a:r>
            <a:r>
              <a:rPr lang="es" sz="2000"/>
              <a:t>+...+X</a:t>
            </a:r>
            <a:r>
              <a:rPr lang="es" sz="2000" baseline="-25000"/>
              <a:t>n</a:t>
            </a:r>
            <a:r>
              <a:rPr lang="es" sz="2000"/>
              <a:t>〜N(nμ,nσ</a:t>
            </a:r>
            <a:r>
              <a:rPr lang="es" sz="2000" baseline="30000"/>
              <a:t>2</a:t>
            </a:r>
            <a:r>
              <a:rPr lang="es" sz="2000"/>
              <a:t>)</a:t>
            </a:r>
            <a:br>
              <a:rPr lang="es" sz="2000"/>
            </a:br>
            <a:r>
              <a:rPr lang="es" sz="2000"/>
              <a:t>-                            〜N(μ,σ</a:t>
            </a:r>
            <a:r>
              <a:rPr lang="es" sz="2000" baseline="30000"/>
              <a:t>2</a:t>
            </a:r>
            <a:r>
              <a:rPr lang="es" sz="2000"/>
              <a:t>/n)</a:t>
            </a:r>
            <a:endParaRPr sz="20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Si Z</a:t>
            </a:r>
            <a:r>
              <a:rPr lang="es" sz="2000" baseline="-25000"/>
              <a:t>1</a:t>
            </a:r>
            <a:r>
              <a:rPr lang="es" sz="2000"/>
              <a:t>, Z</a:t>
            </a:r>
            <a:r>
              <a:rPr lang="es" sz="2000" baseline="-25000"/>
              <a:t>2</a:t>
            </a:r>
            <a:r>
              <a:rPr lang="es" sz="2000"/>
              <a:t>,..., Z</a:t>
            </a:r>
            <a:r>
              <a:rPr lang="es" sz="2000" baseline="-25000"/>
              <a:t>n</a:t>
            </a:r>
            <a:r>
              <a:rPr lang="es" sz="2000"/>
              <a:t> m.a. tal que Z</a:t>
            </a:r>
            <a:r>
              <a:rPr lang="es" sz="2000" baseline="-25000"/>
              <a:t>i</a:t>
            </a:r>
            <a:r>
              <a:rPr lang="es" sz="2000"/>
              <a:t>〜N(0,1), entonces: </a:t>
            </a:r>
            <a:endParaRPr sz="2000"/>
          </a:p>
          <a:p>
            <a:pPr marL="0" lvl="0" indent="0" algn="l" rtl="0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>
              <a:solidFill>
                <a:srgbClr val="1B786E"/>
              </a:solidFill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600" y="3757075"/>
            <a:ext cx="2172456" cy="82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425" y="2416325"/>
            <a:ext cx="1458350" cy="70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LFGN: Ley Fuerte de los Grandes Números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311700" y="126877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Dada. X</a:t>
            </a:r>
            <a:r>
              <a:rPr lang="es" baseline="-25000"/>
              <a:t>1</a:t>
            </a:r>
            <a:r>
              <a:rPr lang="es"/>
              <a:t>, ...X</a:t>
            </a:r>
            <a:r>
              <a:rPr lang="es" baseline="-25000"/>
              <a:t>n</a:t>
            </a:r>
            <a:r>
              <a:rPr lang="es"/>
              <a:t> m.a.  c/u con media  μ  (“clones” de la misma variable con distribución cualquiera pero con esperanza E(X</a:t>
            </a:r>
            <a:r>
              <a:rPr lang="es" baseline="-25000"/>
              <a:t>1</a:t>
            </a:r>
            <a:r>
              <a:rPr lang="es"/>
              <a:t>)= μ, </a:t>
            </a:r>
            <a:r>
              <a:rPr lang="es">
                <a:solidFill>
                  <a:srgbClr val="999999"/>
                </a:solidFill>
              </a:rPr>
              <a:t>media poblacional</a:t>
            </a:r>
            <a:r>
              <a:rPr lang="es"/>
              <a:t> )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 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050" y="2647900"/>
            <a:ext cx="1478750" cy="71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4975" y="2789100"/>
            <a:ext cx="3034575" cy="4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3200" y="2732950"/>
            <a:ext cx="672456" cy="47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TCL: Teorema Central del Límite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26877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Sea  X</a:t>
            </a:r>
            <a:r>
              <a:rPr lang="es" baseline="-25000"/>
              <a:t>1</a:t>
            </a:r>
            <a:r>
              <a:rPr lang="es"/>
              <a:t>, ...X</a:t>
            </a:r>
            <a:r>
              <a:rPr lang="es" baseline="-25000"/>
              <a:t>n</a:t>
            </a:r>
            <a:r>
              <a:rPr lang="es"/>
              <a:t> m.a.  c/u con media  μ y varianza σ</a:t>
            </a:r>
            <a:r>
              <a:rPr lang="es" baseline="30000"/>
              <a:t>2</a:t>
            </a:r>
            <a:r>
              <a:rPr lang="es"/>
              <a:t>. (“clones” de la misma variable </a:t>
            </a:r>
            <a:r>
              <a:rPr lang="es" u="sng"/>
              <a:t>con distribución cualquiera</a:t>
            </a:r>
            <a:r>
              <a:rPr lang="es"/>
              <a:t> pero con media μ y varianza σ</a:t>
            </a:r>
            <a:r>
              <a:rPr lang="es" baseline="30000"/>
              <a:t>2</a:t>
            </a:r>
            <a:r>
              <a:rPr lang="es"/>
              <a:t> 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 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14" name="Google Shape;114;p20" descr="\frac{\bar{X}-\mu}{\sigma / \sqrt{n}} \overset{\mathfrak{D}}{\rightarrow} Z \sim N(0,1)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589" y="2332099"/>
            <a:ext cx="3259462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3825" y="4151350"/>
            <a:ext cx="3178350" cy="51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TCL: Teorema Central del Límite</a:t>
            </a:r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526050" y="1414300"/>
            <a:ext cx="8220000" cy="30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s" sz="1800">
                <a:latin typeface="Open Sans"/>
                <a:ea typeface="Open Sans"/>
                <a:cs typeface="Open Sans"/>
                <a:sym typeface="Open Sans"/>
              </a:rPr>
              <a:t>La densidad de </a:t>
            </a:r>
            <a:r>
              <a:rPr lang="es" sz="1800" b="1">
                <a:latin typeface="Open Sans"/>
                <a:ea typeface="Open Sans"/>
                <a:cs typeface="Open Sans"/>
                <a:sym typeface="Open Sans"/>
              </a:rPr>
              <a:t>la v.a. media muestral </a:t>
            </a:r>
            <a:r>
              <a:rPr lang="es" sz="1800">
                <a:latin typeface="Open Sans"/>
                <a:ea typeface="Open Sans"/>
                <a:cs typeface="Open Sans"/>
                <a:sym typeface="Open Sans"/>
              </a:rPr>
              <a:t>parece acampanada p/ </a:t>
            </a:r>
            <a:r>
              <a:rPr lang="es" sz="1800" b="1">
                <a:latin typeface="Open Sans"/>
                <a:ea typeface="Open Sans"/>
                <a:cs typeface="Open Sans"/>
                <a:sym typeface="Open Sans"/>
              </a:rPr>
              <a:t>n grande</a:t>
            </a:r>
            <a:r>
              <a:rPr lang="es" sz="180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s" sz="1800" b="1">
                <a:latin typeface="Open Sans"/>
                <a:ea typeface="Open Sans"/>
                <a:cs typeface="Open Sans"/>
                <a:sym typeface="Open Sans"/>
              </a:rPr>
              <a:t>aprox. normal</a:t>
            </a:r>
            <a:r>
              <a:rPr lang="es" sz="1800">
                <a:latin typeface="Open Sans"/>
                <a:ea typeface="Open Sans"/>
                <a:cs typeface="Open Sans"/>
                <a:sym typeface="Open Sans"/>
              </a:rPr>
              <a:t>, cualquiera sea la distribución en la población;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s" sz="1800">
                <a:latin typeface="Open Sans"/>
                <a:ea typeface="Open Sans"/>
                <a:cs typeface="Open Sans"/>
                <a:sym typeface="Open Sans"/>
              </a:rPr>
              <a:t>La densidad de </a:t>
            </a:r>
            <a:r>
              <a:rPr lang="es" sz="1800" b="1">
                <a:latin typeface="Open Sans"/>
                <a:ea typeface="Open Sans"/>
                <a:cs typeface="Open Sans"/>
                <a:sym typeface="Open Sans"/>
              </a:rPr>
              <a:t>la media muestral</a:t>
            </a:r>
            <a:r>
              <a:rPr lang="es" sz="1800">
                <a:latin typeface="Open Sans"/>
                <a:ea typeface="Open Sans"/>
                <a:cs typeface="Open Sans"/>
                <a:sym typeface="Open Sans"/>
              </a:rPr>
              <a:t> crece en altura y decrece en dispersión si n crece.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Open Sans"/>
              <a:buChar char="●"/>
            </a:pPr>
            <a:r>
              <a:rPr lang="es" sz="18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La media de la distribución del promedio muestral es igual a la media de la población </a:t>
            </a:r>
            <a:endParaRPr sz="18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Open Sans"/>
              <a:buChar char="●"/>
            </a:pPr>
            <a:r>
              <a:rPr lang="es" sz="18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La varianza de la distribución de la media muestral es menor que la varianza de la población;</a:t>
            </a:r>
            <a:endParaRPr sz="18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TCL: Teorema Central del Límite</a:t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5394" y="1735089"/>
            <a:ext cx="24765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62619" y="1735089"/>
            <a:ext cx="247650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2044775" y="3704450"/>
            <a:ext cx="18504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s" sz="2600" baseline="-25000">
                <a:latin typeface="Open Sans"/>
                <a:ea typeface="Open Sans"/>
                <a:cs typeface="Open Sans"/>
                <a:sym typeface="Open Sans"/>
              </a:rPr>
              <a:t>i </a:t>
            </a:r>
            <a:r>
              <a:rPr lang="es" sz="1800">
                <a:latin typeface="Open Sans"/>
                <a:ea typeface="Open Sans"/>
                <a:cs typeface="Open Sans"/>
                <a:sym typeface="Open Sans"/>
              </a:rPr>
              <a:t>∼ Uniforme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1250" y="3714700"/>
            <a:ext cx="1478750" cy="7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TCL: Teorema Central del Límite</a:t>
            </a:r>
            <a:endParaRPr/>
          </a:p>
        </p:txBody>
      </p:sp>
      <p:sp>
        <p:nvSpPr>
          <p:cNvPr id="136" name="Google Shape;136;p23"/>
          <p:cNvSpPr txBox="1"/>
          <p:nvPr/>
        </p:nvSpPr>
        <p:spPr>
          <a:xfrm>
            <a:off x="2010300" y="3704450"/>
            <a:ext cx="20340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s" sz="2600" baseline="-2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s" sz="2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∼ </a:t>
            </a:r>
            <a:r>
              <a:rPr lang="es" sz="1800">
                <a:latin typeface="Open Sans"/>
                <a:ea typeface="Open Sans"/>
                <a:cs typeface="Open Sans"/>
                <a:sym typeface="Open Sans"/>
              </a:rPr>
              <a:t>exponencial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1250" y="3714700"/>
            <a:ext cx="1478750" cy="71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7725" y="1829014"/>
            <a:ext cx="24765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97600" y="1763714"/>
            <a:ext cx="247650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798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Demo con Notebook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 u="sng" dirty="0">
                <a:solidFill>
                  <a:schemeClr val="hlink"/>
                </a:solidFill>
              </a:rPr>
              <a:t>EL453 Estadísticos.ipynb</a:t>
            </a:r>
            <a:endParaRPr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400"/>
              <a:t>Estadística Inferencial</a:t>
            </a:r>
            <a:endParaRPr sz="4400" b="1" u="sng">
              <a:solidFill>
                <a:srgbClr val="99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Inferencia Estadística</a:t>
            </a:r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Métodos utilizados para </a:t>
            </a:r>
            <a:r>
              <a:rPr lang="es" b="1">
                <a:solidFill>
                  <a:srgbClr val="1B786E"/>
                </a:solidFill>
                <a:latin typeface="Roboto"/>
                <a:ea typeface="Roboto"/>
                <a:cs typeface="Roboto"/>
                <a:sym typeface="Roboto"/>
              </a:rPr>
              <a:t>tomar decisiones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 o para</a:t>
            </a:r>
            <a:r>
              <a:rPr lang="es" b="1">
                <a:solidFill>
                  <a:srgbClr val="1B786E"/>
                </a:solidFill>
                <a:latin typeface="Roboto"/>
                <a:ea typeface="Roboto"/>
                <a:cs typeface="Roboto"/>
                <a:sym typeface="Roboto"/>
              </a:rPr>
              <a:t> obtener conclusiones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 sobre una población (usa modelos y parámetros generalmente).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Estos métodos utilizan la información contenida en una muestra de la población.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Permiten </a:t>
            </a:r>
            <a:r>
              <a:rPr lang="es" b="1">
                <a:solidFill>
                  <a:srgbClr val="1B786E"/>
                </a:solidFill>
                <a:latin typeface="Roboto"/>
                <a:ea typeface="Roboto"/>
                <a:cs typeface="Roboto"/>
                <a:sym typeface="Roboto"/>
              </a:rPr>
              <a:t>inferir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 el comportamiento de la población con un riesgo medible en términos de</a:t>
            </a:r>
            <a:r>
              <a:rPr lang="es" b="1">
                <a:solidFill>
                  <a:srgbClr val="1B786E"/>
                </a:solidFill>
                <a:latin typeface="Roboto"/>
                <a:ea typeface="Roboto"/>
                <a:cs typeface="Roboto"/>
                <a:sym typeface="Roboto"/>
              </a:rPr>
              <a:t> probabilidad de error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Inferencia Estadística</a:t>
            </a:r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Si nos ubicamos dentro de la estadística paramétrica: </a:t>
            </a:r>
            <a:endParaRPr sz="2000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Roboto"/>
                <a:ea typeface="Roboto"/>
                <a:cs typeface="Roboto"/>
                <a:sym typeface="Roboto"/>
              </a:rPr>
              <a:t>Se considera una característica de interés de la </a:t>
            </a:r>
            <a:r>
              <a:rPr lang="es" sz="2000" b="1">
                <a:solidFill>
                  <a:srgbClr val="1B786E"/>
                </a:solidFill>
                <a:latin typeface="Roboto"/>
                <a:ea typeface="Roboto"/>
                <a:cs typeface="Roboto"/>
                <a:sym typeface="Roboto"/>
              </a:rPr>
              <a:t>población (𝛀).</a:t>
            </a:r>
            <a:r>
              <a:rPr lang="es" sz="2000">
                <a:latin typeface="Roboto"/>
                <a:ea typeface="Roboto"/>
                <a:cs typeface="Roboto"/>
                <a:sym typeface="Roboto"/>
              </a:rPr>
              <a:t> Se supone que la característica está modelada por una</a:t>
            </a:r>
            <a:r>
              <a:rPr lang="es" sz="2000" b="1">
                <a:solidFill>
                  <a:srgbClr val="1B786E"/>
                </a:solidFill>
                <a:latin typeface="Roboto"/>
                <a:ea typeface="Roboto"/>
                <a:cs typeface="Roboto"/>
                <a:sym typeface="Roboto"/>
              </a:rPr>
              <a:t> variable aleatoria X</a:t>
            </a:r>
            <a:r>
              <a:rPr lang="es" sz="2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20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con distribución “conocida” y paramétrica f</a:t>
            </a:r>
            <a:r>
              <a:rPr lang="es" baseline="-25000">
                <a:solidFill>
                  <a:srgbClr val="999999"/>
                </a:solidFill>
              </a:rPr>
              <a:t>𝛳</a:t>
            </a:r>
            <a:r>
              <a:rPr lang="es">
                <a:solidFill>
                  <a:srgbClr val="999999"/>
                </a:solidFill>
              </a:rPr>
              <a:t>(x)=f(x,𝛳)</a:t>
            </a:r>
            <a:r>
              <a:rPr lang="es" sz="20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. (ej  </a:t>
            </a:r>
            <a:r>
              <a:rPr lang="es">
                <a:solidFill>
                  <a:srgbClr val="999999"/>
                </a:solidFill>
              </a:rPr>
              <a:t>𝛳=(</a:t>
            </a:r>
            <a:r>
              <a:rPr lang="es" b="1">
                <a:solidFill>
                  <a:srgbClr val="999999"/>
                </a:solidFill>
              </a:rPr>
              <a:t>μ</a:t>
            </a:r>
            <a:r>
              <a:rPr lang="es">
                <a:solidFill>
                  <a:srgbClr val="999999"/>
                </a:solidFill>
              </a:rPr>
              <a:t>,</a:t>
            </a:r>
            <a:r>
              <a:rPr lang="es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𝞂</a:t>
            </a:r>
            <a:r>
              <a:rPr lang="es" baseline="300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s">
                <a:solidFill>
                  <a:srgbClr val="999999"/>
                </a:solidFill>
              </a:rPr>
              <a:t>) en Normal)</a:t>
            </a:r>
            <a:endParaRPr sz="2000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Roboto"/>
                <a:ea typeface="Roboto"/>
                <a:cs typeface="Roboto"/>
                <a:sym typeface="Roboto"/>
              </a:rPr>
              <a:t>Se considera una </a:t>
            </a:r>
            <a:r>
              <a:rPr lang="es" sz="2000" b="1">
                <a:solidFill>
                  <a:srgbClr val="A61C00"/>
                </a:solidFill>
                <a:latin typeface="Roboto"/>
                <a:ea typeface="Roboto"/>
                <a:cs typeface="Roboto"/>
                <a:sym typeface="Roboto"/>
              </a:rPr>
              <a:t>muestra aleatoria (m.a.) X</a:t>
            </a:r>
            <a:r>
              <a:rPr lang="es" sz="2000" b="1" baseline="-25000">
                <a:solidFill>
                  <a:srgbClr val="A61C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s" sz="2000" b="1">
                <a:solidFill>
                  <a:srgbClr val="A61C00"/>
                </a:solidFill>
                <a:latin typeface="Roboto"/>
                <a:ea typeface="Roboto"/>
                <a:cs typeface="Roboto"/>
                <a:sym typeface="Roboto"/>
              </a:rPr>
              <a:t>, ...X</a:t>
            </a:r>
            <a:r>
              <a:rPr lang="es" sz="2000" b="1" baseline="-25000">
                <a:solidFill>
                  <a:srgbClr val="A61C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s" sz="20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s" sz="2000">
                <a:latin typeface="Roboto"/>
                <a:ea typeface="Roboto"/>
                <a:cs typeface="Roboto"/>
                <a:sym typeface="Roboto"/>
              </a:rPr>
              <a:t> con la misma distribución </a:t>
            </a:r>
            <a:r>
              <a:rPr lang="es" sz="20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(paramétrica)</a:t>
            </a:r>
            <a:r>
              <a:rPr lang="es" sz="2000">
                <a:latin typeface="Roboto"/>
                <a:ea typeface="Roboto"/>
                <a:cs typeface="Roboto"/>
                <a:sym typeface="Roboto"/>
              </a:rPr>
              <a:t> que X.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Inferencia Estadística</a:t>
            </a:r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Roboto"/>
                <a:ea typeface="Roboto"/>
                <a:cs typeface="Roboto"/>
                <a:sym typeface="Roboto"/>
              </a:rPr>
              <a:t>Incluye dos grandes áreas: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9144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" sz="2000">
                <a:latin typeface="Roboto"/>
                <a:ea typeface="Roboto"/>
                <a:cs typeface="Roboto"/>
                <a:sym typeface="Roboto"/>
              </a:rPr>
              <a:t>estimación de parámetros (p/estadística paramétrica)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9144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" sz="2000">
                <a:latin typeface="Roboto"/>
                <a:ea typeface="Roboto"/>
                <a:cs typeface="Roboto"/>
                <a:sym typeface="Roboto"/>
              </a:rPr>
              <a:t>pruebas de hipótesis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PresentationFormat>Presentación en pantalla (16:9)</PresentationFormat>
  <Paragraphs>77</Paragraphs>
  <Slides>16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Economica</vt:lpstr>
      <vt:lpstr>Open Sans</vt:lpstr>
      <vt:lpstr>Roboto</vt:lpstr>
      <vt:lpstr>Trebuchet MS</vt:lpstr>
      <vt:lpstr>Arial</vt:lpstr>
      <vt:lpstr>Gill Sans MT</vt:lpstr>
      <vt:lpstr>Luxe</vt:lpstr>
      <vt:lpstr>Presentación de PowerPoint</vt:lpstr>
      <vt:lpstr>Teoría para aplicar</vt:lpstr>
      <vt:lpstr>Muestreo aleatorio</vt:lpstr>
      <vt:lpstr>Muestra aleatoria</vt:lpstr>
      <vt:lpstr>Muestra aleatoria</vt:lpstr>
      <vt:lpstr>Algunas propiedades teóricas: Muestra aleatoria</vt:lpstr>
      <vt:lpstr>LFGN: Ley Fuerte de los Grandes Números</vt:lpstr>
      <vt:lpstr>TCL: Teorema Central del Límite</vt:lpstr>
      <vt:lpstr>TCL: Teorema Central del Límite</vt:lpstr>
      <vt:lpstr>TCL: Teorema Central del Límite</vt:lpstr>
      <vt:lpstr>TCL: Teorema Central del Límite</vt:lpstr>
      <vt:lpstr>Demo con Notebook  EL453 Estadísticos.ipynb</vt:lpstr>
      <vt:lpstr>Estadística Inferencial</vt:lpstr>
      <vt:lpstr>Inferencia Estadística</vt:lpstr>
      <vt:lpstr>Inferencia Estadística</vt:lpstr>
      <vt:lpstr>Inferencia Estadística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José Ramon Iglesias Gamarra</cp:lastModifiedBy>
  <cp:revision>6</cp:revision>
  <dcterms:modified xsi:type="dcterms:W3CDTF">2025-02-28T13:18:03Z</dcterms:modified>
</cp:coreProperties>
</file>