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8"/>
  </p:notesMasterIdLst>
  <p:sldIdLst>
    <p:sldId id="282"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6858000" cy="9144000"/>
  <p:embeddedFontLst>
    <p:embeddedFont>
      <p:font typeface="Economica" panose="020B0604020202020204" charset="0"/>
      <p:regular r:id="rId29"/>
      <p:bold r:id="rId30"/>
      <p:italic r:id="rId31"/>
      <p:boldItalic r:id="rId32"/>
    </p:embeddedFont>
    <p:embeddedFont>
      <p:font typeface="Gill Sans MT" panose="020B0502020104020203" pitchFamily="34" charset="0"/>
      <p:regular r:id="rId33"/>
      <p:bold r:id="rId34"/>
      <p:italic r:id="rId35"/>
      <p:boldItalic r:id="rId36"/>
    </p:embeddedFont>
    <p:embeddedFont>
      <p:font typeface="Open Sans" panose="020B0606030504020204" pitchFamily="34" charset="0"/>
      <p:regular r:id="rId37"/>
      <p:bold r:id="rId38"/>
      <p:italic r:id="rId39"/>
      <p:boldItalic r:id="rId40"/>
    </p:embeddedFont>
    <p:embeddedFont>
      <p:font typeface="Roboto" panose="02000000000000000000" pitchFamily="2" charset="0"/>
      <p:regular r:id="rId41"/>
      <p:bold r:id="rId42"/>
      <p:italic r:id="rId43"/>
      <p:boldItalic r:id="rId44"/>
    </p:embeddedFont>
    <p:embeddedFont>
      <p:font typeface="Trebuchet MS" panose="020B0603020202020204"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880">
          <p15:clr>
            <a:srgbClr val="9AA0A6"/>
          </p15:clr>
        </p15:guide>
        <p15:guide id="2" orient="horz" pos="594">
          <p15:clr>
            <a:srgbClr val="9AA0A6"/>
          </p15:clr>
        </p15:guide>
        <p15:guide id="3" orient="horz" pos="1864">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016" autoAdjust="0"/>
  </p:normalViewPr>
  <p:slideViewPr>
    <p:cSldViewPr snapToGrid="0">
      <p:cViewPr varScale="1">
        <p:scale>
          <a:sx n="71" d="100"/>
          <a:sy n="71" d="100"/>
        </p:scale>
        <p:origin x="1356" y="54"/>
      </p:cViewPr>
      <p:guideLst>
        <p:guide pos="2880"/>
        <p:guide orient="horz" pos="594"/>
        <p:guide orient="horz" pos="1864"/>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font" Target="fonts/font19.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font" Target="fonts/font20.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11ef4461dc4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11ef4461dc4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122d7bdecc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122d7bdecc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739866d4d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739866d4d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dirty="0"/>
              <a:t>En un mismo experimento o análisis podemos tomar en cuenta varios aspectos o medidas relevantes, cómo consideramos esa situación en la teoría?</a:t>
            </a:r>
            <a:endParaRPr dirty="0"/>
          </a:p>
          <a:p>
            <a:pPr marL="0" lvl="0" indent="0" algn="l" rtl="0">
              <a:spcBef>
                <a:spcPts val="0"/>
              </a:spcBef>
              <a:spcAft>
                <a:spcPts val="0"/>
              </a:spcAft>
              <a:buNone/>
            </a:pPr>
            <a:r>
              <a:rPr lang="es" dirty="0"/>
              <a:t>Esta definición es extendible a diferentes tipos de variables y pueden considerarse, en conjunto, tipos diferentes .</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s" dirty="0"/>
              <a:t>Notación: la coma significa intersección P(X=x,Y=y)=P((X=x)∩(Y=y)).</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7fb93d0773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7fb93d0773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En un mismo experimento o análisis podemos tomar en cuenta varios aspectos o medidas relevantes, cómo consideramos esa situación en la teoría?</a:t>
            </a:r>
            <a:endParaRPr/>
          </a:p>
          <a:p>
            <a:pPr marL="0" lvl="0" indent="0" algn="l" rtl="0">
              <a:spcBef>
                <a:spcPts val="0"/>
              </a:spcBef>
              <a:spcAft>
                <a:spcPts val="0"/>
              </a:spcAft>
              <a:buNone/>
            </a:pPr>
            <a:r>
              <a:rPr lang="es"/>
              <a:t>Esta definición es extensible a más variables y pueden considerarse, en conjunto, tipos diferentes a la vez.</a:t>
            </a:r>
            <a:endParaRPr/>
          </a:p>
          <a:p>
            <a:pPr marL="0" lvl="0" indent="0" algn="l" rtl="0">
              <a:spcBef>
                <a:spcPts val="0"/>
              </a:spcBef>
              <a:spcAft>
                <a:spcPts val="0"/>
              </a:spcAft>
              <a:buNone/>
            </a:pPr>
            <a:endParaRPr/>
          </a:p>
          <a:p>
            <a:pPr marL="0" lvl="0" indent="0" algn="l" rtl="0">
              <a:spcBef>
                <a:spcPts val="0"/>
              </a:spcBef>
              <a:spcAft>
                <a:spcPts val="0"/>
              </a:spcAft>
              <a:buNone/>
            </a:pPr>
            <a:r>
              <a:rPr lang="es"/>
              <a:t>Notación: la coma significa intersección P(X=x,Y=y)=P((X=x)∩(Y=y)).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7fb93d0773_1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7fb93d0773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Esta definición es extensible a más variables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739866d4d4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739866d4d4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7fb93d077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7fb93d077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7fb93d0773_1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7fb93d0773_1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En un mismo experimento o análisis podemos tomar en cuenta varios aspectos o medidas relevantes, cómo consideramos esa situación en la teoría?</a:t>
            </a:r>
            <a:endParaRPr/>
          </a:p>
          <a:p>
            <a:pPr marL="0" lvl="0" indent="0" algn="l" rtl="0">
              <a:spcBef>
                <a:spcPts val="0"/>
              </a:spcBef>
              <a:spcAft>
                <a:spcPts val="0"/>
              </a:spcAft>
              <a:buNone/>
            </a:pPr>
            <a:r>
              <a:rPr lang="es"/>
              <a:t>Esta definición es extensible a más variables y pueden considerarse, en conjunto, tipos diferentes a la vez.</a:t>
            </a:r>
            <a:endParaRPr/>
          </a:p>
          <a:p>
            <a:pPr marL="0" lvl="0" indent="0" algn="l" rtl="0">
              <a:spcBef>
                <a:spcPts val="0"/>
              </a:spcBef>
              <a:spcAft>
                <a:spcPts val="0"/>
              </a:spcAft>
              <a:buNone/>
            </a:pPr>
            <a:endParaRPr/>
          </a:p>
          <a:p>
            <a:pPr marL="0" lvl="0" indent="0" algn="l" rtl="0">
              <a:spcBef>
                <a:spcPts val="0"/>
              </a:spcBef>
              <a:spcAft>
                <a:spcPts val="0"/>
              </a:spcAft>
              <a:buNone/>
            </a:pPr>
            <a:r>
              <a:rPr lang="es"/>
              <a:t>Notación: la coma significa intersección P(X=x,Y=y)=P((X=x)∩(Y=y)).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7fb93d0773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7fb93d077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80454dbc36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80454dbc36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1ef4461dc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1ef4461dc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7fb93d0773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7fb93d0773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En un mismo experimento o análisis podemos tomar en cuenta varios aspectos o medidas relevantes, cuando estos aspectos están relacionados o son independientes entre si.</a:t>
            </a:r>
            <a:endParaRPr/>
          </a:p>
          <a:p>
            <a:pPr marL="0" lvl="0" indent="0" algn="l" rtl="0">
              <a:spcBef>
                <a:spcPts val="0"/>
              </a:spcBef>
              <a:spcAft>
                <a:spcPts val="0"/>
              </a:spcAft>
              <a:buNone/>
            </a:pPr>
            <a:endParaRPr/>
          </a:p>
          <a:p>
            <a:pPr marL="0" lvl="0" indent="0" algn="l" rtl="0">
              <a:spcBef>
                <a:spcPts val="0"/>
              </a:spcBef>
              <a:spcAft>
                <a:spcPts val="0"/>
              </a:spcAft>
              <a:buNone/>
            </a:pPr>
            <a:r>
              <a:rPr lang="es"/>
              <a:t>Diremos que do o más variables son independientes si su porbabilidad o densidad conjunta es el producto de las marginales. o bien, para variables discretas principalmente, cuando la probabilidad de la intersección es el producto de las probabilidades.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74a333115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74a333115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En un mismo experimento o análisis podemos tomar en cuenta varios aspectos o medidas relevantes, cómo consideramos esa situación en la teoría?</a:t>
            </a:r>
            <a:endParaRPr/>
          </a:p>
          <a:p>
            <a:pPr marL="0" lvl="0" indent="0" algn="l" rtl="0">
              <a:spcBef>
                <a:spcPts val="0"/>
              </a:spcBef>
              <a:spcAft>
                <a:spcPts val="0"/>
              </a:spcAft>
              <a:buNone/>
            </a:pPr>
            <a:r>
              <a:rPr lang="es"/>
              <a:t>Esta definición es extensible a más variables y pueden considerarse, en conjunto, tipos diferentes a la vez.</a:t>
            </a:r>
            <a:endParaRPr/>
          </a:p>
          <a:p>
            <a:pPr marL="0" lvl="0" indent="0" algn="l" rtl="0">
              <a:spcBef>
                <a:spcPts val="0"/>
              </a:spcBef>
              <a:spcAft>
                <a:spcPts val="0"/>
              </a:spcAft>
              <a:buNone/>
            </a:pPr>
            <a:endParaRPr/>
          </a:p>
          <a:p>
            <a:pPr marL="0" lvl="0" indent="0" algn="l" rtl="0">
              <a:spcBef>
                <a:spcPts val="0"/>
              </a:spcBef>
              <a:spcAft>
                <a:spcPts val="0"/>
              </a:spcAft>
              <a:buNone/>
            </a:pPr>
            <a:r>
              <a:rPr lang="es"/>
              <a:t>Notación: la coma significa intersección P(X=x,Y=y)=P((X=x)∩(Y=y)).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80454dbc36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80454dbc36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8741c4d47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8741c4d4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7fc18e2f0b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7fc18e2f0b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7fb93d0773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7fb93d0773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7fc18e2f0b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7fc18e2f0b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80454dbc36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80454dbc36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80454dbc36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80454dbc36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80454dbc36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80454dbc36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80454dbc36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80454dbc36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80454dbc36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80454dbc36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80454dbc36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80454dbc36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80454dbc36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80454dbc36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2" name="Google Shape;12;p2"/>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extLst>
    <p:ext uri="{DCECCB84-F9BA-43D5-87BE-67443E8EF086}">
      <p15:sldGuideLst xmlns:p15="http://schemas.microsoft.com/office/powerpoint/2012/main">
        <p15:guide id="1" orient="horz" pos="596">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extLst>
    <p:ext uri="{DCECCB84-F9BA-43D5-87BE-67443E8EF086}">
      <p15:sldGuideLst xmlns:p15="http://schemas.microsoft.com/office/powerpoint/2012/main">
        <p15:guide id="1" orient="horz" pos="595">
          <p15:clr>
            <a:srgbClr val="FA7B17"/>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3168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224000"/>
            <a:ext cx="2808000" cy="34392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929275"/>
            <a:ext cx="4045200" cy="17862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endParaRPr/>
          </a:p>
        </p:txBody>
      </p:sp>
      <p:sp>
        <p:nvSpPr>
          <p:cNvPr id="45" name="Google Shape;45;p9"/>
          <p:cNvSpPr txBox="1">
            <a:spLocks noGrp="1"/>
          </p:cNvSpPr>
          <p:nvPr>
            <p:ph type="subTitle" idx="1"/>
          </p:nvPr>
        </p:nvSpPr>
        <p:spPr>
          <a:xfrm>
            <a:off x="265500" y="2769001"/>
            <a:ext cx="4045200" cy="1574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b" anchorCtr="0">
            <a:noAutofit/>
          </a:bodyPr>
          <a:lstStyle>
            <a:lvl1pPr marL="457200" lvl="0" indent="-228600">
              <a:lnSpc>
                <a:spcPct val="100000"/>
              </a:lnSpc>
              <a:spcBef>
                <a:spcPts val="0"/>
              </a:spcBef>
              <a:spcAft>
                <a:spcPts val="0"/>
              </a:spcAft>
              <a:buSzPts val="3600"/>
              <a:buFont typeface="Economica"/>
              <a:buNone/>
              <a:defRPr sz="36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4.gif"/></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hyperlink" Target="http://www.garrahan.gov.ar/PDFS/crecimiento_y_desarrollo/estatura-f-0-6-a.pdf" TargetMode="Externa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9.png"/><Relationship Id="rId5" Type="http://schemas.openxmlformats.org/officeDocument/2006/relationships/image" Target="../media/image12.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9.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876E2BE-1E76-0F44-8020-A654157CDF76}"/>
              </a:ext>
            </a:extLst>
          </p:cNvPr>
          <p:cNvSpPr txBox="1"/>
          <p:nvPr/>
        </p:nvSpPr>
        <p:spPr>
          <a:xfrm>
            <a:off x="1663818" y="2894244"/>
            <a:ext cx="2656496" cy="1211870"/>
          </a:xfrm>
          <a:prstGeom prst="rect">
            <a:avLst/>
          </a:prstGeom>
          <a:noFill/>
        </p:spPr>
        <p:txBody>
          <a:bodyPr wrap="none" rtlCol="0">
            <a:spAutoFit/>
          </a:bodyPr>
          <a:lstStyle/>
          <a:p>
            <a:pPr defTabSz="514350"/>
            <a:r>
              <a:rPr lang="en-US" sz="2025" dirty="0">
                <a:latin typeface="Gill Sans MT" panose="020B0502020104020203" pitchFamily="34" charset="77"/>
              </a:rPr>
              <a:t>Dr. José Ramón Iglesias</a:t>
            </a:r>
          </a:p>
          <a:p>
            <a:pPr defTabSz="514350"/>
            <a:r>
              <a:rPr lang="en-US" sz="1050" dirty="0">
                <a:solidFill>
                  <a:prstClr val="white">
                    <a:lumMod val="50000"/>
                  </a:prstClr>
                </a:solidFill>
                <a:latin typeface="Gill Sans MT" panose="020B0502020104020203" pitchFamily="34" charset="77"/>
              </a:rPr>
              <a:t>DSP-ASIC BUILDER GROUP</a:t>
            </a:r>
          </a:p>
          <a:p>
            <a:pPr defTabSz="514350"/>
            <a:r>
              <a:rPr lang="en-US" sz="1050" dirty="0">
                <a:solidFill>
                  <a:prstClr val="white">
                    <a:lumMod val="50000"/>
                  </a:prstClr>
                </a:solidFill>
                <a:latin typeface="Gill Sans MT" panose="020B0502020104020203" pitchFamily="34" charset="77"/>
              </a:rPr>
              <a:t>Director Semillero TRIAC</a:t>
            </a:r>
          </a:p>
          <a:p>
            <a:pPr defTabSz="514350"/>
            <a:r>
              <a:rPr lang="en-US" sz="1050" dirty="0">
                <a:solidFill>
                  <a:prstClr val="white">
                    <a:lumMod val="50000"/>
                  </a:prstClr>
                </a:solidFill>
                <a:latin typeface="Gill Sans MT" panose="020B0502020104020203" pitchFamily="34" charset="77"/>
              </a:rPr>
              <a:t>Ingenieria Electronica</a:t>
            </a:r>
          </a:p>
          <a:p>
            <a:pPr defTabSz="514350"/>
            <a:r>
              <a:rPr lang="en-US" sz="1050" dirty="0">
                <a:solidFill>
                  <a:prstClr val="white">
                    <a:lumMod val="50000"/>
                  </a:prstClr>
                </a:solidFill>
                <a:latin typeface="Gill Sans MT" panose="020B0502020104020203" pitchFamily="34" charset="77"/>
              </a:rPr>
              <a:t>Universidad Popular del Cesar</a:t>
            </a:r>
          </a:p>
          <a:p>
            <a:pPr defTabSz="514350"/>
            <a:endParaRPr lang="en-US" sz="1050" dirty="0">
              <a:solidFill>
                <a:prstClr val="white">
                  <a:lumMod val="50000"/>
                </a:prstClr>
              </a:solidFill>
              <a:latin typeface="Gill Sans MT" panose="020B0502020104020203" pitchFamily="34" charset="77"/>
            </a:endParaRPr>
          </a:p>
        </p:txBody>
      </p:sp>
      <p:sp>
        <p:nvSpPr>
          <p:cNvPr id="8" name="TextBox 7">
            <a:extLst>
              <a:ext uri="{FF2B5EF4-FFF2-40B4-BE49-F238E27FC236}">
                <a16:creationId xmlns:a16="http://schemas.microsoft.com/office/drawing/2014/main" id="{DA0B8274-BF81-6D48-B1EC-87E4CF24BC51}"/>
              </a:ext>
            </a:extLst>
          </p:cNvPr>
          <p:cNvSpPr txBox="1"/>
          <p:nvPr/>
        </p:nvSpPr>
        <p:spPr>
          <a:xfrm>
            <a:off x="1889184" y="1315456"/>
            <a:ext cx="5365632" cy="473206"/>
          </a:xfrm>
          <a:prstGeom prst="rect">
            <a:avLst/>
          </a:prstGeom>
          <a:noFill/>
        </p:spPr>
        <p:txBody>
          <a:bodyPr wrap="square" rtlCol="0">
            <a:spAutoFit/>
          </a:bodyPr>
          <a:lstStyle/>
          <a:p>
            <a:pPr defTabSz="514350"/>
            <a:r>
              <a:rPr lang="en-US" sz="2475" dirty="0" err="1">
                <a:latin typeface="Arial" panose="020B0604020202020204" pitchFamily="34" charset="0"/>
                <a:cs typeface="Arial" panose="020B0604020202020204" pitchFamily="34" charset="0"/>
              </a:rPr>
              <a:t>Ciencia</a:t>
            </a:r>
            <a:r>
              <a:rPr lang="en-US" sz="2475" dirty="0">
                <a:latin typeface="Arial" panose="020B0604020202020204" pitchFamily="34" charset="0"/>
                <a:cs typeface="Arial" panose="020B0604020202020204" pitchFamily="34" charset="0"/>
              </a:rPr>
              <a:t> de </a:t>
            </a:r>
            <a:r>
              <a:rPr lang="en-US" sz="2475" dirty="0" err="1">
                <a:latin typeface="Arial" panose="020B0604020202020204" pitchFamily="34" charset="0"/>
                <a:cs typeface="Arial" panose="020B0604020202020204" pitchFamily="34" charset="0"/>
              </a:rPr>
              <a:t>Datos</a:t>
            </a:r>
            <a:r>
              <a:rPr lang="en-US" sz="2475" dirty="0">
                <a:latin typeface="Arial" panose="020B0604020202020204" pitchFamily="34" charset="0"/>
                <a:cs typeface="Arial" panose="020B0604020202020204" pitchFamily="34" charset="0"/>
              </a:rPr>
              <a:t> y </a:t>
            </a:r>
            <a:r>
              <a:rPr lang="en-US" sz="2475" dirty="0" err="1">
                <a:latin typeface="Arial" panose="020B0604020202020204" pitchFamily="34" charset="0"/>
                <a:cs typeface="Arial" panose="020B0604020202020204" pitchFamily="34" charset="0"/>
              </a:rPr>
              <a:t>BigData</a:t>
            </a:r>
            <a:endParaRPr lang="en-US" sz="1125" dirty="0">
              <a:latin typeface="Gill Sans MT" panose="020B0502020104020203" pitchFamily="34" charset="77"/>
            </a:endParaRPr>
          </a:p>
        </p:txBody>
      </p:sp>
      <p:pic>
        <p:nvPicPr>
          <p:cNvPr id="5" name="Google Shape;30;p1">
            <a:extLst>
              <a:ext uri="{FF2B5EF4-FFF2-40B4-BE49-F238E27FC236}">
                <a16:creationId xmlns:a16="http://schemas.microsoft.com/office/drawing/2014/main" id="{4339DFEC-8BF3-4650-90E0-2B1293346692}"/>
              </a:ext>
            </a:extLst>
          </p:cNvPr>
          <p:cNvPicPr preferRelativeResize="0"/>
          <p:nvPr/>
        </p:nvPicPr>
        <p:blipFill rotWithShape="1">
          <a:blip r:embed="rId2">
            <a:alphaModFix/>
          </a:blip>
          <a:srcRect/>
          <a:stretch/>
        </p:blipFill>
        <p:spPr>
          <a:xfrm>
            <a:off x="1246153" y="679742"/>
            <a:ext cx="1942857" cy="635714"/>
          </a:xfrm>
          <a:prstGeom prst="rect">
            <a:avLst/>
          </a:prstGeom>
          <a:noFill/>
          <a:ln>
            <a:noFill/>
          </a:ln>
        </p:spPr>
      </p:pic>
      <p:sp>
        <p:nvSpPr>
          <p:cNvPr id="6" name="TextBox 1">
            <a:extLst>
              <a:ext uri="{FF2B5EF4-FFF2-40B4-BE49-F238E27FC236}">
                <a16:creationId xmlns:a16="http://schemas.microsoft.com/office/drawing/2014/main" id="{F0B24A3F-60C1-46BB-9F38-67F6A9D0EA23}"/>
              </a:ext>
            </a:extLst>
          </p:cNvPr>
          <p:cNvSpPr txBox="1"/>
          <p:nvPr/>
        </p:nvSpPr>
        <p:spPr>
          <a:xfrm>
            <a:off x="1143001" y="2273300"/>
            <a:ext cx="6858000" cy="369332"/>
          </a:xfrm>
          <a:prstGeom prst="rect">
            <a:avLst/>
          </a:prstGeom>
          <a:noFill/>
        </p:spPr>
        <p:txBody>
          <a:bodyPr wrap="square" rtlCol="0">
            <a:spAutoFit/>
          </a:bodyPr>
          <a:lstStyle/>
          <a:p>
            <a:pPr algn="ctr"/>
            <a:r>
              <a:rPr lang="es-CL" sz="1800" b="1" dirty="0">
                <a:latin typeface="Trebuchet MS"/>
                <a:cs typeface="Trebuchet MS"/>
              </a:rPr>
              <a:t>Análisis y Visualización de Datos – Varias Variables</a:t>
            </a:r>
          </a:p>
        </p:txBody>
      </p:sp>
    </p:spTree>
    <p:extLst>
      <p:ext uri="{BB962C8B-B14F-4D97-AF65-F5344CB8AC3E}">
        <p14:creationId xmlns:p14="http://schemas.microsoft.com/office/powerpoint/2010/main" val="2424940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4"/>
          <p:cNvSpPr txBox="1">
            <a:spLocks noGrp="1"/>
          </p:cNvSpPr>
          <p:nvPr>
            <p:ph type="title"/>
          </p:nvPr>
        </p:nvSpPr>
        <p:spPr>
          <a:xfrm>
            <a:off x="490250" y="450150"/>
            <a:ext cx="7988700" cy="409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dirty="0"/>
              <a:t>Demo con Notebook </a:t>
            </a:r>
            <a:endParaRPr dirty="0"/>
          </a:p>
          <a:p>
            <a:pPr marL="0" lvl="0" indent="0" algn="ctr" rtl="0">
              <a:spcBef>
                <a:spcPts val="0"/>
              </a:spcBef>
              <a:spcAft>
                <a:spcPts val="0"/>
              </a:spcAft>
              <a:buNone/>
            </a:pPr>
            <a:r>
              <a:rPr lang="es" sz="3400" u="sng" dirty="0">
                <a:solidFill>
                  <a:schemeClr val="hlink"/>
                </a:solidFill>
              </a:rPr>
              <a:t>EL460_Varias Variables.ipynb</a:t>
            </a:r>
            <a:endParaRPr sz="3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Para pensar… </a:t>
            </a:r>
            <a:endParaRPr/>
          </a:p>
        </p:txBody>
      </p:sp>
      <p:pic>
        <p:nvPicPr>
          <p:cNvPr id="74" name="Google Shape;74;p15"/>
          <p:cNvPicPr preferRelativeResize="0"/>
          <p:nvPr/>
        </p:nvPicPr>
        <p:blipFill rotWithShape="1">
          <a:blip r:embed="rId3">
            <a:alphaModFix/>
          </a:blip>
          <a:srcRect t="-2121" r="2334" b="19911"/>
          <a:stretch/>
        </p:blipFill>
        <p:spPr>
          <a:xfrm>
            <a:off x="2209800" y="1299625"/>
            <a:ext cx="3691475" cy="310732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6"/>
          <p:cNvSpPr txBox="1">
            <a:spLocks noGrp="1"/>
          </p:cNvSpPr>
          <p:nvPr>
            <p:ph type="title"/>
          </p:nvPr>
        </p:nvSpPr>
        <p:spPr>
          <a:xfrm>
            <a:off x="751000" y="511325"/>
            <a:ext cx="86931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Varias Variables</a:t>
            </a:r>
            <a:endParaRPr/>
          </a:p>
        </p:txBody>
      </p:sp>
      <p:sp>
        <p:nvSpPr>
          <p:cNvPr id="80" name="Google Shape;80;p16"/>
          <p:cNvSpPr txBox="1"/>
          <p:nvPr/>
        </p:nvSpPr>
        <p:spPr>
          <a:xfrm>
            <a:off x="467725" y="1403825"/>
            <a:ext cx="8494200" cy="192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000">
                <a:latin typeface="Open Sans"/>
                <a:ea typeface="Open Sans"/>
                <a:cs typeface="Open Sans"/>
                <a:sym typeface="Open Sans"/>
              </a:rPr>
              <a:t>En un mismo experimento o análisis podemos tomar en cuenta varios aspectos o medidas relevantes a la vez, así como combinación de situaciones, etc. </a:t>
            </a:r>
            <a:endParaRPr sz="2000">
              <a:latin typeface="Open Sans"/>
              <a:ea typeface="Open Sans"/>
              <a:cs typeface="Open Sans"/>
              <a:sym typeface="Open Sans"/>
            </a:endParaRPr>
          </a:p>
          <a:p>
            <a:pPr marL="0" lvl="0" indent="0" algn="l" rtl="0">
              <a:spcBef>
                <a:spcPts val="0"/>
              </a:spcBef>
              <a:spcAft>
                <a:spcPts val="0"/>
              </a:spcAft>
              <a:buNone/>
            </a:pPr>
            <a:endParaRPr sz="2000">
              <a:latin typeface="Open Sans"/>
              <a:ea typeface="Open Sans"/>
              <a:cs typeface="Open Sans"/>
              <a:sym typeface="Open Sans"/>
            </a:endParaRPr>
          </a:p>
          <a:p>
            <a:pPr marL="0" lvl="0" indent="0" algn="l" rtl="0">
              <a:spcBef>
                <a:spcPts val="0"/>
              </a:spcBef>
              <a:spcAft>
                <a:spcPts val="0"/>
              </a:spcAft>
              <a:buNone/>
            </a:pPr>
            <a:r>
              <a:rPr lang="es" sz="2000">
                <a:latin typeface="Open Sans"/>
                <a:ea typeface="Open Sans"/>
                <a:cs typeface="Open Sans"/>
                <a:sym typeface="Open Sans"/>
              </a:rPr>
              <a:t>Sean </a:t>
            </a:r>
            <a:r>
              <a:rPr lang="es" sz="2000" b="1">
                <a:solidFill>
                  <a:srgbClr val="1B786E"/>
                </a:solidFill>
                <a:latin typeface="Open Sans"/>
                <a:ea typeface="Open Sans"/>
                <a:cs typeface="Open Sans"/>
                <a:sym typeface="Open Sans"/>
              </a:rPr>
              <a:t>X</a:t>
            </a:r>
            <a:r>
              <a:rPr lang="es" sz="1800">
                <a:latin typeface="Open Sans"/>
                <a:ea typeface="Open Sans"/>
                <a:cs typeface="Open Sans"/>
                <a:sym typeface="Open Sans"/>
              </a:rPr>
              <a:t>:</a:t>
            </a:r>
            <a:r>
              <a:rPr lang="es" sz="1800" b="1">
                <a:solidFill>
                  <a:srgbClr val="1B786E"/>
                </a:solidFill>
                <a:latin typeface="Open Sans"/>
                <a:ea typeface="Open Sans"/>
                <a:cs typeface="Open Sans"/>
                <a:sym typeface="Open Sans"/>
              </a:rPr>
              <a:t> </a:t>
            </a:r>
            <a:r>
              <a:rPr lang="es" sz="1800">
                <a:latin typeface="Open Sans"/>
                <a:ea typeface="Open Sans"/>
                <a:cs typeface="Open Sans"/>
                <a:sym typeface="Open Sans"/>
              </a:rPr>
              <a:t>Ω⇾R</a:t>
            </a:r>
            <a:r>
              <a:rPr lang="es" sz="2000" b="1">
                <a:solidFill>
                  <a:srgbClr val="1B786E"/>
                </a:solidFill>
                <a:latin typeface="Open Sans"/>
                <a:ea typeface="Open Sans"/>
                <a:cs typeface="Open Sans"/>
                <a:sym typeface="Open Sans"/>
              </a:rPr>
              <a:t> e Y</a:t>
            </a:r>
            <a:r>
              <a:rPr lang="es" sz="1800">
                <a:latin typeface="Open Sans"/>
                <a:ea typeface="Open Sans"/>
                <a:cs typeface="Open Sans"/>
                <a:sym typeface="Open Sans"/>
              </a:rPr>
              <a:t>: Ω⇾R</a:t>
            </a:r>
            <a:r>
              <a:rPr lang="es" sz="1800" b="1">
                <a:solidFill>
                  <a:srgbClr val="1B786E"/>
                </a:solidFill>
                <a:latin typeface="Open Sans"/>
                <a:ea typeface="Open Sans"/>
                <a:cs typeface="Open Sans"/>
                <a:sym typeface="Open Sans"/>
              </a:rPr>
              <a:t> </a:t>
            </a:r>
            <a:r>
              <a:rPr lang="es" sz="2000" b="1">
                <a:solidFill>
                  <a:srgbClr val="1B786E"/>
                </a:solidFill>
                <a:latin typeface="Open Sans"/>
                <a:ea typeface="Open Sans"/>
                <a:cs typeface="Open Sans"/>
                <a:sym typeface="Open Sans"/>
              </a:rPr>
              <a:t> variables aleatorias</a:t>
            </a:r>
            <a:r>
              <a:rPr lang="es" sz="2000">
                <a:latin typeface="Open Sans"/>
                <a:ea typeface="Open Sans"/>
                <a:cs typeface="Open Sans"/>
                <a:sym typeface="Open Sans"/>
              </a:rPr>
              <a:t>.</a:t>
            </a:r>
            <a:endParaRPr sz="2000">
              <a:latin typeface="Open Sans"/>
              <a:ea typeface="Open Sans"/>
              <a:cs typeface="Open Sans"/>
              <a:sym typeface="Open Sans"/>
            </a:endParaRPr>
          </a:p>
          <a:p>
            <a:pPr marL="0" lvl="0" indent="0" algn="l" rtl="0">
              <a:spcBef>
                <a:spcPts val="0"/>
              </a:spcBef>
              <a:spcAft>
                <a:spcPts val="0"/>
              </a:spcAft>
              <a:buNone/>
            </a:pPr>
            <a:r>
              <a:rPr lang="es" sz="2000">
                <a:latin typeface="Open Sans"/>
                <a:ea typeface="Open Sans"/>
                <a:cs typeface="Open Sans"/>
                <a:sym typeface="Open Sans"/>
              </a:rPr>
              <a:t>tendrán asociadas una función de </a:t>
            </a:r>
            <a:r>
              <a:rPr lang="es" sz="2000" b="1">
                <a:solidFill>
                  <a:schemeClr val="accent5"/>
                </a:solidFill>
                <a:latin typeface="Open Sans"/>
                <a:ea typeface="Open Sans"/>
                <a:cs typeface="Open Sans"/>
                <a:sym typeface="Open Sans"/>
              </a:rPr>
              <a:t>densidad/probabilidad conjunta</a:t>
            </a:r>
            <a:r>
              <a:rPr lang="es" sz="2000">
                <a:latin typeface="Open Sans"/>
                <a:ea typeface="Open Sans"/>
                <a:cs typeface="Open Sans"/>
                <a:sym typeface="Open Sans"/>
              </a:rPr>
              <a:t>:</a:t>
            </a:r>
            <a:endParaRPr sz="2000">
              <a:latin typeface="Open Sans"/>
              <a:ea typeface="Open Sans"/>
              <a:cs typeface="Open Sans"/>
              <a:sym typeface="Open Sans"/>
            </a:endParaRPr>
          </a:p>
          <a:p>
            <a:pPr marL="0" lvl="0" indent="0" algn="l" rtl="0">
              <a:spcBef>
                <a:spcPts val="0"/>
              </a:spcBef>
              <a:spcAft>
                <a:spcPts val="0"/>
              </a:spcAft>
              <a:buNone/>
            </a:pPr>
            <a:endParaRPr sz="2000">
              <a:latin typeface="Open Sans"/>
              <a:ea typeface="Open Sans"/>
              <a:cs typeface="Open Sans"/>
              <a:sym typeface="Open Sans"/>
            </a:endParaRPr>
          </a:p>
          <a:p>
            <a:pPr marL="457200" lvl="0" indent="-355600" algn="l" rtl="0">
              <a:spcBef>
                <a:spcPts val="0"/>
              </a:spcBef>
              <a:spcAft>
                <a:spcPts val="0"/>
              </a:spcAft>
              <a:buClr>
                <a:schemeClr val="dk1"/>
              </a:buClr>
              <a:buSzPts val="2000"/>
              <a:buFont typeface="Open Sans"/>
              <a:buChar char="●"/>
            </a:pPr>
            <a:r>
              <a:rPr lang="es" sz="2000">
                <a:solidFill>
                  <a:schemeClr val="dk1"/>
                </a:solidFill>
                <a:latin typeface="Open Sans"/>
                <a:ea typeface="Open Sans"/>
                <a:cs typeface="Open Sans"/>
                <a:sym typeface="Open Sans"/>
              </a:rPr>
              <a:t>              	p/ X e Y v.a. continuas, densidad, y </a:t>
            </a:r>
            <a:endParaRPr sz="2000">
              <a:latin typeface="Open Sans"/>
              <a:ea typeface="Open Sans"/>
              <a:cs typeface="Open Sans"/>
              <a:sym typeface="Open Sans"/>
            </a:endParaRPr>
          </a:p>
          <a:p>
            <a:pPr marL="0" lvl="0" indent="0" algn="l" rtl="0">
              <a:spcBef>
                <a:spcPts val="0"/>
              </a:spcBef>
              <a:spcAft>
                <a:spcPts val="0"/>
              </a:spcAft>
              <a:buNone/>
            </a:pPr>
            <a:endParaRPr sz="2000">
              <a:latin typeface="Open Sans"/>
              <a:ea typeface="Open Sans"/>
              <a:cs typeface="Open Sans"/>
              <a:sym typeface="Open Sans"/>
            </a:endParaRPr>
          </a:p>
          <a:p>
            <a:pPr marL="457200" lvl="0" indent="-355600" algn="l" rtl="0">
              <a:spcBef>
                <a:spcPts val="0"/>
              </a:spcBef>
              <a:spcAft>
                <a:spcPts val="0"/>
              </a:spcAft>
              <a:buSzPts val="2000"/>
              <a:buFont typeface="Open Sans"/>
              <a:buChar char="●"/>
            </a:pPr>
            <a:r>
              <a:rPr lang="es" sz="2000">
                <a:latin typeface="Open Sans"/>
                <a:ea typeface="Open Sans"/>
                <a:cs typeface="Open Sans"/>
                <a:sym typeface="Open Sans"/>
              </a:rPr>
              <a:t>                                          	p/discretas, prob. o densidad puntual </a:t>
            </a:r>
            <a:endParaRPr sz="2000">
              <a:latin typeface="Open Sans"/>
              <a:ea typeface="Open Sans"/>
              <a:cs typeface="Open Sans"/>
              <a:sym typeface="Open Sans"/>
            </a:endParaRPr>
          </a:p>
          <a:p>
            <a:pPr marL="0" lvl="0" indent="0" algn="l" rtl="0">
              <a:spcBef>
                <a:spcPts val="0"/>
              </a:spcBef>
              <a:spcAft>
                <a:spcPts val="0"/>
              </a:spcAft>
              <a:buNone/>
            </a:pPr>
            <a:endParaRPr>
              <a:latin typeface="Open Sans"/>
              <a:ea typeface="Open Sans"/>
              <a:cs typeface="Open Sans"/>
              <a:sym typeface="Open Sans"/>
            </a:endParaRPr>
          </a:p>
          <a:p>
            <a:pPr marL="0" lvl="0" indent="0" algn="r" rtl="0">
              <a:spcBef>
                <a:spcPts val="0"/>
              </a:spcBef>
              <a:spcAft>
                <a:spcPts val="0"/>
              </a:spcAft>
              <a:buClr>
                <a:schemeClr val="dk1"/>
              </a:buClr>
              <a:buSzPts val="1100"/>
              <a:buFont typeface="Arial"/>
              <a:buNone/>
            </a:pPr>
            <a:r>
              <a:rPr lang="es">
                <a:solidFill>
                  <a:srgbClr val="1B786E"/>
                </a:solidFill>
              </a:rPr>
              <a:t>Notación: P(X=x,Y=y)=P((X=x)∩(Y=y)). la coma significa intersección </a:t>
            </a:r>
            <a:endParaRPr>
              <a:solidFill>
                <a:srgbClr val="1B786E"/>
              </a:solidFill>
              <a:latin typeface="Open Sans"/>
              <a:ea typeface="Open Sans"/>
              <a:cs typeface="Open Sans"/>
              <a:sym typeface="Open Sans"/>
            </a:endParaRPr>
          </a:p>
        </p:txBody>
      </p:sp>
      <p:pic>
        <p:nvPicPr>
          <p:cNvPr id="81" name="Google Shape;81;p16" descr="f(x,y)"/>
          <p:cNvPicPr preferRelativeResize="0"/>
          <p:nvPr/>
        </p:nvPicPr>
        <p:blipFill>
          <a:blip r:embed="rId3">
            <a:alphaModFix/>
          </a:blip>
          <a:stretch>
            <a:fillRect/>
          </a:stretch>
        </p:blipFill>
        <p:spPr>
          <a:xfrm>
            <a:off x="1059094" y="3600588"/>
            <a:ext cx="960206" cy="361813"/>
          </a:xfrm>
          <a:prstGeom prst="rect">
            <a:avLst/>
          </a:prstGeom>
          <a:noFill/>
          <a:ln>
            <a:noFill/>
          </a:ln>
        </p:spPr>
      </p:pic>
      <p:pic>
        <p:nvPicPr>
          <p:cNvPr id="82" name="Google Shape;82;p16" descr="f(x,y)=P(X=x,Y=y)"/>
          <p:cNvPicPr preferRelativeResize="0"/>
          <p:nvPr/>
        </p:nvPicPr>
        <p:blipFill>
          <a:blip r:embed="rId4">
            <a:alphaModFix/>
          </a:blip>
          <a:stretch>
            <a:fillRect/>
          </a:stretch>
        </p:blipFill>
        <p:spPr>
          <a:xfrm>
            <a:off x="914750" y="4225925"/>
            <a:ext cx="3190475" cy="287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7"/>
          <p:cNvSpPr txBox="1">
            <a:spLocks noGrp="1"/>
          </p:cNvSpPr>
          <p:nvPr>
            <p:ph type="title"/>
          </p:nvPr>
        </p:nvSpPr>
        <p:spPr>
          <a:xfrm>
            <a:off x="370000" y="511325"/>
            <a:ext cx="86931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Varias Variables</a:t>
            </a:r>
            <a:endParaRPr/>
          </a:p>
        </p:txBody>
      </p:sp>
      <p:sp>
        <p:nvSpPr>
          <p:cNvPr id="88" name="Google Shape;88;p17"/>
          <p:cNvSpPr txBox="1"/>
          <p:nvPr/>
        </p:nvSpPr>
        <p:spPr>
          <a:xfrm>
            <a:off x="467725" y="1403825"/>
            <a:ext cx="8494200" cy="192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000" b="1" dirty="0">
                <a:solidFill>
                  <a:srgbClr val="1B786E"/>
                </a:solidFill>
                <a:latin typeface="Open Sans"/>
                <a:ea typeface="Open Sans"/>
                <a:cs typeface="Open Sans"/>
                <a:sym typeface="Open Sans"/>
              </a:rPr>
              <a:t>X</a:t>
            </a:r>
            <a:r>
              <a:rPr lang="es" sz="1800" dirty="0">
                <a:latin typeface="Open Sans"/>
                <a:ea typeface="Open Sans"/>
                <a:cs typeface="Open Sans"/>
                <a:sym typeface="Open Sans"/>
              </a:rPr>
              <a:t>:</a:t>
            </a:r>
            <a:r>
              <a:rPr lang="es" sz="1800" b="1" dirty="0">
                <a:solidFill>
                  <a:srgbClr val="1B786E"/>
                </a:solidFill>
                <a:latin typeface="Open Sans"/>
                <a:ea typeface="Open Sans"/>
                <a:cs typeface="Open Sans"/>
                <a:sym typeface="Open Sans"/>
              </a:rPr>
              <a:t> </a:t>
            </a:r>
            <a:r>
              <a:rPr lang="es" sz="1800" dirty="0">
                <a:latin typeface="Open Sans"/>
                <a:ea typeface="Open Sans"/>
                <a:cs typeface="Open Sans"/>
                <a:sym typeface="Open Sans"/>
              </a:rPr>
              <a:t>Ω⇾R</a:t>
            </a:r>
            <a:r>
              <a:rPr lang="es" sz="2000" b="1" dirty="0">
                <a:solidFill>
                  <a:srgbClr val="1B786E"/>
                </a:solidFill>
                <a:latin typeface="Open Sans"/>
                <a:ea typeface="Open Sans"/>
                <a:cs typeface="Open Sans"/>
                <a:sym typeface="Open Sans"/>
              </a:rPr>
              <a:t> e Y</a:t>
            </a:r>
            <a:r>
              <a:rPr lang="es" sz="1800" dirty="0">
                <a:latin typeface="Open Sans"/>
                <a:ea typeface="Open Sans"/>
                <a:cs typeface="Open Sans"/>
                <a:sym typeface="Open Sans"/>
              </a:rPr>
              <a:t>: Ω⇾R</a:t>
            </a:r>
            <a:r>
              <a:rPr lang="es" sz="1800" b="1" dirty="0">
                <a:solidFill>
                  <a:srgbClr val="1B786E"/>
                </a:solidFill>
                <a:latin typeface="Open Sans"/>
                <a:ea typeface="Open Sans"/>
                <a:cs typeface="Open Sans"/>
                <a:sym typeface="Open Sans"/>
              </a:rPr>
              <a:t> </a:t>
            </a:r>
            <a:r>
              <a:rPr lang="es" sz="2000" b="1" dirty="0">
                <a:solidFill>
                  <a:srgbClr val="1B786E"/>
                </a:solidFill>
                <a:latin typeface="Open Sans"/>
                <a:ea typeface="Open Sans"/>
                <a:cs typeface="Open Sans"/>
                <a:sym typeface="Open Sans"/>
              </a:rPr>
              <a:t> variables aleatorias</a:t>
            </a:r>
            <a:r>
              <a:rPr lang="es" sz="2000" dirty="0">
                <a:latin typeface="Open Sans"/>
                <a:ea typeface="Open Sans"/>
                <a:cs typeface="Open Sans"/>
                <a:sym typeface="Open Sans"/>
              </a:rPr>
              <a:t> con función de densidad o probabilidad conjunta </a:t>
            </a:r>
            <a:r>
              <a:rPr lang="es" sz="2000" b="1" i="1" dirty="0">
                <a:solidFill>
                  <a:srgbClr val="1B786E"/>
                </a:solidFill>
                <a:latin typeface="Open Sans"/>
                <a:ea typeface="Open Sans"/>
                <a:cs typeface="Open Sans"/>
                <a:sym typeface="Open Sans"/>
              </a:rPr>
              <a:t>f(x,y)</a:t>
            </a:r>
            <a:r>
              <a:rPr lang="es" sz="2000" dirty="0">
                <a:latin typeface="Open Sans"/>
                <a:ea typeface="Open Sans"/>
                <a:cs typeface="Open Sans"/>
                <a:sym typeface="Open Sans"/>
              </a:rPr>
              <a:t>. </a:t>
            </a:r>
            <a:endParaRPr sz="2000" dirty="0">
              <a:latin typeface="Open Sans"/>
              <a:ea typeface="Open Sans"/>
              <a:cs typeface="Open Sans"/>
              <a:sym typeface="Open Sans"/>
            </a:endParaRPr>
          </a:p>
          <a:p>
            <a:pPr marL="0" lvl="0" indent="0" algn="l" rtl="0">
              <a:spcBef>
                <a:spcPts val="0"/>
              </a:spcBef>
              <a:spcAft>
                <a:spcPts val="0"/>
              </a:spcAft>
              <a:buNone/>
            </a:pPr>
            <a:r>
              <a:rPr lang="es" sz="2000" dirty="0">
                <a:latin typeface="Open Sans"/>
                <a:ea typeface="Open Sans"/>
                <a:cs typeface="Open Sans"/>
                <a:sym typeface="Open Sans"/>
              </a:rPr>
              <a:t>Se cumple que las </a:t>
            </a:r>
            <a:r>
              <a:rPr lang="es" sz="2000" b="1" dirty="0">
                <a:solidFill>
                  <a:srgbClr val="1B786E"/>
                </a:solidFill>
                <a:latin typeface="Open Sans"/>
                <a:ea typeface="Open Sans"/>
                <a:cs typeface="Open Sans"/>
                <a:sym typeface="Open Sans"/>
              </a:rPr>
              <a:t>densidades marginales</a:t>
            </a:r>
            <a:r>
              <a:rPr lang="es" sz="2000" dirty="0">
                <a:latin typeface="Open Sans"/>
                <a:ea typeface="Open Sans"/>
                <a:cs typeface="Open Sans"/>
                <a:sym typeface="Open Sans"/>
              </a:rPr>
              <a:t>  son:</a:t>
            </a:r>
            <a:endParaRPr sz="2000" dirty="0">
              <a:latin typeface="Open Sans"/>
              <a:ea typeface="Open Sans"/>
              <a:cs typeface="Open Sans"/>
              <a:sym typeface="Open Sans"/>
            </a:endParaRPr>
          </a:p>
          <a:p>
            <a:pPr marL="0" lvl="0" indent="0" algn="l" rtl="0">
              <a:spcBef>
                <a:spcPts val="0"/>
              </a:spcBef>
              <a:spcAft>
                <a:spcPts val="0"/>
              </a:spcAft>
              <a:buNone/>
            </a:pPr>
            <a:endParaRPr sz="2000" dirty="0">
              <a:latin typeface="Open Sans"/>
              <a:ea typeface="Open Sans"/>
              <a:cs typeface="Open Sans"/>
              <a:sym typeface="Open Sans"/>
            </a:endParaRPr>
          </a:p>
          <a:p>
            <a:pPr marL="0" lvl="0" indent="0" algn="l" rtl="0">
              <a:spcBef>
                <a:spcPts val="0"/>
              </a:spcBef>
              <a:spcAft>
                <a:spcPts val="0"/>
              </a:spcAft>
              <a:buNone/>
            </a:pPr>
            <a:r>
              <a:rPr lang="es" sz="2000" dirty="0">
                <a:latin typeface="Open Sans"/>
                <a:ea typeface="Open Sans"/>
                <a:cs typeface="Open Sans"/>
                <a:sym typeface="Open Sans"/>
              </a:rPr>
              <a:t>				p/ X discreta</a:t>
            </a:r>
            <a:r>
              <a:rPr lang="es" sz="2000" dirty="0">
                <a:solidFill>
                  <a:schemeClr val="dk1"/>
                </a:solidFill>
                <a:latin typeface="Open Sans"/>
                <a:ea typeface="Open Sans"/>
                <a:cs typeface="Open Sans"/>
                <a:sym typeface="Open Sans"/>
              </a:rPr>
              <a:t> </a:t>
            </a:r>
            <a:r>
              <a:rPr lang="es" sz="2000" dirty="0">
                <a:solidFill>
                  <a:srgbClr val="666666"/>
                </a:solidFill>
                <a:latin typeface="Open Sans"/>
                <a:ea typeface="Open Sans"/>
                <a:cs typeface="Open Sans"/>
                <a:sym typeface="Open Sans"/>
              </a:rPr>
              <a:t>(numérica o categórica)</a:t>
            </a:r>
            <a:endParaRPr sz="2000" dirty="0">
              <a:solidFill>
                <a:srgbClr val="666666"/>
              </a:solidFill>
              <a:latin typeface="Open Sans"/>
              <a:ea typeface="Open Sans"/>
              <a:cs typeface="Open Sans"/>
              <a:sym typeface="Open Sans"/>
            </a:endParaRPr>
          </a:p>
          <a:p>
            <a:pPr marL="0" lvl="0" indent="0" algn="l" rtl="0">
              <a:spcBef>
                <a:spcPts val="0"/>
              </a:spcBef>
              <a:spcAft>
                <a:spcPts val="0"/>
              </a:spcAft>
              <a:buNone/>
            </a:pPr>
            <a:endParaRPr sz="2000" dirty="0">
              <a:latin typeface="Open Sans"/>
              <a:ea typeface="Open Sans"/>
              <a:cs typeface="Open Sans"/>
              <a:sym typeface="Open Sans"/>
            </a:endParaRPr>
          </a:p>
          <a:p>
            <a:pPr marL="0" lvl="0" indent="0" algn="l" rtl="0">
              <a:spcBef>
                <a:spcPts val="0"/>
              </a:spcBef>
              <a:spcAft>
                <a:spcPts val="0"/>
              </a:spcAft>
              <a:buNone/>
            </a:pPr>
            <a:endParaRPr sz="2000" dirty="0">
              <a:latin typeface="Open Sans"/>
              <a:ea typeface="Open Sans"/>
              <a:cs typeface="Open Sans"/>
              <a:sym typeface="Open Sans"/>
            </a:endParaRPr>
          </a:p>
          <a:p>
            <a:pPr marL="0" lvl="0" indent="0" algn="l" rtl="0">
              <a:spcBef>
                <a:spcPts val="0"/>
              </a:spcBef>
              <a:spcAft>
                <a:spcPts val="0"/>
              </a:spcAft>
              <a:buNone/>
            </a:pPr>
            <a:r>
              <a:rPr lang="es" sz="2000" dirty="0">
                <a:latin typeface="Open Sans"/>
                <a:ea typeface="Open Sans"/>
                <a:cs typeface="Open Sans"/>
                <a:sym typeface="Open Sans"/>
              </a:rPr>
              <a:t>				</a:t>
            </a:r>
            <a:r>
              <a:rPr lang="es" sz="2000" dirty="0">
                <a:solidFill>
                  <a:schemeClr val="dk1"/>
                </a:solidFill>
                <a:latin typeface="Open Sans"/>
                <a:ea typeface="Open Sans"/>
                <a:cs typeface="Open Sans"/>
                <a:sym typeface="Open Sans"/>
              </a:rPr>
              <a:t>p/ Y discreta </a:t>
            </a:r>
            <a:r>
              <a:rPr lang="es" sz="2000" dirty="0">
                <a:solidFill>
                  <a:srgbClr val="666666"/>
                </a:solidFill>
                <a:latin typeface="Open Sans"/>
                <a:ea typeface="Open Sans"/>
                <a:cs typeface="Open Sans"/>
                <a:sym typeface="Open Sans"/>
              </a:rPr>
              <a:t>(numérica o categórica)  </a:t>
            </a:r>
          </a:p>
          <a:p>
            <a:pPr marL="0" lvl="0" indent="0" algn="l" rtl="0">
              <a:spcBef>
                <a:spcPts val="0"/>
              </a:spcBef>
              <a:spcAft>
                <a:spcPts val="0"/>
              </a:spcAft>
              <a:buNone/>
            </a:pPr>
            <a:endParaRPr lang="es" sz="2000" dirty="0">
              <a:solidFill>
                <a:srgbClr val="666666"/>
              </a:solidFill>
              <a:latin typeface="Open Sans"/>
              <a:ea typeface="Open Sans"/>
              <a:cs typeface="Open Sans"/>
              <a:sym typeface="Open Sans"/>
            </a:endParaRPr>
          </a:p>
          <a:p>
            <a:pPr marL="0" lvl="0" indent="0" algn="l" rtl="0">
              <a:spcBef>
                <a:spcPts val="0"/>
              </a:spcBef>
              <a:spcAft>
                <a:spcPts val="0"/>
              </a:spcAft>
              <a:buNone/>
            </a:pPr>
            <a:r>
              <a:rPr lang="es" sz="2000" dirty="0">
                <a:latin typeface="Open Sans"/>
                <a:ea typeface="Open Sans"/>
                <a:cs typeface="Open Sans"/>
                <a:sym typeface="Open Sans"/>
              </a:rPr>
              <a:t>para continuas se reemplaza la sumatoria por integral</a:t>
            </a:r>
            <a:endParaRPr sz="2000" dirty="0">
              <a:latin typeface="Open Sans"/>
              <a:ea typeface="Open Sans"/>
              <a:cs typeface="Open Sans"/>
              <a:sym typeface="Open Sans"/>
            </a:endParaRPr>
          </a:p>
          <a:p>
            <a:pPr marL="0" lvl="0" indent="0" algn="l" rtl="0">
              <a:spcBef>
                <a:spcPts val="0"/>
              </a:spcBef>
              <a:spcAft>
                <a:spcPts val="0"/>
              </a:spcAft>
              <a:buNone/>
            </a:pPr>
            <a:r>
              <a:rPr lang="es" sz="2000" dirty="0">
                <a:latin typeface="Open Sans"/>
                <a:ea typeface="Open Sans"/>
                <a:cs typeface="Open Sans"/>
                <a:sym typeface="Open Sans"/>
              </a:rPr>
              <a:t>  	</a:t>
            </a:r>
            <a:endParaRPr sz="2000" dirty="0">
              <a:latin typeface="Open Sans"/>
              <a:ea typeface="Open Sans"/>
              <a:cs typeface="Open Sans"/>
              <a:sym typeface="Open Sans"/>
            </a:endParaRPr>
          </a:p>
          <a:p>
            <a:pPr marL="0" lvl="0" indent="0" algn="r" rtl="0">
              <a:spcBef>
                <a:spcPts val="0"/>
              </a:spcBef>
              <a:spcAft>
                <a:spcPts val="0"/>
              </a:spcAft>
              <a:buNone/>
            </a:pPr>
            <a:endParaRPr dirty="0">
              <a:solidFill>
                <a:srgbClr val="1B786E"/>
              </a:solidFill>
              <a:latin typeface="Open Sans"/>
              <a:ea typeface="Open Sans"/>
              <a:cs typeface="Open Sans"/>
              <a:sym typeface="Open Sans"/>
            </a:endParaRPr>
          </a:p>
        </p:txBody>
      </p:sp>
      <p:pic>
        <p:nvPicPr>
          <p:cNvPr id="89" name="Google Shape;89;p17"/>
          <p:cNvPicPr preferRelativeResize="0"/>
          <p:nvPr/>
        </p:nvPicPr>
        <p:blipFill>
          <a:blip r:embed="rId3">
            <a:alphaModFix/>
          </a:blip>
          <a:stretch>
            <a:fillRect/>
          </a:stretch>
        </p:blipFill>
        <p:spPr>
          <a:xfrm>
            <a:off x="762000" y="2580350"/>
            <a:ext cx="2234925" cy="700400"/>
          </a:xfrm>
          <a:prstGeom prst="rect">
            <a:avLst/>
          </a:prstGeom>
          <a:noFill/>
          <a:ln>
            <a:noFill/>
          </a:ln>
        </p:spPr>
      </p:pic>
      <p:pic>
        <p:nvPicPr>
          <p:cNvPr id="90" name="Google Shape;90;p17"/>
          <p:cNvPicPr preferRelativeResize="0"/>
          <p:nvPr/>
        </p:nvPicPr>
        <p:blipFill>
          <a:blip r:embed="rId4">
            <a:alphaModFix/>
          </a:blip>
          <a:stretch>
            <a:fillRect/>
          </a:stretch>
        </p:blipFill>
        <p:spPr>
          <a:xfrm>
            <a:off x="745050" y="3494750"/>
            <a:ext cx="2234925" cy="755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a:spLocks noGrp="1"/>
          </p:cNvSpPr>
          <p:nvPr>
            <p:ph type="title"/>
          </p:nvPr>
        </p:nvSpPr>
        <p:spPr>
          <a:xfrm>
            <a:off x="370000" y="663725"/>
            <a:ext cx="86931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Varias Variables</a:t>
            </a:r>
            <a:endParaRPr/>
          </a:p>
        </p:txBody>
      </p:sp>
      <p:sp>
        <p:nvSpPr>
          <p:cNvPr id="96" name="Google Shape;96;p18"/>
          <p:cNvSpPr txBox="1"/>
          <p:nvPr/>
        </p:nvSpPr>
        <p:spPr>
          <a:xfrm>
            <a:off x="467725" y="1480025"/>
            <a:ext cx="8494200" cy="192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000" b="1">
                <a:solidFill>
                  <a:srgbClr val="1B786E"/>
                </a:solidFill>
                <a:latin typeface="Open Sans"/>
                <a:ea typeface="Open Sans"/>
                <a:cs typeface="Open Sans"/>
                <a:sym typeface="Open Sans"/>
              </a:rPr>
              <a:t>X</a:t>
            </a:r>
            <a:r>
              <a:rPr lang="es" sz="1800">
                <a:latin typeface="Open Sans"/>
                <a:ea typeface="Open Sans"/>
                <a:cs typeface="Open Sans"/>
                <a:sym typeface="Open Sans"/>
              </a:rPr>
              <a:t>:</a:t>
            </a:r>
            <a:r>
              <a:rPr lang="es" sz="1800" b="1">
                <a:solidFill>
                  <a:srgbClr val="1B786E"/>
                </a:solidFill>
                <a:latin typeface="Open Sans"/>
                <a:ea typeface="Open Sans"/>
                <a:cs typeface="Open Sans"/>
                <a:sym typeface="Open Sans"/>
              </a:rPr>
              <a:t> </a:t>
            </a:r>
            <a:r>
              <a:rPr lang="es" sz="1800">
                <a:latin typeface="Open Sans"/>
                <a:ea typeface="Open Sans"/>
                <a:cs typeface="Open Sans"/>
                <a:sym typeface="Open Sans"/>
              </a:rPr>
              <a:t>Ω⇾R</a:t>
            </a:r>
            <a:r>
              <a:rPr lang="es" sz="2000" b="1">
                <a:solidFill>
                  <a:srgbClr val="1B786E"/>
                </a:solidFill>
                <a:latin typeface="Open Sans"/>
                <a:ea typeface="Open Sans"/>
                <a:cs typeface="Open Sans"/>
                <a:sym typeface="Open Sans"/>
              </a:rPr>
              <a:t> e Y</a:t>
            </a:r>
            <a:r>
              <a:rPr lang="es" sz="1800">
                <a:latin typeface="Open Sans"/>
                <a:ea typeface="Open Sans"/>
                <a:cs typeface="Open Sans"/>
                <a:sym typeface="Open Sans"/>
              </a:rPr>
              <a:t>: Ω⇾R</a:t>
            </a:r>
            <a:r>
              <a:rPr lang="es" sz="1800" b="1">
                <a:solidFill>
                  <a:srgbClr val="1B786E"/>
                </a:solidFill>
                <a:latin typeface="Open Sans"/>
                <a:ea typeface="Open Sans"/>
                <a:cs typeface="Open Sans"/>
                <a:sym typeface="Open Sans"/>
              </a:rPr>
              <a:t> </a:t>
            </a:r>
            <a:r>
              <a:rPr lang="es" sz="2000" b="1">
                <a:solidFill>
                  <a:srgbClr val="1B786E"/>
                </a:solidFill>
                <a:latin typeface="Open Sans"/>
                <a:ea typeface="Open Sans"/>
                <a:cs typeface="Open Sans"/>
                <a:sym typeface="Open Sans"/>
              </a:rPr>
              <a:t> variables aleatorias</a:t>
            </a:r>
            <a:r>
              <a:rPr lang="es" sz="2000">
                <a:latin typeface="Open Sans"/>
                <a:ea typeface="Open Sans"/>
                <a:cs typeface="Open Sans"/>
                <a:sym typeface="Open Sans"/>
              </a:rPr>
              <a:t> con función de densidad o probabilidad conjunta </a:t>
            </a:r>
            <a:r>
              <a:rPr lang="es" sz="2000" b="1" i="1">
                <a:solidFill>
                  <a:srgbClr val="1B786E"/>
                </a:solidFill>
                <a:latin typeface="Open Sans"/>
                <a:ea typeface="Open Sans"/>
                <a:cs typeface="Open Sans"/>
                <a:sym typeface="Open Sans"/>
              </a:rPr>
              <a:t>f(x,y)</a:t>
            </a:r>
            <a:r>
              <a:rPr lang="es" sz="2000">
                <a:latin typeface="Open Sans"/>
                <a:ea typeface="Open Sans"/>
                <a:cs typeface="Open Sans"/>
                <a:sym typeface="Open Sans"/>
              </a:rPr>
              <a:t>. </a:t>
            </a:r>
            <a:endParaRPr sz="2000">
              <a:latin typeface="Open Sans"/>
              <a:ea typeface="Open Sans"/>
              <a:cs typeface="Open Sans"/>
              <a:sym typeface="Open Sans"/>
            </a:endParaRPr>
          </a:p>
          <a:p>
            <a:pPr marL="0" lvl="0" indent="0" algn="l" rtl="0">
              <a:spcBef>
                <a:spcPts val="0"/>
              </a:spcBef>
              <a:spcAft>
                <a:spcPts val="0"/>
              </a:spcAft>
              <a:buNone/>
            </a:pPr>
            <a:r>
              <a:rPr lang="es" sz="2000">
                <a:latin typeface="Open Sans"/>
                <a:ea typeface="Open Sans"/>
                <a:cs typeface="Open Sans"/>
                <a:sym typeface="Open Sans"/>
              </a:rPr>
              <a:t>Se definen las </a:t>
            </a:r>
            <a:r>
              <a:rPr lang="es" sz="2000" b="1">
                <a:solidFill>
                  <a:srgbClr val="1B786E"/>
                </a:solidFill>
                <a:latin typeface="Open Sans"/>
                <a:ea typeface="Open Sans"/>
                <a:cs typeface="Open Sans"/>
                <a:sym typeface="Open Sans"/>
              </a:rPr>
              <a:t>densidades condicionales como</a:t>
            </a:r>
            <a:r>
              <a:rPr lang="es" sz="2000">
                <a:latin typeface="Open Sans"/>
                <a:ea typeface="Open Sans"/>
                <a:cs typeface="Open Sans"/>
                <a:sym typeface="Open Sans"/>
              </a:rPr>
              <a:t>:</a:t>
            </a:r>
            <a:endParaRPr sz="2000">
              <a:latin typeface="Open Sans"/>
              <a:ea typeface="Open Sans"/>
              <a:cs typeface="Open Sans"/>
              <a:sym typeface="Open Sans"/>
            </a:endParaRPr>
          </a:p>
          <a:p>
            <a:pPr marL="0" lvl="0" indent="0" algn="l" rtl="0">
              <a:spcBef>
                <a:spcPts val="0"/>
              </a:spcBef>
              <a:spcAft>
                <a:spcPts val="0"/>
              </a:spcAft>
              <a:buNone/>
            </a:pPr>
            <a:endParaRPr sz="2000">
              <a:latin typeface="Open Sans"/>
              <a:ea typeface="Open Sans"/>
              <a:cs typeface="Open Sans"/>
              <a:sym typeface="Open Sans"/>
            </a:endParaRPr>
          </a:p>
          <a:p>
            <a:pPr marL="0" lvl="0" indent="0" algn="l" rtl="0">
              <a:spcBef>
                <a:spcPts val="0"/>
              </a:spcBef>
              <a:spcAft>
                <a:spcPts val="0"/>
              </a:spcAft>
              <a:buNone/>
            </a:pPr>
            <a:r>
              <a:rPr lang="es" sz="2000">
                <a:latin typeface="Open Sans"/>
                <a:ea typeface="Open Sans"/>
                <a:cs typeface="Open Sans"/>
                <a:sym typeface="Open Sans"/>
              </a:rPr>
              <a:t>						</a:t>
            </a:r>
            <a:endParaRPr sz="2000">
              <a:latin typeface="Open Sans"/>
              <a:ea typeface="Open Sans"/>
              <a:cs typeface="Open Sans"/>
              <a:sym typeface="Open Sans"/>
            </a:endParaRPr>
          </a:p>
          <a:p>
            <a:pPr marL="0" lvl="0" indent="0" algn="l" rtl="0">
              <a:spcBef>
                <a:spcPts val="0"/>
              </a:spcBef>
              <a:spcAft>
                <a:spcPts val="0"/>
              </a:spcAft>
              <a:buNone/>
            </a:pPr>
            <a:endParaRPr sz="2000">
              <a:latin typeface="Open Sans"/>
              <a:ea typeface="Open Sans"/>
              <a:cs typeface="Open Sans"/>
              <a:sym typeface="Open Sans"/>
            </a:endParaRPr>
          </a:p>
          <a:p>
            <a:pPr marL="0" lvl="0" indent="0" algn="l" rtl="0">
              <a:spcBef>
                <a:spcPts val="0"/>
              </a:spcBef>
              <a:spcAft>
                <a:spcPts val="0"/>
              </a:spcAft>
              <a:buNone/>
            </a:pPr>
            <a:r>
              <a:rPr lang="es" sz="2000">
                <a:latin typeface="Open Sans"/>
                <a:ea typeface="Open Sans"/>
                <a:cs typeface="Open Sans"/>
                <a:sym typeface="Open Sans"/>
              </a:rPr>
              <a:t>						</a:t>
            </a:r>
            <a:endParaRPr>
              <a:solidFill>
                <a:srgbClr val="1B786E"/>
              </a:solidFill>
              <a:latin typeface="Open Sans"/>
              <a:ea typeface="Open Sans"/>
              <a:cs typeface="Open Sans"/>
              <a:sym typeface="Open Sans"/>
            </a:endParaRPr>
          </a:p>
        </p:txBody>
      </p:sp>
      <p:pic>
        <p:nvPicPr>
          <p:cNvPr id="97" name="Google Shape;97;p18"/>
          <p:cNvPicPr preferRelativeResize="0"/>
          <p:nvPr/>
        </p:nvPicPr>
        <p:blipFill>
          <a:blip r:embed="rId3">
            <a:alphaModFix/>
          </a:blip>
          <a:stretch>
            <a:fillRect/>
          </a:stretch>
        </p:blipFill>
        <p:spPr>
          <a:xfrm>
            <a:off x="1481500" y="2879900"/>
            <a:ext cx="3820650" cy="687175"/>
          </a:xfrm>
          <a:prstGeom prst="rect">
            <a:avLst/>
          </a:prstGeom>
          <a:noFill/>
          <a:ln>
            <a:noFill/>
          </a:ln>
        </p:spPr>
      </p:pic>
      <p:pic>
        <p:nvPicPr>
          <p:cNvPr id="98" name="Google Shape;98;p18"/>
          <p:cNvPicPr preferRelativeResize="0"/>
          <p:nvPr/>
        </p:nvPicPr>
        <p:blipFill>
          <a:blip r:embed="rId4">
            <a:alphaModFix/>
          </a:blip>
          <a:stretch>
            <a:fillRect/>
          </a:stretch>
        </p:blipFill>
        <p:spPr>
          <a:xfrm>
            <a:off x="1468100" y="4013700"/>
            <a:ext cx="3820650" cy="687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9"/>
          <p:cNvSpPr txBox="1">
            <a:spLocks noGrp="1"/>
          </p:cNvSpPr>
          <p:nvPr>
            <p:ph type="title"/>
          </p:nvPr>
        </p:nvSpPr>
        <p:spPr>
          <a:xfrm>
            <a:off x="311700" y="316800"/>
            <a:ext cx="33906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Percentiles</a:t>
            </a:r>
            <a:endParaRPr/>
          </a:p>
        </p:txBody>
      </p:sp>
      <p:sp>
        <p:nvSpPr>
          <p:cNvPr id="104" name="Google Shape;104;p19"/>
          <p:cNvSpPr txBox="1">
            <a:spLocks noGrp="1"/>
          </p:cNvSpPr>
          <p:nvPr>
            <p:ph type="body" idx="1"/>
          </p:nvPr>
        </p:nvSpPr>
        <p:spPr>
          <a:xfrm>
            <a:off x="323650" y="1531800"/>
            <a:ext cx="8520600" cy="2115300"/>
          </a:xfrm>
          <a:prstGeom prst="rect">
            <a:avLst/>
          </a:prstGeom>
        </p:spPr>
        <p:txBody>
          <a:bodyPr spcFirstLastPara="1" wrap="square" lIns="91425" tIns="91425" rIns="91425" bIns="91425" anchor="t" anchorCtr="0">
            <a:noAutofit/>
          </a:bodyPr>
          <a:lstStyle/>
          <a:p>
            <a:pPr marL="0" lvl="0" indent="0" algn="l" rtl="0">
              <a:spcBef>
                <a:spcPts val="0"/>
              </a:spcBef>
              <a:spcAft>
                <a:spcPts val="1400"/>
              </a:spcAft>
              <a:buNone/>
            </a:pPr>
            <a:r>
              <a:rPr lang="es" sz="1800"/>
              <a:t>Los percentiles de crecimiento son percentiles de distribuciones condicionadas por edad. Ver: el siguiente  </a:t>
            </a:r>
            <a:r>
              <a:rPr lang="es" sz="1800" u="sng">
                <a:solidFill>
                  <a:schemeClr val="hlink"/>
                </a:solidFill>
                <a:hlinkClick r:id="rId3"/>
              </a:rPr>
              <a:t>link curvas de crecimiento </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370000" y="663725"/>
            <a:ext cx="86931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Varias Variables: propiedades</a:t>
            </a:r>
            <a:endParaRPr/>
          </a:p>
        </p:txBody>
      </p:sp>
      <p:sp>
        <p:nvSpPr>
          <p:cNvPr id="110" name="Google Shape;110;p20"/>
          <p:cNvSpPr txBox="1"/>
          <p:nvPr/>
        </p:nvSpPr>
        <p:spPr>
          <a:xfrm>
            <a:off x="467725" y="1480025"/>
            <a:ext cx="8494200" cy="192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000" b="1">
                <a:solidFill>
                  <a:srgbClr val="1B786E"/>
                </a:solidFill>
                <a:latin typeface="Open Sans"/>
                <a:ea typeface="Open Sans"/>
                <a:cs typeface="Open Sans"/>
                <a:sym typeface="Open Sans"/>
              </a:rPr>
              <a:t>X</a:t>
            </a:r>
            <a:r>
              <a:rPr lang="es" sz="1800">
                <a:latin typeface="Open Sans"/>
                <a:ea typeface="Open Sans"/>
                <a:cs typeface="Open Sans"/>
                <a:sym typeface="Open Sans"/>
              </a:rPr>
              <a:t>:</a:t>
            </a:r>
            <a:r>
              <a:rPr lang="es" sz="1800" b="1">
                <a:solidFill>
                  <a:srgbClr val="1B786E"/>
                </a:solidFill>
                <a:latin typeface="Open Sans"/>
                <a:ea typeface="Open Sans"/>
                <a:cs typeface="Open Sans"/>
                <a:sym typeface="Open Sans"/>
              </a:rPr>
              <a:t> </a:t>
            </a:r>
            <a:r>
              <a:rPr lang="es" sz="1800">
                <a:latin typeface="Open Sans"/>
                <a:ea typeface="Open Sans"/>
                <a:cs typeface="Open Sans"/>
                <a:sym typeface="Open Sans"/>
              </a:rPr>
              <a:t>Ω⇾R</a:t>
            </a:r>
            <a:r>
              <a:rPr lang="es" sz="2000" b="1">
                <a:solidFill>
                  <a:srgbClr val="1B786E"/>
                </a:solidFill>
                <a:latin typeface="Open Sans"/>
                <a:ea typeface="Open Sans"/>
                <a:cs typeface="Open Sans"/>
                <a:sym typeface="Open Sans"/>
              </a:rPr>
              <a:t> e Y</a:t>
            </a:r>
            <a:r>
              <a:rPr lang="es" sz="1800">
                <a:latin typeface="Open Sans"/>
                <a:ea typeface="Open Sans"/>
                <a:cs typeface="Open Sans"/>
                <a:sym typeface="Open Sans"/>
              </a:rPr>
              <a:t>: Ω⇾R</a:t>
            </a:r>
            <a:r>
              <a:rPr lang="es" sz="1800" b="1">
                <a:solidFill>
                  <a:srgbClr val="1B786E"/>
                </a:solidFill>
                <a:latin typeface="Open Sans"/>
                <a:ea typeface="Open Sans"/>
                <a:cs typeface="Open Sans"/>
                <a:sym typeface="Open Sans"/>
              </a:rPr>
              <a:t> </a:t>
            </a:r>
            <a:r>
              <a:rPr lang="es" sz="2000" b="1">
                <a:solidFill>
                  <a:srgbClr val="1B786E"/>
                </a:solidFill>
                <a:latin typeface="Open Sans"/>
                <a:ea typeface="Open Sans"/>
                <a:cs typeface="Open Sans"/>
                <a:sym typeface="Open Sans"/>
              </a:rPr>
              <a:t> variables aleatorias</a:t>
            </a:r>
            <a:r>
              <a:rPr lang="es" sz="2000">
                <a:latin typeface="Open Sans"/>
                <a:ea typeface="Open Sans"/>
                <a:cs typeface="Open Sans"/>
                <a:sym typeface="Open Sans"/>
              </a:rPr>
              <a:t> </a:t>
            </a:r>
            <a:endParaRPr sz="2000">
              <a:latin typeface="Open Sans"/>
              <a:ea typeface="Open Sans"/>
              <a:cs typeface="Open Sans"/>
              <a:sym typeface="Open Sans"/>
            </a:endParaRPr>
          </a:p>
          <a:p>
            <a:pPr marL="0" lvl="0" indent="0" algn="l" rtl="0">
              <a:spcBef>
                <a:spcPts val="0"/>
              </a:spcBef>
              <a:spcAft>
                <a:spcPts val="0"/>
              </a:spcAft>
              <a:buNone/>
            </a:pPr>
            <a:endParaRPr sz="2000">
              <a:latin typeface="Open Sans"/>
              <a:ea typeface="Open Sans"/>
              <a:cs typeface="Open Sans"/>
              <a:sym typeface="Open Sans"/>
            </a:endParaRPr>
          </a:p>
          <a:p>
            <a:pPr marL="0" lvl="0" indent="0" algn="l" rtl="0">
              <a:spcBef>
                <a:spcPts val="0"/>
              </a:spcBef>
              <a:spcAft>
                <a:spcPts val="0"/>
              </a:spcAft>
              <a:buNone/>
            </a:pPr>
            <a:r>
              <a:rPr lang="es" sz="1800">
                <a:solidFill>
                  <a:srgbClr val="666666"/>
                </a:solidFill>
                <a:latin typeface="Open Sans"/>
                <a:ea typeface="Open Sans"/>
                <a:cs typeface="Open Sans"/>
                <a:sym typeface="Open Sans"/>
              </a:rPr>
              <a:t>Se pueden combinar v.a. numéricas.</a:t>
            </a:r>
            <a:endParaRPr sz="1800">
              <a:solidFill>
                <a:srgbClr val="666666"/>
              </a:solidFill>
              <a:latin typeface="Open Sans"/>
              <a:ea typeface="Open Sans"/>
              <a:cs typeface="Open Sans"/>
              <a:sym typeface="Open Sans"/>
            </a:endParaRPr>
          </a:p>
          <a:p>
            <a:pPr marL="0" lvl="0" indent="0" algn="l" rtl="0">
              <a:spcBef>
                <a:spcPts val="0"/>
              </a:spcBef>
              <a:spcAft>
                <a:spcPts val="0"/>
              </a:spcAft>
              <a:buNone/>
            </a:pPr>
            <a:r>
              <a:rPr lang="es" sz="1800">
                <a:solidFill>
                  <a:srgbClr val="666666"/>
                </a:solidFill>
                <a:latin typeface="Open Sans"/>
                <a:ea typeface="Open Sans"/>
                <a:cs typeface="Open Sans"/>
                <a:sym typeface="Open Sans"/>
              </a:rPr>
              <a:t>Por ejemplo, se puede definir la v.a. suma:</a:t>
            </a:r>
            <a:endParaRPr sz="1800">
              <a:solidFill>
                <a:srgbClr val="666666"/>
              </a:solidFill>
              <a:latin typeface="Open Sans"/>
              <a:ea typeface="Open Sans"/>
              <a:cs typeface="Open Sans"/>
              <a:sym typeface="Open Sans"/>
            </a:endParaRPr>
          </a:p>
          <a:p>
            <a:pPr marL="0" lvl="0" indent="0" algn="l" rtl="0">
              <a:spcBef>
                <a:spcPts val="0"/>
              </a:spcBef>
              <a:spcAft>
                <a:spcPts val="0"/>
              </a:spcAft>
              <a:buNone/>
            </a:pPr>
            <a:r>
              <a:rPr lang="es" sz="2000">
                <a:latin typeface="Open Sans"/>
                <a:ea typeface="Open Sans"/>
                <a:cs typeface="Open Sans"/>
                <a:sym typeface="Open Sans"/>
              </a:rPr>
              <a:t> X+Y: </a:t>
            </a:r>
            <a:r>
              <a:rPr lang="es" sz="1800">
                <a:solidFill>
                  <a:schemeClr val="dk1"/>
                </a:solidFill>
                <a:latin typeface="Open Sans"/>
                <a:ea typeface="Open Sans"/>
                <a:cs typeface="Open Sans"/>
                <a:sym typeface="Open Sans"/>
              </a:rPr>
              <a:t>Ω⇾R </a:t>
            </a:r>
            <a:r>
              <a:rPr lang="es" sz="2000">
                <a:latin typeface="Open Sans"/>
                <a:ea typeface="Open Sans"/>
                <a:cs typeface="Open Sans"/>
                <a:sym typeface="Open Sans"/>
              </a:rPr>
              <a:t>es una nueva v.a.  (X+Y)(ω)=</a:t>
            </a:r>
            <a:r>
              <a:rPr lang="es" sz="2000">
                <a:solidFill>
                  <a:schemeClr val="dk1"/>
                </a:solidFill>
                <a:latin typeface="Open Sans"/>
                <a:ea typeface="Open Sans"/>
                <a:cs typeface="Open Sans"/>
                <a:sym typeface="Open Sans"/>
              </a:rPr>
              <a:t>X(ω)+Y(ω) p/c/ ω∊</a:t>
            </a:r>
            <a:r>
              <a:rPr lang="es" sz="1800">
                <a:solidFill>
                  <a:schemeClr val="dk1"/>
                </a:solidFill>
                <a:latin typeface="Open Sans"/>
                <a:ea typeface="Open Sans"/>
                <a:cs typeface="Open Sans"/>
                <a:sym typeface="Open Sans"/>
              </a:rPr>
              <a:t>Ω. </a:t>
            </a:r>
            <a:endParaRPr sz="1800">
              <a:solidFill>
                <a:schemeClr val="dk1"/>
              </a:solidFill>
              <a:latin typeface="Open Sans"/>
              <a:ea typeface="Open Sans"/>
              <a:cs typeface="Open Sans"/>
              <a:sym typeface="Open Sans"/>
            </a:endParaRPr>
          </a:p>
          <a:p>
            <a:pPr marL="0" lvl="0" indent="0" algn="l" rtl="0">
              <a:spcBef>
                <a:spcPts val="0"/>
              </a:spcBef>
              <a:spcAft>
                <a:spcPts val="0"/>
              </a:spcAft>
              <a:buNone/>
            </a:pPr>
            <a:r>
              <a:rPr lang="es" sz="1800">
                <a:solidFill>
                  <a:srgbClr val="666666"/>
                </a:solidFill>
                <a:latin typeface="Open Sans"/>
                <a:ea typeface="Open Sans"/>
                <a:cs typeface="Open Sans"/>
                <a:sym typeface="Open Sans"/>
              </a:rPr>
              <a:t>Y así con cualquier combinación de dos o más variables. </a:t>
            </a:r>
            <a:endParaRPr sz="1800">
              <a:solidFill>
                <a:srgbClr val="666666"/>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r>
              <a:rPr lang="es" sz="2000">
                <a:solidFill>
                  <a:schemeClr val="dk1"/>
                </a:solidFill>
                <a:latin typeface="Open Sans"/>
                <a:ea typeface="Open Sans"/>
                <a:cs typeface="Open Sans"/>
                <a:sym typeface="Open Sans"/>
              </a:rPr>
              <a:t>X-Y, X/Y</a:t>
            </a:r>
            <a:r>
              <a:rPr lang="es" sz="2000" baseline="30000">
                <a:solidFill>
                  <a:schemeClr val="dk1"/>
                </a:solidFill>
                <a:latin typeface="Open Sans"/>
                <a:ea typeface="Open Sans"/>
                <a:cs typeface="Open Sans"/>
                <a:sym typeface="Open Sans"/>
              </a:rPr>
              <a:t>2</a:t>
            </a:r>
            <a:r>
              <a:rPr lang="es" sz="2000">
                <a:solidFill>
                  <a:schemeClr val="dk1"/>
                </a:solidFill>
                <a:latin typeface="Open Sans"/>
                <a:ea typeface="Open Sans"/>
                <a:cs typeface="Open Sans"/>
                <a:sym typeface="Open Sans"/>
              </a:rPr>
              <a:t>, log(X.Y), etc.</a:t>
            </a:r>
            <a:endParaRPr sz="1800">
              <a:solidFill>
                <a:srgbClr val="666666"/>
              </a:solidFill>
              <a:latin typeface="Open Sans"/>
              <a:ea typeface="Open Sans"/>
              <a:cs typeface="Open Sans"/>
              <a:sym typeface="Open Sans"/>
            </a:endParaRPr>
          </a:p>
          <a:p>
            <a:pPr marL="0" lvl="0" indent="0" algn="l" rtl="0">
              <a:spcBef>
                <a:spcPts val="0"/>
              </a:spcBef>
              <a:spcAft>
                <a:spcPts val="0"/>
              </a:spcAft>
              <a:buNone/>
            </a:pPr>
            <a:r>
              <a:rPr lang="es" sz="1800">
                <a:solidFill>
                  <a:schemeClr val="dk1"/>
                </a:solidFill>
                <a:latin typeface="Open Sans"/>
                <a:ea typeface="Open Sans"/>
                <a:cs typeface="Open Sans"/>
                <a:sym typeface="Open Sans"/>
              </a:rPr>
              <a:t>se cumple que: </a:t>
            </a:r>
            <a:endParaRPr sz="1800">
              <a:solidFill>
                <a:schemeClr val="dk1"/>
              </a:solidFill>
              <a:latin typeface="Open Sans"/>
              <a:ea typeface="Open Sans"/>
              <a:cs typeface="Open Sans"/>
              <a:sym typeface="Open Sans"/>
            </a:endParaRPr>
          </a:p>
          <a:p>
            <a:pPr marL="457200" lvl="0" indent="0" algn="just" rtl="0">
              <a:spcBef>
                <a:spcPts val="0"/>
              </a:spcBef>
              <a:spcAft>
                <a:spcPts val="0"/>
              </a:spcAft>
              <a:buNone/>
            </a:pPr>
            <a:endParaRPr sz="1800">
              <a:solidFill>
                <a:schemeClr val="dk1"/>
              </a:solidFill>
              <a:latin typeface="Open Sans"/>
              <a:ea typeface="Open Sans"/>
              <a:cs typeface="Open Sans"/>
              <a:sym typeface="Open Sans"/>
            </a:endParaRPr>
          </a:p>
          <a:p>
            <a:pPr marL="457200" lvl="0" indent="-342900" algn="just" rtl="0">
              <a:spcBef>
                <a:spcPts val="0"/>
              </a:spcBef>
              <a:spcAft>
                <a:spcPts val="0"/>
              </a:spcAft>
              <a:buClr>
                <a:schemeClr val="dk1"/>
              </a:buClr>
              <a:buSzPts val="1800"/>
              <a:buFont typeface="Open Sans"/>
              <a:buChar char="●"/>
            </a:pPr>
            <a:r>
              <a:rPr lang="es" sz="1800">
                <a:solidFill>
                  <a:schemeClr val="dk1"/>
                </a:solidFill>
                <a:latin typeface="Open Sans"/>
                <a:ea typeface="Open Sans"/>
                <a:cs typeface="Open Sans"/>
                <a:sym typeface="Open Sans"/>
              </a:rPr>
              <a:t>E(X+Y)=E(X)+E(Y),  E(X-Y)=E(X)-E(Y), </a:t>
            </a:r>
            <a:r>
              <a:rPr lang="es" sz="1800">
                <a:solidFill>
                  <a:srgbClr val="666666"/>
                </a:solidFill>
                <a:latin typeface="Open Sans"/>
                <a:ea typeface="Open Sans"/>
                <a:cs typeface="Open Sans"/>
                <a:sym typeface="Open Sans"/>
              </a:rPr>
              <a:t>(media de la suma…, media de la resta..)</a:t>
            </a:r>
            <a:endParaRPr sz="1800">
              <a:solidFill>
                <a:srgbClr val="666666"/>
              </a:solidFill>
              <a:latin typeface="Open Sans"/>
              <a:ea typeface="Open Sans"/>
              <a:cs typeface="Open Sans"/>
              <a:sym typeface="Open Sans"/>
            </a:endParaRPr>
          </a:p>
          <a:p>
            <a:pPr marL="457200" lvl="0" indent="0" algn="just" rtl="0">
              <a:spcBef>
                <a:spcPts val="0"/>
              </a:spcBef>
              <a:spcAft>
                <a:spcPts val="0"/>
              </a:spcAft>
              <a:buNone/>
            </a:pPr>
            <a:endParaRPr sz="1800">
              <a:solidFill>
                <a:schemeClr val="dk1"/>
              </a:solidFill>
              <a:latin typeface="Open Sans"/>
              <a:ea typeface="Open Sans"/>
              <a:cs typeface="Open Sans"/>
              <a:sym typeface="Open Sans"/>
            </a:endParaRPr>
          </a:p>
          <a:p>
            <a:pPr marL="457200" lvl="0" indent="-342900" algn="just" rtl="0">
              <a:spcBef>
                <a:spcPts val="0"/>
              </a:spcBef>
              <a:spcAft>
                <a:spcPts val="0"/>
              </a:spcAft>
              <a:buClr>
                <a:schemeClr val="dk1"/>
              </a:buClr>
              <a:buSzPts val="1800"/>
              <a:buFont typeface="Open Sans"/>
              <a:buChar char="●"/>
            </a:pPr>
            <a:r>
              <a:rPr lang="es" sz="1800">
                <a:solidFill>
                  <a:schemeClr val="dk1"/>
                </a:solidFill>
                <a:latin typeface="Open Sans"/>
                <a:ea typeface="Open Sans"/>
                <a:cs typeface="Open Sans"/>
                <a:sym typeface="Open Sans"/>
              </a:rPr>
              <a:t>Var(X+Y)=Var(X)+Vay(Y)</a:t>
            </a:r>
            <a:r>
              <a:rPr lang="es" sz="1800">
                <a:solidFill>
                  <a:schemeClr val="dk1"/>
                </a:solidFill>
                <a:highlight>
                  <a:srgbClr val="FFE599"/>
                </a:highlight>
                <a:latin typeface="Open Sans"/>
                <a:ea typeface="Open Sans"/>
                <a:cs typeface="Open Sans"/>
                <a:sym typeface="Open Sans"/>
              </a:rPr>
              <a:t>-Cov(X,Y)</a:t>
            </a:r>
            <a:r>
              <a:rPr lang="es" sz="1800">
                <a:latin typeface="Open Sans"/>
                <a:ea typeface="Open Sans"/>
                <a:cs typeface="Open Sans"/>
                <a:sym typeface="Open Sans"/>
              </a:rPr>
              <a:t>.  </a:t>
            </a:r>
            <a:endParaRPr sz="1800">
              <a:latin typeface="Open Sans"/>
              <a:ea typeface="Open Sans"/>
              <a:cs typeface="Open Sans"/>
              <a:sym typeface="Open Sans"/>
            </a:endParaRPr>
          </a:p>
          <a:p>
            <a:pPr marL="0" lvl="0" indent="0" algn="r" rtl="0">
              <a:spcBef>
                <a:spcPts val="0"/>
              </a:spcBef>
              <a:spcAft>
                <a:spcPts val="0"/>
              </a:spcAft>
              <a:buNone/>
            </a:pPr>
            <a:endParaRPr>
              <a:solidFill>
                <a:srgbClr val="1B786E"/>
              </a:solidFill>
              <a:latin typeface="Open Sans"/>
              <a:ea typeface="Open Sans"/>
              <a:cs typeface="Open Sans"/>
              <a:sym typeface="Open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1"/>
          <p:cNvSpPr txBox="1">
            <a:spLocks noGrp="1"/>
          </p:cNvSpPr>
          <p:nvPr>
            <p:ph type="title"/>
          </p:nvPr>
        </p:nvSpPr>
        <p:spPr>
          <a:xfrm>
            <a:off x="370000" y="587525"/>
            <a:ext cx="86931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Varias Variables, numéricas</a:t>
            </a:r>
            <a:endParaRPr/>
          </a:p>
        </p:txBody>
      </p:sp>
      <p:sp>
        <p:nvSpPr>
          <p:cNvPr id="116" name="Google Shape;116;p21"/>
          <p:cNvSpPr txBox="1"/>
          <p:nvPr/>
        </p:nvSpPr>
        <p:spPr>
          <a:xfrm>
            <a:off x="467725" y="1480025"/>
            <a:ext cx="8494200" cy="138890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000" b="1" dirty="0">
                <a:solidFill>
                  <a:srgbClr val="1B786E"/>
                </a:solidFill>
                <a:latin typeface="Open Sans"/>
                <a:ea typeface="Open Sans"/>
                <a:cs typeface="Open Sans"/>
                <a:sym typeface="Open Sans"/>
              </a:rPr>
              <a:t>X</a:t>
            </a:r>
            <a:r>
              <a:rPr lang="es" sz="2000" dirty="0">
                <a:latin typeface="Open Sans"/>
                <a:ea typeface="Open Sans"/>
                <a:cs typeface="Open Sans"/>
                <a:sym typeface="Open Sans"/>
              </a:rPr>
              <a:t>:</a:t>
            </a:r>
            <a:r>
              <a:rPr lang="es" sz="2000" b="1" dirty="0">
                <a:solidFill>
                  <a:srgbClr val="1B786E"/>
                </a:solidFill>
                <a:latin typeface="Open Sans"/>
                <a:ea typeface="Open Sans"/>
                <a:cs typeface="Open Sans"/>
                <a:sym typeface="Open Sans"/>
              </a:rPr>
              <a:t> </a:t>
            </a:r>
            <a:r>
              <a:rPr lang="es" sz="2000" dirty="0">
                <a:latin typeface="Open Sans"/>
                <a:ea typeface="Open Sans"/>
                <a:cs typeface="Open Sans"/>
                <a:sym typeface="Open Sans"/>
              </a:rPr>
              <a:t>Ω⇾R</a:t>
            </a:r>
            <a:r>
              <a:rPr lang="es" sz="2000" b="1" dirty="0">
                <a:solidFill>
                  <a:srgbClr val="1B786E"/>
                </a:solidFill>
                <a:latin typeface="Open Sans"/>
                <a:ea typeface="Open Sans"/>
                <a:cs typeface="Open Sans"/>
                <a:sym typeface="Open Sans"/>
              </a:rPr>
              <a:t> e Y</a:t>
            </a:r>
            <a:r>
              <a:rPr lang="es" sz="2000" dirty="0">
                <a:latin typeface="Open Sans"/>
                <a:ea typeface="Open Sans"/>
                <a:cs typeface="Open Sans"/>
                <a:sym typeface="Open Sans"/>
              </a:rPr>
              <a:t>: Ω⇾R</a:t>
            </a:r>
            <a:r>
              <a:rPr lang="es" sz="2000" b="1" dirty="0">
                <a:solidFill>
                  <a:srgbClr val="1B786E"/>
                </a:solidFill>
                <a:latin typeface="Open Sans"/>
                <a:ea typeface="Open Sans"/>
                <a:cs typeface="Open Sans"/>
                <a:sym typeface="Open Sans"/>
              </a:rPr>
              <a:t>  variables aleatorias</a:t>
            </a:r>
            <a:r>
              <a:rPr lang="es" sz="2000" dirty="0">
                <a:latin typeface="Open Sans"/>
                <a:ea typeface="Open Sans"/>
                <a:cs typeface="Open Sans"/>
                <a:sym typeface="Open Sans"/>
              </a:rPr>
              <a:t> </a:t>
            </a:r>
            <a:endParaRPr sz="2000" dirty="0">
              <a:latin typeface="Open Sans"/>
              <a:ea typeface="Open Sans"/>
              <a:cs typeface="Open Sans"/>
              <a:sym typeface="Open Sans"/>
            </a:endParaRPr>
          </a:p>
          <a:p>
            <a:pPr marL="0" lvl="0" indent="0" algn="l" rtl="0">
              <a:spcBef>
                <a:spcPts val="0"/>
              </a:spcBef>
              <a:spcAft>
                <a:spcPts val="0"/>
              </a:spcAft>
              <a:buNone/>
            </a:pPr>
            <a:endParaRPr sz="2000" dirty="0">
              <a:latin typeface="Open Sans"/>
              <a:ea typeface="Open Sans"/>
              <a:cs typeface="Open Sans"/>
              <a:sym typeface="Open Sans"/>
            </a:endParaRPr>
          </a:p>
          <a:p>
            <a:pPr marL="0" lvl="0" indent="0" algn="l" rtl="0">
              <a:spcBef>
                <a:spcPts val="0"/>
              </a:spcBef>
              <a:spcAft>
                <a:spcPts val="0"/>
              </a:spcAft>
              <a:buNone/>
            </a:pPr>
            <a:r>
              <a:rPr lang="es" sz="2000" dirty="0">
                <a:latin typeface="Open Sans"/>
                <a:ea typeface="Open Sans"/>
                <a:cs typeface="Open Sans"/>
                <a:sym typeface="Open Sans"/>
              </a:rPr>
              <a:t>Se define la</a:t>
            </a:r>
            <a:r>
              <a:rPr lang="es" sz="2000" b="1" dirty="0">
                <a:solidFill>
                  <a:srgbClr val="1B786E"/>
                </a:solidFill>
                <a:latin typeface="Open Sans"/>
                <a:ea typeface="Open Sans"/>
                <a:cs typeface="Open Sans"/>
                <a:sym typeface="Open Sans"/>
              </a:rPr>
              <a:t> Covarianza </a:t>
            </a:r>
            <a:r>
              <a:rPr lang="es" sz="2000" dirty="0">
                <a:latin typeface="Open Sans"/>
                <a:ea typeface="Open Sans"/>
                <a:cs typeface="Open Sans"/>
                <a:sym typeface="Open Sans"/>
              </a:rPr>
              <a:t>y el </a:t>
            </a:r>
            <a:r>
              <a:rPr lang="es" sz="2000" b="1" dirty="0">
                <a:solidFill>
                  <a:srgbClr val="1B786E"/>
                </a:solidFill>
                <a:latin typeface="Open Sans"/>
                <a:ea typeface="Open Sans"/>
                <a:cs typeface="Open Sans"/>
                <a:sym typeface="Open Sans"/>
              </a:rPr>
              <a:t>Coeficiente de Correlación</a:t>
            </a:r>
            <a:r>
              <a:rPr lang="es" sz="2000" dirty="0">
                <a:latin typeface="Open Sans"/>
                <a:ea typeface="Open Sans"/>
                <a:cs typeface="Open Sans"/>
                <a:sym typeface="Open Sans"/>
              </a:rPr>
              <a:t> entre ellas como:</a:t>
            </a:r>
            <a:endParaRPr sz="2000" dirty="0">
              <a:latin typeface="Open Sans"/>
              <a:ea typeface="Open Sans"/>
              <a:cs typeface="Open Sans"/>
              <a:sym typeface="Open Sans"/>
            </a:endParaRPr>
          </a:p>
          <a:p>
            <a:pPr marL="457200" lvl="0" indent="0" algn="just" rtl="0">
              <a:spcBef>
                <a:spcPts val="0"/>
              </a:spcBef>
              <a:spcAft>
                <a:spcPts val="0"/>
              </a:spcAft>
              <a:buNone/>
            </a:pPr>
            <a:endParaRPr sz="2000" dirty="0">
              <a:solidFill>
                <a:schemeClr val="dk1"/>
              </a:solidFill>
              <a:latin typeface="Open Sans"/>
              <a:ea typeface="Open Sans"/>
              <a:cs typeface="Open Sans"/>
              <a:sym typeface="Open Sans"/>
            </a:endParaRPr>
          </a:p>
          <a:p>
            <a:pPr marL="457200" lvl="0" indent="0" algn="just" rtl="0">
              <a:spcBef>
                <a:spcPts val="0"/>
              </a:spcBef>
              <a:spcAft>
                <a:spcPts val="0"/>
              </a:spcAft>
              <a:buNone/>
            </a:pPr>
            <a:r>
              <a:rPr lang="es" sz="2000" dirty="0">
                <a:latin typeface="Open Sans"/>
                <a:ea typeface="Open Sans"/>
                <a:cs typeface="Open Sans"/>
                <a:sym typeface="Open Sans"/>
              </a:rPr>
              <a:t>Cov (X,Y)=E{(X-μ</a:t>
            </a:r>
            <a:r>
              <a:rPr lang="es" sz="2000" baseline="-25000" dirty="0">
                <a:latin typeface="Open Sans"/>
                <a:ea typeface="Open Sans"/>
                <a:cs typeface="Open Sans"/>
                <a:sym typeface="Open Sans"/>
              </a:rPr>
              <a:t>X</a:t>
            </a:r>
            <a:r>
              <a:rPr lang="es" sz="2000" dirty="0">
                <a:latin typeface="Open Sans"/>
                <a:ea typeface="Open Sans"/>
                <a:cs typeface="Open Sans"/>
                <a:sym typeface="Open Sans"/>
              </a:rPr>
              <a:t>)(Y-μ</a:t>
            </a:r>
            <a:r>
              <a:rPr lang="es" sz="2000" baseline="-25000" dirty="0">
                <a:latin typeface="Open Sans"/>
                <a:ea typeface="Open Sans"/>
                <a:cs typeface="Open Sans"/>
                <a:sym typeface="Open Sans"/>
              </a:rPr>
              <a:t>Y</a:t>
            </a:r>
            <a:r>
              <a:rPr lang="es" sz="2000" dirty="0">
                <a:latin typeface="Open Sans"/>
                <a:ea typeface="Open Sans"/>
                <a:cs typeface="Open Sans"/>
                <a:sym typeface="Open Sans"/>
              </a:rPr>
              <a:t>)}, para  </a:t>
            </a:r>
            <a:r>
              <a:rPr lang="es" sz="2000" dirty="0">
                <a:solidFill>
                  <a:schemeClr val="dk1"/>
                </a:solidFill>
                <a:latin typeface="Open Sans"/>
                <a:ea typeface="Open Sans"/>
                <a:cs typeface="Open Sans"/>
                <a:sym typeface="Open Sans"/>
              </a:rPr>
              <a:t>μ</a:t>
            </a:r>
            <a:r>
              <a:rPr lang="es" sz="2000" baseline="-25000" dirty="0">
                <a:solidFill>
                  <a:schemeClr val="dk1"/>
                </a:solidFill>
                <a:latin typeface="Open Sans"/>
                <a:ea typeface="Open Sans"/>
                <a:cs typeface="Open Sans"/>
                <a:sym typeface="Open Sans"/>
              </a:rPr>
              <a:t>X</a:t>
            </a:r>
            <a:r>
              <a:rPr lang="es" sz="2000" dirty="0">
                <a:latin typeface="Open Sans"/>
                <a:ea typeface="Open Sans"/>
                <a:cs typeface="Open Sans"/>
                <a:sym typeface="Open Sans"/>
              </a:rPr>
              <a:t>=E(X) y </a:t>
            </a:r>
            <a:r>
              <a:rPr lang="es" sz="2000" dirty="0">
                <a:solidFill>
                  <a:schemeClr val="dk1"/>
                </a:solidFill>
                <a:latin typeface="Open Sans"/>
                <a:ea typeface="Open Sans"/>
                <a:cs typeface="Open Sans"/>
                <a:sym typeface="Open Sans"/>
              </a:rPr>
              <a:t>μ</a:t>
            </a:r>
            <a:r>
              <a:rPr lang="es" sz="2000" baseline="-25000" dirty="0">
                <a:solidFill>
                  <a:schemeClr val="dk1"/>
                </a:solidFill>
                <a:latin typeface="Open Sans"/>
                <a:ea typeface="Open Sans"/>
                <a:cs typeface="Open Sans"/>
                <a:sym typeface="Open Sans"/>
              </a:rPr>
              <a:t>Y</a:t>
            </a:r>
            <a:r>
              <a:rPr lang="es" sz="2000" dirty="0">
                <a:latin typeface="Open Sans"/>
                <a:ea typeface="Open Sans"/>
                <a:cs typeface="Open Sans"/>
                <a:sym typeface="Open Sans"/>
              </a:rPr>
              <a:t>=E(Y) . </a:t>
            </a:r>
            <a:endParaRPr sz="2000" dirty="0">
              <a:latin typeface="Open Sans"/>
              <a:ea typeface="Open Sans"/>
              <a:cs typeface="Open Sans"/>
              <a:sym typeface="Open Sans"/>
            </a:endParaRPr>
          </a:p>
          <a:p>
            <a:pPr marL="0" lvl="0" indent="0" algn="just" rtl="0">
              <a:spcBef>
                <a:spcPts val="0"/>
              </a:spcBef>
              <a:spcAft>
                <a:spcPts val="0"/>
              </a:spcAft>
              <a:buNone/>
            </a:pPr>
            <a:r>
              <a:rPr lang="es" sz="2000" dirty="0">
                <a:latin typeface="Open Sans"/>
                <a:ea typeface="Open Sans"/>
                <a:cs typeface="Open Sans"/>
                <a:sym typeface="Open Sans"/>
              </a:rPr>
              <a:t>										 ,  p/ σ</a:t>
            </a:r>
            <a:r>
              <a:rPr lang="es" sz="2000" baseline="-25000" dirty="0">
                <a:latin typeface="Open Sans"/>
                <a:ea typeface="Open Sans"/>
                <a:cs typeface="Open Sans"/>
                <a:sym typeface="Open Sans"/>
              </a:rPr>
              <a:t>1</a:t>
            </a:r>
            <a:r>
              <a:rPr lang="es" sz="2000" baseline="30000" dirty="0">
                <a:latin typeface="Open Sans"/>
                <a:ea typeface="Open Sans"/>
                <a:cs typeface="Open Sans"/>
                <a:sym typeface="Open Sans"/>
              </a:rPr>
              <a:t>2</a:t>
            </a:r>
            <a:r>
              <a:rPr lang="es" sz="2000" dirty="0">
                <a:latin typeface="Open Sans"/>
                <a:ea typeface="Open Sans"/>
                <a:cs typeface="Open Sans"/>
                <a:sym typeface="Open Sans"/>
              </a:rPr>
              <a:t>=Var(X) y </a:t>
            </a:r>
            <a:r>
              <a:rPr lang="es" sz="2000" dirty="0">
                <a:solidFill>
                  <a:schemeClr val="dk1"/>
                </a:solidFill>
                <a:latin typeface="Open Sans"/>
                <a:ea typeface="Open Sans"/>
                <a:cs typeface="Open Sans"/>
                <a:sym typeface="Open Sans"/>
              </a:rPr>
              <a:t>σ</a:t>
            </a:r>
            <a:r>
              <a:rPr lang="es" sz="2000" baseline="-25000" dirty="0">
                <a:solidFill>
                  <a:schemeClr val="dk1"/>
                </a:solidFill>
                <a:latin typeface="Open Sans"/>
                <a:ea typeface="Open Sans"/>
                <a:cs typeface="Open Sans"/>
                <a:sym typeface="Open Sans"/>
              </a:rPr>
              <a:t>1</a:t>
            </a:r>
            <a:r>
              <a:rPr lang="es" sz="2000" baseline="30000" dirty="0">
                <a:solidFill>
                  <a:schemeClr val="dk1"/>
                </a:solidFill>
                <a:latin typeface="Open Sans"/>
                <a:ea typeface="Open Sans"/>
                <a:cs typeface="Open Sans"/>
                <a:sym typeface="Open Sans"/>
              </a:rPr>
              <a:t>2</a:t>
            </a:r>
            <a:r>
              <a:rPr lang="es" sz="2000" dirty="0">
                <a:latin typeface="Open Sans"/>
                <a:ea typeface="Open Sans"/>
                <a:cs typeface="Open Sans"/>
                <a:sym typeface="Open Sans"/>
              </a:rPr>
              <a:t>=Var(Y)</a:t>
            </a:r>
            <a:endParaRPr sz="2000" dirty="0">
              <a:latin typeface="Open Sans"/>
              <a:ea typeface="Open Sans"/>
              <a:cs typeface="Open Sans"/>
              <a:sym typeface="Open Sans"/>
            </a:endParaRPr>
          </a:p>
          <a:p>
            <a:pPr marL="457200" lvl="0" indent="0" algn="just" rtl="0">
              <a:spcBef>
                <a:spcPts val="0"/>
              </a:spcBef>
              <a:spcAft>
                <a:spcPts val="0"/>
              </a:spcAft>
              <a:buNone/>
            </a:pPr>
            <a:r>
              <a:rPr lang="es" sz="2000" dirty="0">
                <a:latin typeface="Open Sans"/>
                <a:ea typeface="Open Sans"/>
                <a:cs typeface="Open Sans"/>
                <a:sym typeface="Open Sans"/>
              </a:rPr>
              <a:t> </a:t>
            </a:r>
            <a:endParaRPr sz="2000" dirty="0">
              <a:latin typeface="Open Sans"/>
              <a:ea typeface="Open Sans"/>
              <a:cs typeface="Open Sans"/>
              <a:sym typeface="Open Sans"/>
            </a:endParaRPr>
          </a:p>
          <a:p>
            <a:pPr marL="457200" lvl="0" indent="0" algn="just" rtl="0">
              <a:spcBef>
                <a:spcPts val="0"/>
              </a:spcBef>
              <a:spcAft>
                <a:spcPts val="0"/>
              </a:spcAft>
              <a:buNone/>
            </a:pPr>
            <a:r>
              <a:rPr lang="es" sz="2000" dirty="0">
                <a:latin typeface="Open Sans"/>
                <a:ea typeface="Open Sans"/>
                <a:cs typeface="Open Sans"/>
                <a:sym typeface="Open Sans"/>
              </a:rPr>
              <a:t>                                           </a:t>
            </a:r>
            <a:endParaRPr sz="2000" dirty="0">
              <a:latin typeface="Open Sans"/>
              <a:ea typeface="Open Sans"/>
              <a:cs typeface="Open Sans"/>
              <a:sym typeface="Open Sans"/>
            </a:endParaRPr>
          </a:p>
          <a:p>
            <a:pPr marL="0" lvl="0" indent="0" algn="r" rtl="0">
              <a:spcBef>
                <a:spcPts val="0"/>
              </a:spcBef>
              <a:spcAft>
                <a:spcPts val="0"/>
              </a:spcAft>
              <a:buNone/>
            </a:pPr>
            <a:endParaRPr sz="2000" dirty="0">
              <a:solidFill>
                <a:srgbClr val="1B786E"/>
              </a:solidFill>
              <a:latin typeface="Open Sans"/>
              <a:ea typeface="Open Sans"/>
              <a:cs typeface="Open Sans"/>
              <a:sym typeface="Open Sans"/>
            </a:endParaRPr>
          </a:p>
        </p:txBody>
      </p:sp>
      <p:pic>
        <p:nvPicPr>
          <p:cNvPr id="117" name="Google Shape;117;p21"/>
          <p:cNvPicPr preferRelativeResize="0"/>
          <p:nvPr/>
        </p:nvPicPr>
        <p:blipFill>
          <a:blip r:embed="rId3">
            <a:alphaModFix/>
          </a:blip>
          <a:stretch>
            <a:fillRect/>
          </a:stretch>
        </p:blipFill>
        <p:spPr>
          <a:xfrm>
            <a:off x="1036450" y="4057650"/>
            <a:ext cx="6015860" cy="8344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22" name="Google Shape;122;p22"/>
          <p:cNvPicPr preferRelativeResize="0"/>
          <p:nvPr/>
        </p:nvPicPr>
        <p:blipFill>
          <a:blip r:embed="rId3">
            <a:alphaModFix/>
          </a:blip>
          <a:stretch>
            <a:fillRect/>
          </a:stretch>
        </p:blipFill>
        <p:spPr>
          <a:xfrm>
            <a:off x="5900100" y="1202125"/>
            <a:ext cx="2253300" cy="2684075"/>
          </a:xfrm>
          <a:prstGeom prst="rect">
            <a:avLst/>
          </a:prstGeom>
          <a:noFill/>
          <a:ln>
            <a:noFill/>
          </a:ln>
        </p:spPr>
      </p:pic>
      <p:sp>
        <p:nvSpPr>
          <p:cNvPr id="123" name="Google Shape;123;p22"/>
          <p:cNvSpPr txBox="1">
            <a:spLocks noGrp="1"/>
          </p:cNvSpPr>
          <p:nvPr>
            <p:ph type="title"/>
          </p:nvPr>
        </p:nvSpPr>
        <p:spPr>
          <a:xfrm>
            <a:off x="311700" y="316800"/>
            <a:ext cx="82500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Ejemplo: distribución Normal bivariada</a:t>
            </a:r>
            <a:endParaRPr/>
          </a:p>
        </p:txBody>
      </p:sp>
      <p:pic>
        <p:nvPicPr>
          <p:cNvPr id="124" name="Google Shape;124;p22"/>
          <p:cNvPicPr preferRelativeResize="0"/>
          <p:nvPr/>
        </p:nvPicPr>
        <p:blipFill>
          <a:blip r:embed="rId4">
            <a:alphaModFix/>
          </a:blip>
          <a:stretch>
            <a:fillRect/>
          </a:stretch>
        </p:blipFill>
        <p:spPr>
          <a:xfrm>
            <a:off x="1138500" y="1682100"/>
            <a:ext cx="3048000" cy="2286000"/>
          </a:xfrm>
          <a:prstGeom prst="rect">
            <a:avLst/>
          </a:prstGeom>
          <a:noFill/>
          <a:ln>
            <a:noFill/>
          </a:ln>
        </p:spPr>
      </p:pic>
      <p:pic>
        <p:nvPicPr>
          <p:cNvPr id="125" name="Google Shape;125;p22"/>
          <p:cNvPicPr preferRelativeResize="0"/>
          <p:nvPr/>
        </p:nvPicPr>
        <p:blipFill>
          <a:blip r:embed="rId5">
            <a:alphaModFix/>
          </a:blip>
          <a:stretch>
            <a:fillRect/>
          </a:stretch>
        </p:blipFill>
        <p:spPr>
          <a:xfrm>
            <a:off x="1161684" y="3735900"/>
            <a:ext cx="7850316" cy="755700"/>
          </a:xfrm>
          <a:prstGeom prst="rect">
            <a:avLst/>
          </a:prstGeom>
          <a:noFill/>
          <a:ln>
            <a:noFill/>
          </a:ln>
        </p:spPr>
      </p:pic>
      <p:sp>
        <p:nvSpPr>
          <p:cNvPr id="126" name="Google Shape;126;p22"/>
          <p:cNvSpPr txBox="1"/>
          <p:nvPr/>
        </p:nvSpPr>
        <p:spPr>
          <a:xfrm>
            <a:off x="467725" y="1022825"/>
            <a:ext cx="8494200" cy="192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000" b="1">
                <a:solidFill>
                  <a:srgbClr val="1B786E"/>
                </a:solidFill>
                <a:latin typeface="Open Sans"/>
                <a:ea typeface="Open Sans"/>
                <a:cs typeface="Open Sans"/>
                <a:sym typeface="Open Sans"/>
              </a:rPr>
              <a:t>Diremos que el par (X, Y) de</a:t>
            </a:r>
            <a:r>
              <a:rPr lang="es" sz="1800" b="1">
                <a:solidFill>
                  <a:srgbClr val="1B786E"/>
                </a:solidFill>
                <a:latin typeface="Open Sans"/>
                <a:ea typeface="Open Sans"/>
                <a:cs typeface="Open Sans"/>
                <a:sym typeface="Open Sans"/>
              </a:rPr>
              <a:t> </a:t>
            </a:r>
            <a:r>
              <a:rPr lang="es" sz="2000" b="1">
                <a:solidFill>
                  <a:srgbClr val="1B786E"/>
                </a:solidFill>
                <a:latin typeface="Open Sans"/>
                <a:ea typeface="Open Sans"/>
                <a:cs typeface="Open Sans"/>
                <a:sym typeface="Open Sans"/>
              </a:rPr>
              <a:t> v.a. </a:t>
            </a:r>
            <a:r>
              <a:rPr lang="es" sz="2000">
                <a:latin typeface="Open Sans"/>
                <a:ea typeface="Open Sans"/>
                <a:cs typeface="Open Sans"/>
                <a:sym typeface="Open Sans"/>
              </a:rPr>
              <a:t> tiene distribución normal bivariada si función de densidad conjunta es:</a:t>
            </a:r>
            <a:endParaRPr sz="2000">
              <a:latin typeface="Open Sans"/>
              <a:ea typeface="Open Sans"/>
              <a:cs typeface="Open Sans"/>
              <a:sym typeface="Open Sans"/>
            </a:endParaRPr>
          </a:p>
          <a:p>
            <a:pPr marL="0" lvl="0" indent="0" algn="l" rtl="0">
              <a:spcBef>
                <a:spcPts val="0"/>
              </a:spcBef>
              <a:spcAft>
                <a:spcPts val="0"/>
              </a:spcAft>
              <a:buNone/>
            </a:pPr>
            <a:endParaRPr sz="2000">
              <a:latin typeface="Open Sans"/>
              <a:ea typeface="Open Sans"/>
              <a:cs typeface="Open Sans"/>
              <a:sym typeface="Open Sans"/>
            </a:endParaRPr>
          </a:p>
          <a:p>
            <a:pPr marL="0" lvl="0" indent="0" algn="r" rtl="0">
              <a:spcBef>
                <a:spcPts val="0"/>
              </a:spcBef>
              <a:spcAft>
                <a:spcPts val="0"/>
              </a:spcAft>
              <a:buNone/>
            </a:pPr>
            <a:endParaRPr>
              <a:solidFill>
                <a:srgbClr val="1B786E"/>
              </a:solidFill>
              <a:latin typeface="Open Sans"/>
              <a:ea typeface="Open Sans"/>
              <a:cs typeface="Open Sans"/>
              <a:sym typeface="Open Sans"/>
            </a:endParaRPr>
          </a:p>
        </p:txBody>
      </p:sp>
      <p:sp>
        <p:nvSpPr>
          <p:cNvPr id="127" name="Google Shape;127;p22"/>
          <p:cNvSpPr txBox="1"/>
          <p:nvPr/>
        </p:nvSpPr>
        <p:spPr>
          <a:xfrm>
            <a:off x="455800" y="3858300"/>
            <a:ext cx="951600" cy="48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i="1">
                <a:solidFill>
                  <a:schemeClr val="dk1"/>
                </a:solidFill>
                <a:latin typeface="Open Sans"/>
                <a:ea typeface="Open Sans"/>
                <a:cs typeface="Open Sans"/>
                <a:sym typeface="Open Sans"/>
              </a:rPr>
              <a:t>f(x,y)=</a:t>
            </a:r>
            <a:endParaRPr sz="1800">
              <a:latin typeface="Open Sans"/>
              <a:ea typeface="Open Sans"/>
              <a:cs typeface="Open Sans"/>
              <a:sym typeface="Open Sans"/>
            </a:endParaRPr>
          </a:p>
        </p:txBody>
      </p:sp>
      <p:sp>
        <p:nvSpPr>
          <p:cNvPr id="128" name="Google Shape;128;p22"/>
          <p:cNvSpPr txBox="1"/>
          <p:nvPr/>
        </p:nvSpPr>
        <p:spPr>
          <a:xfrm>
            <a:off x="164700" y="4421525"/>
            <a:ext cx="5028300" cy="307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a:solidFill>
                  <a:schemeClr val="dk1"/>
                </a:solidFill>
                <a:latin typeface="Open Sans"/>
                <a:ea typeface="Open Sans"/>
                <a:cs typeface="Open Sans"/>
                <a:sym typeface="Open Sans"/>
              </a:rPr>
              <a:t>μ</a:t>
            </a:r>
            <a:r>
              <a:rPr lang="es" sz="1800" baseline="-25000">
                <a:solidFill>
                  <a:schemeClr val="dk1"/>
                </a:solidFill>
                <a:latin typeface="Open Sans"/>
                <a:ea typeface="Open Sans"/>
                <a:cs typeface="Open Sans"/>
                <a:sym typeface="Open Sans"/>
              </a:rPr>
              <a:t>1</a:t>
            </a:r>
            <a:r>
              <a:rPr lang="es" sz="1800">
                <a:latin typeface="Open Sans"/>
                <a:ea typeface="Open Sans"/>
                <a:cs typeface="Open Sans"/>
                <a:sym typeface="Open Sans"/>
              </a:rPr>
              <a:t>= E(X),   </a:t>
            </a:r>
            <a:r>
              <a:rPr lang="es" sz="1800">
                <a:solidFill>
                  <a:schemeClr val="dk1"/>
                </a:solidFill>
                <a:latin typeface="Open Sans"/>
                <a:ea typeface="Open Sans"/>
                <a:cs typeface="Open Sans"/>
                <a:sym typeface="Open Sans"/>
              </a:rPr>
              <a:t>μ</a:t>
            </a:r>
            <a:r>
              <a:rPr lang="es" sz="1800" baseline="-25000">
                <a:solidFill>
                  <a:schemeClr val="dk1"/>
                </a:solidFill>
                <a:latin typeface="Open Sans"/>
                <a:ea typeface="Open Sans"/>
                <a:cs typeface="Open Sans"/>
                <a:sym typeface="Open Sans"/>
              </a:rPr>
              <a:t>2</a:t>
            </a:r>
            <a:r>
              <a:rPr lang="es" sz="1800">
                <a:latin typeface="Open Sans"/>
                <a:ea typeface="Open Sans"/>
                <a:cs typeface="Open Sans"/>
                <a:sym typeface="Open Sans"/>
              </a:rPr>
              <a:t>= E(Y) ,  σ</a:t>
            </a:r>
            <a:r>
              <a:rPr lang="es" sz="1800" baseline="-25000">
                <a:solidFill>
                  <a:schemeClr val="dk1"/>
                </a:solidFill>
                <a:latin typeface="Open Sans"/>
                <a:ea typeface="Open Sans"/>
                <a:cs typeface="Open Sans"/>
                <a:sym typeface="Open Sans"/>
              </a:rPr>
              <a:t>1</a:t>
            </a:r>
            <a:r>
              <a:rPr lang="es" sz="1800" baseline="30000">
                <a:solidFill>
                  <a:schemeClr val="dk1"/>
                </a:solidFill>
                <a:latin typeface="Open Sans"/>
                <a:ea typeface="Open Sans"/>
                <a:cs typeface="Open Sans"/>
                <a:sym typeface="Open Sans"/>
              </a:rPr>
              <a:t>2</a:t>
            </a:r>
            <a:r>
              <a:rPr lang="es" sz="1800">
                <a:latin typeface="Open Sans"/>
                <a:ea typeface="Open Sans"/>
                <a:cs typeface="Open Sans"/>
                <a:sym typeface="Open Sans"/>
              </a:rPr>
              <a:t>= Var(X),  </a:t>
            </a:r>
            <a:r>
              <a:rPr lang="es" sz="1800">
                <a:solidFill>
                  <a:schemeClr val="dk1"/>
                </a:solidFill>
                <a:latin typeface="Open Sans"/>
                <a:ea typeface="Open Sans"/>
                <a:cs typeface="Open Sans"/>
                <a:sym typeface="Open Sans"/>
              </a:rPr>
              <a:t>σ</a:t>
            </a:r>
            <a:r>
              <a:rPr lang="es" sz="1800" baseline="-25000">
                <a:solidFill>
                  <a:schemeClr val="dk1"/>
                </a:solidFill>
                <a:latin typeface="Open Sans"/>
                <a:ea typeface="Open Sans"/>
                <a:cs typeface="Open Sans"/>
                <a:sym typeface="Open Sans"/>
              </a:rPr>
              <a:t>2</a:t>
            </a:r>
            <a:r>
              <a:rPr lang="es" sz="1800" baseline="30000">
                <a:solidFill>
                  <a:schemeClr val="dk1"/>
                </a:solidFill>
                <a:latin typeface="Open Sans"/>
                <a:ea typeface="Open Sans"/>
                <a:cs typeface="Open Sans"/>
                <a:sym typeface="Open Sans"/>
              </a:rPr>
              <a:t>2</a:t>
            </a:r>
            <a:r>
              <a:rPr lang="es" sz="1800">
                <a:latin typeface="Open Sans"/>
                <a:ea typeface="Open Sans"/>
                <a:cs typeface="Open Sans"/>
                <a:sym typeface="Open Sans"/>
              </a:rPr>
              <a:t>= Var(Y), </a:t>
            </a:r>
            <a:endParaRPr sz="1800">
              <a:latin typeface="Open Sans"/>
              <a:ea typeface="Open Sans"/>
              <a:cs typeface="Open Sans"/>
              <a:sym typeface="Open Sans"/>
            </a:endParaRPr>
          </a:p>
        </p:txBody>
      </p:sp>
      <p:pic>
        <p:nvPicPr>
          <p:cNvPr id="129" name="Google Shape;129;p22"/>
          <p:cNvPicPr preferRelativeResize="0"/>
          <p:nvPr/>
        </p:nvPicPr>
        <p:blipFill>
          <a:blip r:embed="rId6">
            <a:alphaModFix/>
          </a:blip>
          <a:stretch>
            <a:fillRect/>
          </a:stretch>
        </p:blipFill>
        <p:spPr>
          <a:xfrm>
            <a:off x="5075049" y="4421524"/>
            <a:ext cx="3233025" cy="591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3"/>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Varias Variables, categóricas</a:t>
            </a:r>
            <a:endParaRPr/>
          </a:p>
        </p:txBody>
      </p:sp>
      <p:pic>
        <p:nvPicPr>
          <p:cNvPr id="135" name="Google Shape;135;p23"/>
          <p:cNvPicPr preferRelativeResize="0"/>
          <p:nvPr/>
        </p:nvPicPr>
        <p:blipFill>
          <a:blip r:embed="rId3">
            <a:alphaModFix/>
          </a:blip>
          <a:stretch>
            <a:fillRect/>
          </a:stretch>
        </p:blipFill>
        <p:spPr>
          <a:xfrm>
            <a:off x="1112250" y="1375825"/>
            <a:ext cx="6578750" cy="3549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a:spLocks noGrp="1"/>
          </p:cNvSpPr>
          <p:nvPr>
            <p:ph type="title"/>
          </p:nvPr>
        </p:nvSpPr>
        <p:spPr>
          <a:xfrm>
            <a:off x="490250" y="450150"/>
            <a:ext cx="7988700" cy="4090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dirty="0"/>
              <a:t>Notebook (ejercicio)</a:t>
            </a:r>
            <a:endParaRPr dirty="0"/>
          </a:p>
          <a:p>
            <a:pPr marL="0" lvl="0" indent="0" algn="ctr" rtl="0">
              <a:spcBef>
                <a:spcPts val="0"/>
              </a:spcBef>
              <a:spcAft>
                <a:spcPts val="0"/>
              </a:spcAft>
              <a:buClr>
                <a:schemeClr val="dk1"/>
              </a:buClr>
              <a:buSzPts val="1100"/>
              <a:buFont typeface="Arial"/>
              <a:buNone/>
            </a:pPr>
            <a:r>
              <a:rPr lang="es" sz="3400" u="sng" dirty="0">
                <a:solidFill>
                  <a:schemeClr val="accent5"/>
                </a:solidFill>
              </a:rPr>
              <a:t>EL40_Varias Variables.ipynb</a:t>
            </a:r>
            <a:endParaRPr sz="3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5"/>
          <p:cNvSpPr txBox="1">
            <a:spLocks noGrp="1"/>
          </p:cNvSpPr>
          <p:nvPr>
            <p:ph type="title"/>
          </p:nvPr>
        </p:nvSpPr>
        <p:spPr>
          <a:xfrm>
            <a:off x="370000" y="663725"/>
            <a:ext cx="86931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Independencia entre Variables</a:t>
            </a:r>
            <a:endParaRPr/>
          </a:p>
        </p:txBody>
      </p:sp>
      <p:sp>
        <p:nvSpPr>
          <p:cNvPr id="146" name="Google Shape;146;p25"/>
          <p:cNvSpPr txBox="1"/>
          <p:nvPr/>
        </p:nvSpPr>
        <p:spPr>
          <a:xfrm>
            <a:off x="467725" y="1480025"/>
            <a:ext cx="8494200" cy="192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000" b="1">
                <a:solidFill>
                  <a:srgbClr val="1B786E"/>
                </a:solidFill>
                <a:latin typeface="Open Sans"/>
                <a:ea typeface="Open Sans"/>
                <a:cs typeface="Open Sans"/>
                <a:sym typeface="Open Sans"/>
              </a:rPr>
              <a:t>X e Y</a:t>
            </a:r>
            <a:r>
              <a:rPr lang="es" sz="1800" b="1">
                <a:solidFill>
                  <a:srgbClr val="1B786E"/>
                </a:solidFill>
                <a:latin typeface="Open Sans"/>
                <a:ea typeface="Open Sans"/>
                <a:cs typeface="Open Sans"/>
                <a:sym typeface="Open Sans"/>
              </a:rPr>
              <a:t> </a:t>
            </a:r>
            <a:r>
              <a:rPr lang="es" sz="2000" b="1">
                <a:solidFill>
                  <a:srgbClr val="1B786E"/>
                </a:solidFill>
                <a:latin typeface="Open Sans"/>
                <a:ea typeface="Open Sans"/>
                <a:cs typeface="Open Sans"/>
                <a:sym typeface="Open Sans"/>
              </a:rPr>
              <a:t> v.a. </a:t>
            </a:r>
            <a:r>
              <a:rPr lang="es" sz="2000">
                <a:latin typeface="Open Sans"/>
                <a:ea typeface="Open Sans"/>
                <a:cs typeface="Open Sans"/>
                <a:sym typeface="Open Sans"/>
              </a:rPr>
              <a:t> se dicen </a:t>
            </a:r>
            <a:r>
              <a:rPr lang="es" sz="2000" b="1">
                <a:solidFill>
                  <a:srgbClr val="1B786E"/>
                </a:solidFill>
                <a:latin typeface="Open Sans"/>
                <a:ea typeface="Open Sans"/>
                <a:cs typeface="Open Sans"/>
                <a:sym typeface="Open Sans"/>
              </a:rPr>
              <a:t>independientes</a:t>
            </a:r>
            <a:r>
              <a:rPr lang="es" sz="2000">
                <a:latin typeface="Open Sans"/>
                <a:ea typeface="Open Sans"/>
                <a:cs typeface="Open Sans"/>
                <a:sym typeface="Open Sans"/>
              </a:rPr>
              <a:t> si </a:t>
            </a:r>
            <a:endParaRPr sz="2000">
              <a:latin typeface="Open Sans"/>
              <a:ea typeface="Open Sans"/>
              <a:cs typeface="Open Sans"/>
              <a:sym typeface="Open Sans"/>
            </a:endParaRPr>
          </a:p>
          <a:p>
            <a:pPr marL="0" lvl="0" indent="0" algn="l" rtl="0">
              <a:spcBef>
                <a:spcPts val="0"/>
              </a:spcBef>
              <a:spcAft>
                <a:spcPts val="0"/>
              </a:spcAft>
              <a:buNone/>
            </a:pPr>
            <a:endParaRPr sz="2000">
              <a:latin typeface="Open Sans"/>
              <a:ea typeface="Open Sans"/>
              <a:cs typeface="Open Sans"/>
              <a:sym typeface="Open Sans"/>
            </a:endParaRPr>
          </a:p>
          <a:p>
            <a:pPr marL="0" lvl="0" indent="0" algn="l" rtl="0">
              <a:spcBef>
                <a:spcPts val="0"/>
              </a:spcBef>
              <a:spcAft>
                <a:spcPts val="0"/>
              </a:spcAft>
              <a:buNone/>
            </a:pPr>
            <a:r>
              <a:rPr lang="es" sz="2000">
                <a:latin typeface="Open Sans"/>
                <a:ea typeface="Open Sans"/>
                <a:cs typeface="Open Sans"/>
                <a:sym typeface="Open Sans"/>
              </a:rPr>
              <a:t>Para más variables:</a:t>
            </a:r>
            <a:endParaRPr sz="2000">
              <a:latin typeface="Open Sans"/>
              <a:ea typeface="Open Sans"/>
              <a:cs typeface="Open Sans"/>
              <a:sym typeface="Open Sans"/>
            </a:endParaRPr>
          </a:p>
          <a:p>
            <a:pPr marL="0" lvl="0" indent="0" algn="l" rtl="0">
              <a:spcBef>
                <a:spcPts val="0"/>
              </a:spcBef>
              <a:spcAft>
                <a:spcPts val="0"/>
              </a:spcAft>
              <a:buNone/>
            </a:pPr>
            <a:r>
              <a:rPr lang="es" sz="2000">
                <a:latin typeface="Open Sans"/>
                <a:ea typeface="Open Sans"/>
                <a:cs typeface="Open Sans"/>
                <a:sym typeface="Open Sans"/>
              </a:rPr>
              <a:t>Sean </a:t>
            </a:r>
            <a:r>
              <a:rPr lang="es" sz="2000" b="1">
                <a:solidFill>
                  <a:srgbClr val="1B786E"/>
                </a:solidFill>
                <a:latin typeface="Open Sans"/>
                <a:ea typeface="Open Sans"/>
                <a:cs typeface="Open Sans"/>
                <a:sym typeface="Open Sans"/>
              </a:rPr>
              <a:t>X</a:t>
            </a:r>
            <a:r>
              <a:rPr lang="es" sz="2000" b="1" baseline="-25000">
                <a:solidFill>
                  <a:srgbClr val="1B786E"/>
                </a:solidFill>
                <a:latin typeface="Open Sans"/>
                <a:ea typeface="Open Sans"/>
                <a:cs typeface="Open Sans"/>
                <a:sym typeface="Open Sans"/>
              </a:rPr>
              <a:t>1</a:t>
            </a:r>
            <a:r>
              <a:rPr lang="es" sz="2000" b="1">
                <a:solidFill>
                  <a:srgbClr val="1B786E"/>
                </a:solidFill>
                <a:latin typeface="Open Sans"/>
                <a:ea typeface="Open Sans"/>
                <a:cs typeface="Open Sans"/>
                <a:sym typeface="Open Sans"/>
              </a:rPr>
              <a:t>,X</a:t>
            </a:r>
            <a:r>
              <a:rPr lang="es" sz="2000" b="1" baseline="-25000">
                <a:solidFill>
                  <a:srgbClr val="1B786E"/>
                </a:solidFill>
                <a:latin typeface="Open Sans"/>
                <a:ea typeface="Open Sans"/>
                <a:cs typeface="Open Sans"/>
                <a:sym typeface="Open Sans"/>
              </a:rPr>
              <a:t>2</a:t>
            </a:r>
            <a:r>
              <a:rPr lang="es" sz="2000" b="1">
                <a:solidFill>
                  <a:srgbClr val="1B786E"/>
                </a:solidFill>
                <a:latin typeface="Open Sans"/>
                <a:ea typeface="Open Sans"/>
                <a:cs typeface="Open Sans"/>
                <a:sym typeface="Open Sans"/>
              </a:rPr>
              <a:t>, …,X</a:t>
            </a:r>
            <a:r>
              <a:rPr lang="es" sz="2000" b="1" baseline="-25000">
                <a:solidFill>
                  <a:srgbClr val="1B786E"/>
                </a:solidFill>
                <a:latin typeface="Open Sans"/>
                <a:ea typeface="Open Sans"/>
                <a:cs typeface="Open Sans"/>
                <a:sym typeface="Open Sans"/>
              </a:rPr>
              <a:t>n</a:t>
            </a:r>
            <a:r>
              <a:rPr lang="es" sz="2000">
                <a:latin typeface="Open Sans"/>
                <a:ea typeface="Open Sans"/>
                <a:cs typeface="Open Sans"/>
                <a:sym typeface="Open Sans"/>
              </a:rPr>
              <a:t>, variables aleatorias se dicen mutuamente </a:t>
            </a:r>
            <a:r>
              <a:rPr lang="es" sz="2000" b="1">
                <a:solidFill>
                  <a:srgbClr val="1B786E"/>
                </a:solidFill>
                <a:latin typeface="Open Sans"/>
                <a:ea typeface="Open Sans"/>
                <a:cs typeface="Open Sans"/>
                <a:sym typeface="Open Sans"/>
              </a:rPr>
              <a:t>independientes</a:t>
            </a:r>
            <a:r>
              <a:rPr lang="es" sz="2000">
                <a:latin typeface="Open Sans"/>
                <a:ea typeface="Open Sans"/>
                <a:cs typeface="Open Sans"/>
                <a:sym typeface="Open Sans"/>
              </a:rPr>
              <a:t> si </a:t>
            </a:r>
            <a:endParaRPr sz="2000">
              <a:latin typeface="Open Sans"/>
              <a:ea typeface="Open Sans"/>
              <a:cs typeface="Open Sans"/>
              <a:sym typeface="Open Sans"/>
            </a:endParaRPr>
          </a:p>
          <a:p>
            <a:pPr marL="0" lvl="0" indent="0" algn="l" rtl="0">
              <a:spcBef>
                <a:spcPts val="0"/>
              </a:spcBef>
              <a:spcAft>
                <a:spcPts val="0"/>
              </a:spcAft>
              <a:buNone/>
            </a:pPr>
            <a:endParaRPr sz="2000">
              <a:latin typeface="Open Sans"/>
              <a:ea typeface="Open Sans"/>
              <a:cs typeface="Open Sans"/>
              <a:sym typeface="Open Sans"/>
            </a:endParaRPr>
          </a:p>
          <a:p>
            <a:pPr marL="0" lvl="0" indent="0" algn="l" rtl="0">
              <a:spcBef>
                <a:spcPts val="0"/>
              </a:spcBef>
              <a:spcAft>
                <a:spcPts val="0"/>
              </a:spcAft>
              <a:buNone/>
            </a:pPr>
            <a:endParaRPr sz="2000">
              <a:latin typeface="Open Sans"/>
              <a:ea typeface="Open Sans"/>
              <a:cs typeface="Open Sans"/>
              <a:sym typeface="Open Sans"/>
            </a:endParaRPr>
          </a:p>
          <a:p>
            <a:pPr marL="0" lvl="0" indent="0" algn="l" rtl="0">
              <a:spcBef>
                <a:spcPts val="0"/>
              </a:spcBef>
              <a:spcAft>
                <a:spcPts val="0"/>
              </a:spcAft>
              <a:buNone/>
            </a:pPr>
            <a:endParaRPr sz="2000">
              <a:latin typeface="Open Sans"/>
              <a:ea typeface="Open Sans"/>
              <a:cs typeface="Open Sans"/>
              <a:sym typeface="Open Sans"/>
            </a:endParaRPr>
          </a:p>
          <a:p>
            <a:pPr marL="0" lvl="0" indent="0" algn="l" rtl="0">
              <a:spcBef>
                <a:spcPts val="0"/>
              </a:spcBef>
              <a:spcAft>
                <a:spcPts val="0"/>
              </a:spcAft>
              <a:buNone/>
            </a:pPr>
            <a:endParaRPr sz="2000">
              <a:latin typeface="Open Sans"/>
              <a:ea typeface="Open Sans"/>
              <a:cs typeface="Open Sans"/>
              <a:sym typeface="Open Sans"/>
            </a:endParaRPr>
          </a:p>
          <a:p>
            <a:pPr marL="0" lvl="0" indent="0" algn="l" rtl="0">
              <a:spcBef>
                <a:spcPts val="0"/>
              </a:spcBef>
              <a:spcAft>
                <a:spcPts val="0"/>
              </a:spcAft>
              <a:buNone/>
            </a:pPr>
            <a:endParaRPr sz="2000">
              <a:latin typeface="Open Sans"/>
              <a:ea typeface="Open Sans"/>
              <a:cs typeface="Open Sans"/>
              <a:sym typeface="Open Sans"/>
            </a:endParaRPr>
          </a:p>
          <a:p>
            <a:pPr marL="0" lvl="0" indent="0" algn="l" rtl="0">
              <a:spcBef>
                <a:spcPts val="0"/>
              </a:spcBef>
              <a:spcAft>
                <a:spcPts val="0"/>
              </a:spcAft>
              <a:buNone/>
            </a:pPr>
            <a:endParaRPr sz="2000">
              <a:latin typeface="Open Sans"/>
              <a:ea typeface="Open Sans"/>
              <a:cs typeface="Open Sans"/>
              <a:sym typeface="Open Sans"/>
            </a:endParaRPr>
          </a:p>
          <a:p>
            <a:pPr marL="0" lvl="0" indent="0" algn="r" rtl="0">
              <a:spcBef>
                <a:spcPts val="0"/>
              </a:spcBef>
              <a:spcAft>
                <a:spcPts val="0"/>
              </a:spcAft>
              <a:buNone/>
            </a:pPr>
            <a:endParaRPr>
              <a:solidFill>
                <a:srgbClr val="1B786E"/>
              </a:solidFill>
              <a:latin typeface="Open Sans"/>
              <a:ea typeface="Open Sans"/>
              <a:cs typeface="Open Sans"/>
              <a:sym typeface="Open Sans"/>
            </a:endParaRPr>
          </a:p>
        </p:txBody>
      </p:sp>
      <p:pic>
        <p:nvPicPr>
          <p:cNvPr id="147" name="Google Shape;147;p25"/>
          <p:cNvPicPr preferRelativeResize="0"/>
          <p:nvPr/>
        </p:nvPicPr>
        <p:blipFill>
          <a:blip r:embed="rId3">
            <a:alphaModFix/>
          </a:blip>
          <a:stretch>
            <a:fillRect/>
          </a:stretch>
        </p:blipFill>
        <p:spPr>
          <a:xfrm>
            <a:off x="5324375" y="1562200"/>
            <a:ext cx="2314475" cy="367200"/>
          </a:xfrm>
          <a:prstGeom prst="rect">
            <a:avLst/>
          </a:prstGeom>
          <a:noFill/>
          <a:ln>
            <a:noFill/>
          </a:ln>
        </p:spPr>
      </p:pic>
      <p:pic>
        <p:nvPicPr>
          <p:cNvPr id="148" name="Google Shape;148;p25"/>
          <p:cNvPicPr preferRelativeResize="0"/>
          <p:nvPr/>
        </p:nvPicPr>
        <p:blipFill>
          <a:blip r:embed="rId4">
            <a:alphaModFix/>
          </a:blip>
          <a:stretch>
            <a:fillRect/>
          </a:stretch>
        </p:blipFill>
        <p:spPr>
          <a:xfrm>
            <a:off x="914400" y="3285550"/>
            <a:ext cx="6664149" cy="9463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6"/>
          <p:cNvSpPr txBox="1">
            <a:spLocks noGrp="1"/>
          </p:cNvSpPr>
          <p:nvPr>
            <p:ph type="title"/>
          </p:nvPr>
        </p:nvSpPr>
        <p:spPr>
          <a:xfrm>
            <a:off x="370000" y="663725"/>
            <a:ext cx="86931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Varias Variables: independencia</a:t>
            </a:r>
            <a:endParaRPr/>
          </a:p>
        </p:txBody>
      </p:sp>
      <p:sp>
        <p:nvSpPr>
          <p:cNvPr id="154" name="Google Shape;154;p26"/>
          <p:cNvSpPr txBox="1"/>
          <p:nvPr/>
        </p:nvSpPr>
        <p:spPr>
          <a:xfrm>
            <a:off x="467725" y="1480025"/>
            <a:ext cx="5136000" cy="192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000" b="1">
                <a:solidFill>
                  <a:srgbClr val="1B786E"/>
                </a:solidFill>
                <a:latin typeface="Open Sans"/>
                <a:ea typeface="Open Sans"/>
                <a:cs typeface="Open Sans"/>
                <a:sym typeface="Open Sans"/>
              </a:rPr>
              <a:t>X</a:t>
            </a:r>
            <a:r>
              <a:rPr lang="es" sz="1800">
                <a:latin typeface="Open Sans"/>
                <a:ea typeface="Open Sans"/>
                <a:cs typeface="Open Sans"/>
                <a:sym typeface="Open Sans"/>
              </a:rPr>
              <a:t>:</a:t>
            </a:r>
            <a:r>
              <a:rPr lang="es" sz="1800" b="1">
                <a:solidFill>
                  <a:srgbClr val="1B786E"/>
                </a:solidFill>
                <a:latin typeface="Open Sans"/>
                <a:ea typeface="Open Sans"/>
                <a:cs typeface="Open Sans"/>
                <a:sym typeface="Open Sans"/>
              </a:rPr>
              <a:t> </a:t>
            </a:r>
            <a:r>
              <a:rPr lang="es" sz="1800">
                <a:latin typeface="Open Sans"/>
                <a:ea typeface="Open Sans"/>
                <a:cs typeface="Open Sans"/>
                <a:sym typeface="Open Sans"/>
              </a:rPr>
              <a:t>Ω⇾R</a:t>
            </a:r>
            <a:r>
              <a:rPr lang="es" sz="2000" b="1">
                <a:solidFill>
                  <a:srgbClr val="1B786E"/>
                </a:solidFill>
                <a:latin typeface="Open Sans"/>
                <a:ea typeface="Open Sans"/>
                <a:cs typeface="Open Sans"/>
                <a:sym typeface="Open Sans"/>
              </a:rPr>
              <a:t> e Y</a:t>
            </a:r>
            <a:r>
              <a:rPr lang="es" sz="1800">
                <a:latin typeface="Open Sans"/>
                <a:ea typeface="Open Sans"/>
                <a:cs typeface="Open Sans"/>
                <a:sym typeface="Open Sans"/>
              </a:rPr>
              <a:t>: Ω⇾R</a:t>
            </a:r>
            <a:r>
              <a:rPr lang="es" sz="1800" b="1">
                <a:solidFill>
                  <a:srgbClr val="1B786E"/>
                </a:solidFill>
                <a:latin typeface="Open Sans"/>
                <a:ea typeface="Open Sans"/>
                <a:cs typeface="Open Sans"/>
                <a:sym typeface="Open Sans"/>
              </a:rPr>
              <a:t> </a:t>
            </a:r>
            <a:r>
              <a:rPr lang="es" sz="2000" b="1">
                <a:solidFill>
                  <a:srgbClr val="1B786E"/>
                </a:solidFill>
                <a:latin typeface="Open Sans"/>
                <a:ea typeface="Open Sans"/>
                <a:cs typeface="Open Sans"/>
                <a:sym typeface="Open Sans"/>
              </a:rPr>
              <a:t> variables aleatorias</a:t>
            </a:r>
            <a:r>
              <a:rPr lang="es" sz="2000">
                <a:latin typeface="Open Sans"/>
                <a:ea typeface="Open Sans"/>
                <a:cs typeface="Open Sans"/>
                <a:sym typeface="Open Sans"/>
              </a:rPr>
              <a:t> </a:t>
            </a:r>
            <a:endParaRPr sz="2000">
              <a:latin typeface="Open Sans"/>
              <a:ea typeface="Open Sans"/>
              <a:cs typeface="Open Sans"/>
              <a:sym typeface="Open Sans"/>
            </a:endParaRPr>
          </a:p>
          <a:p>
            <a:pPr marL="0" lvl="0" indent="0" algn="l" rtl="0">
              <a:spcBef>
                <a:spcPts val="0"/>
              </a:spcBef>
              <a:spcAft>
                <a:spcPts val="0"/>
              </a:spcAft>
              <a:buNone/>
            </a:pPr>
            <a:endParaRPr sz="2000">
              <a:latin typeface="Open Sans"/>
              <a:ea typeface="Open Sans"/>
              <a:cs typeface="Open Sans"/>
              <a:sym typeface="Open Sans"/>
            </a:endParaRPr>
          </a:p>
          <a:p>
            <a:pPr marL="0" lvl="0" indent="0" algn="l" rtl="0">
              <a:spcBef>
                <a:spcPts val="0"/>
              </a:spcBef>
              <a:spcAft>
                <a:spcPts val="0"/>
              </a:spcAft>
              <a:buNone/>
            </a:pPr>
            <a:r>
              <a:rPr lang="es" sz="1800" b="1">
                <a:solidFill>
                  <a:srgbClr val="1B786E"/>
                </a:solidFill>
                <a:latin typeface="Open Sans"/>
                <a:ea typeface="Open Sans"/>
                <a:cs typeface="Open Sans"/>
                <a:sym typeface="Open Sans"/>
              </a:rPr>
              <a:t>Si X e Y son independientes</a:t>
            </a:r>
            <a:r>
              <a:rPr lang="es" sz="1800">
                <a:solidFill>
                  <a:srgbClr val="666666"/>
                </a:solidFill>
                <a:latin typeface="Open Sans"/>
                <a:ea typeface="Open Sans"/>
                <a:cs typeface="Open Sans"/>
                <a:sym typeface="Open Sans"/>
              </a:rPr>
              <a:t> se cumple:</a:t>
            </a:r>
            <a:endParaRPr sz="1800">
              <a:solidFill>
                <a:srgbClr val="666666"/>
              </a:solidFill>
              <a:latin typeface="Open Sans"/>
              <a:ea typeface="Open Sans"/>
              <a:cs typeface="Open Sans"/>
              <a:sym typeface="Open Sans"/>
            </a:endParaRPr>
          </a:p>
          <a:p>
            <a:pPr marL="0" lvl="0" indent="0" algn="just" rtl="0">
              <a:spcBef>
                <a:spcPts val="0"/>
              </a:spcBef>
              <a:spcAft>
                <a:spcPts val="0"/>
              </a:spcAft>
              <a:buNone/>
            </a:pPr>
            <a:endParaRPr sz="1800">
              <a:solidFill>
                <a:schemeClr val="dk1"/>
              </a:solidFill>
              <a:latin typeface="Open Sans"/>
              <a:ea typeface="Open Sans"/>
              <a:cs typeface="Open Sans"/>
              <a:sym typeface="Open Sans"/>
            </a:endParaRPr>
          </a:p>
          <a:p>
            <a:pPr marL="457200" lvl="0" indent="-342900" algn="just" rtl="0">
              <a:spcBef>
                <a:spcPts val="0"/>
              </a:spcBef>
              <a:spcAft>
                <a:spcPts val="0"/>
              </a:spcAft>
              <a:buClr>
                <a:schemeClr val="dk1"/>
              </a:buClr>
              <a:buSzPts val="1800"/>
              <a:buFont typeface="Open Sans"/>
              <a:buChar char="●"/>
            </a:pPr>
            <a:r>
              <a:rPr lang="es" sz="1800">
                <a:solidFill>
                  <a:schemeClr val="dk1"/>
                </a:solidFill>
                <a:latin typeface="Open Sans"/>
                <a:ea typeface="Open Sans"/>
                <a:cs typeface="Open Sans"/>
                <a:sym typeface="Open Sans"/>
              </a:rPr>
              <a:t>E(X.Y)=E(X).E(Y),</a:t>
            </a:r>
            <a:endParaRPr sz="1800">
              <a:solidFill>
                <a:schemeClr val="dk1"/>
              </a:solidFill>
              <a:latin typeface="Open Sans"/>
              <a:ea typeface="Open Sans"/>
              <a:cs typeface="Open Sans"/>
              <a:sym typeface="Open Sans"/>
            </a:endParaRPr>
          </a:p>
          <a:p>
            <a:pPr marL="457200" lvl="0" indent="0" algn="just" rtl="0">
              <a:spcBef>
                <a:spcPts val="0"/>
              </a:spcBef>
              <a:spcAft>
                <a:spcPts val="0"/>
              </a:spcAft>
              <a:buNone/>
            </a:pPr>
            <a:endParaRPr sz="1800">
              <a:solidFill>
                <a:schemeClr val="dk1"/>
              </a:solidFill>
              <a:latin typeface="Open Sans"/>
              <a:ea typeface="Open Sans"/>
              <a:cs typeface="Open Sans"/>
              <a:sym typeface="Open Sans"/>
            </a:endParaRPr>
          </a:p>
          <a:p>
            <a:pPr marL="457200" lvl="0" indent="-342900" algn="just" rtl="0">
              <a:spcBef>
                <a:spcPts val="0"/>
              </a:spcBef>
              <a:spcAft>
                <a:spcPts val="0"/>
              </a:spcAft>
              <a:buClr>
                <a:schemeClr val="dk1"/>
              </a:buClr>
              <a:buSzPts val="1800"/>
              <a:buFont typeface="Open Sans"/>
              <a:buChar char="●"/>
            </a:pPr>
            <a:r>
              <a:rPr lang="es" sz="1800">
                <a:solidFill>
                  <a:schemeClr val="dk1"/>
                </a:solidFill>
                <a:latin typeface="Open Sans"/>
                <a:ea typeface="Open Sans"/>
                <a:cs typeface="Open Sans"/>
                <a:sym typeface="Open Sans"/>
              </a:rPr>
              <a:t>Cov(X,Y)=0</a:t>
            </a:r>
            <a:endParaRPr sz="1800">
              <a:solidFill>
                <a:schemeClr val="dk1"/>
              </a:solidFill>
              <a:latin typeface="Open Sans"/>
              <a:ea typeface="Open Sans"/>
              <a:cs typeface="Open Sans"/>
              <a:sym typeface="Open Sans"/>
            </a:endParaRPr>
          </a:p>
          <a:p>
            <a:pPr marL="457200" lvl="0" indent="0" algn="just" rtl="0">
              <a:spcBef>
                <a:spcPts val="0"/>
              </a:spcBef>
              <a:spcAft>
                <a:spcPts val="0"/>
              </a:spcAft>
              <a:buNone/>
            </a:pPr>
            <a:endParaRPr sz="1800">
              <a:solidFill>
                <a:schemeClr val="dk1"/>
              </a:solidFill>
              <a:latin typeface="Open Sans"/>
              <a:ea typeface="Open Sans"/>
              <a:cs typeface="Open Sans"/>
              <a:sym typeface="Open Sans"/>
            </a:endParaRPr>
          </a:p>
          <a:p>
            <a:pPr marL="457200" lvl="0" indent="-342900" algn="just" rtl="0">
              <a:spcBef>
                <a:spcPts val="0"/>
              </a:spcBef>
              <a:spcAft>
                <a:spcPts val="0"/>
              </a:spcAft>
              <a:buClr>
                <a:schemeClr val="dk1"/>
              </a:buClr>
              <a:buSzPts val="1800"/>
              <a:buFont typeface="Open Sans"/>
              <a:buChar char="●"/>
            </a:pPr>
            <a:r>
              <a:rPr lang="es" sz="1800">
                <a:solidFill>
                  <a:schemeClr val="dk1"/>
                </a:solidFill>
                <a:latin typeface="Open Sans"/>
                <a:ea typeface="Open Sans"/>
                <a:cs typeface="Open Sans"/>
                <a:sym typeface="Open Sans"/>
              </a:rPr>
              <a:t>⍴=Corr(X,Y)=0</a:t>
            </a:r>
            <a:endParaRPr sz="1800">
              <a:solidFill>
                <a:schemeClr val="dk1"/>
              </a:solidFill>
              <a:latin typeface="Open Sans"/>
              <a:ea typeface="Open Sans"/>
              <a:cs typeface="Open Sans"/>
              <a:sym typeface="Open Sans"/>
            </a:endParaRPr>
          </a:p>
          <a:p>
            <a:pPr marL="457200" lvl="0" indent="0" algn="just" rtl="0">
              <a:spcBef>
                <a:spcPts val="0"/>
              </a:spcBef>
              <a:spcAft>
                <a:spcPts val="0"/>
              </a:spcAft>
              <a:buNone/>
            </a:pPr>
            <a:endParaRPr sz="1800">
              <a:solidFill>
                <a:schemeClr val="dk1"/>
              </a:solidFill>
              <a:latin typeface="Open Sans"/>
              <a:ea typeface="Open Sans"/>
              <a:cs typeface="Open Sans"/>
              <a:sym typeface="Open Sans"/>
            </a:endParaRPr>
          </a:p>
          <a:p>
            <a:pPr marL="457200" lvl="0" indent="-342900" algn="just" rtl="0">
              <a:spcBef>
                <a:spcPts val="0"/>
              </a:spcBef>
              <a:spcAft>
                <a:spcPts val="0"/>
              </a:spcAft>
              <a:buClr>
                <a:schemeClr val="dk1"/>
              </a:buClr>
              <a:buSzPts val="1800"/>
              <a:buFont typeface="Open Sans"/>
              <a:buChar char="●"/>
            </a:pPr>
            <a:r>
              <a:rPr lang="es" sz="1800">
                <a:solidFill>
                  <a:schemeClr val="dk1"/>
                </a:solidFill>
                <a:latin typeface="Open Sans"/>
                <a:ea typeface="Open Sans"/>
                <a:cs typeface="Open Sans"/>
                <a:sym typeface="Open Sans"/>
              </a:rPr>
              <a:t>Var(X+Y)=Var(X)+Var(Y)</a:t>
            </a:r>
            <a:r>
              <a:rPr lang="es" sz="1800">
                <a:latin typeface="Open Sans"/>
                <a:ea typeface="Open Sans"/>
                <a:cs typeface="Open Sans"/>
                <a:sym typeface="Open Sans"/>
              </a:rPr>
              <a:t>.  </a:t>
            </a:r>
            <a:endParaRPr sz="1800">
              <a:latin typeface="Open Sans"/>
              <a:ea typeface="Open Sans"/>
              <a:cs typeface="Open Sans"/>
              <a:sym typeface="Open Sans"/>
            </a:endParaRPr>
          </a:p>
          <a:p>
            <a:pPr marL="0" lvl="0" indent="0" algn="r" rtl="0">
              <a:spcBef>
                <a:spcPts val="0"/>
              </a:spcBef>
              <a:spcAft>
                <a:spcPts val="0"/>
              </a:spcAft>
              <a:buNone/>
            </a:pPr>
            <a:endParaRPr>
              <a:solidFill>
                <a:srgbClr val="1B786E"/>
              </a:solidFill>
              <a:latin typeface="Open Sans"/>
              <a:ea typeface="Open Sans"/>
              <a:cs typeface="Open Sans"/>
              <a:sym typeface="Open Sans"/>
            </a:endParaRPr>
          </a:p>
        </p:txBody>
      </p:sp>
      <p:sp>
        <p:nvSpPr>
          <p:cNvPr id="155" name="Google Shape;155;p26"/>
          <p:cNvSpPr txBox="1"/>
          <p:nvPr/>
        </p:nvSpPr>
        <p:spPr>
          <a:xfrm>
            <a:off x="4405675" y="2675125"/>
            <a:ext cx="3467400" cy="2054100"/>
          </a:xfrm>
          <a:prstGeom prst="rect">
            <a:avLst/>
          </a:prstGeom>
          <a:noFill/>
          <a:ln>
            <a:noFill/>
          </a:ln>
        </p:spPr>
        <p:txBody>
          <a:bodyPr spcFirstLastPara="1" wrap="square" lIns="91425" tIns="91425" rIns="91425" bIns="91425" anchor="t" anchorCtr="0">
            <a:noAutofit/>
          </a:bodyPr>
          <a:lstStyle/>
          <a:p>
            <a:pPr marL="457200" lvl="0" indent="-342900" algn="just" rtl="0">
              <a:spcBef>
                <a:spcPts val="0"/>
              </a:spcBef>
              <a:spcAft>
                <a:spcPts val="0"/>
              </a:spcAft>
              <a:buClr>
                <a:schemeClr val="dk1"/>
              </a:buClr>
              <a:buSzPts val="1800"/>
              <a:buFont typeface="Open Sans"/>
              <a:buChar char="●"/>
            </a:pPr>
            <a:r>
              <a:rPr lang="es" sz="1800">
                <a:solidFill>
                  <a:schemeClr val="dk1"/>
                </a:solidFill>
                <a:latin typeface="Open Sans"/>
                <a:ea typeface="Open Sans"/>
                <a:cs typeface="Open Sans"/>
                <a:sym typeface="Open Sans"/>
              </a:rPr>
              <a:t>P(X=x, Y=y)=P(X=x). P(Y=y) ,</a:t>
            </a:r>
            <a:endParaRPr sz="1800">
              <a:solidFill>
                <a:schemeClr val="dk1"/>
              </a:solidFill>
              <a:latin typeface="Open Sans"/>
              <a:ea typeface="Open Sans"/>
              <a:cs typeface="Open Sans"/>
              <a:sym typeface="Open Sans"/>
            </a:endParaRPr>
          </a:p>
          <a:p>
            <a:pPr marL="457200" lvl="0" indent="0" algn="just" rtl="0">
              <a:spcBef>
                <a:spcPts val="0"/>
              </a:spcBef>
              <a:spcAft>
                <a:spcPts val="0"/>
              </a:spcAft>
              <a:buNone/>
            </a:pPr>
            <a:endParaRPr sz="1800">
              <a:solidFill>
                <a:schemeClr val="dk1"/>
              </a:solidFill>
              <a:latin typeface="Open Sans"/>
              <a:ea typeface="Open Sans"/>
              <a:cs typeface="Open Sans"/>
              <a:sym typeface="Open Sans"/>
            </a:endParaRPr>
          </a:p>
          <a:p>
            <a:pPr marL="457200" lvl="0" indent="-342900" algn="just" rtl="0">
              <a:spcBef>
                <a:spcPts val="0"/>
              </a:spcBef>
              <a:spcAft>
                <a:spcPts val="0"/>
              </a:spcAft>
              <a:buClr>
                <a:schemeClr val="dk1"/>
              </a:buClr>
              <a:buSzPts val="1800"/>
              <a:buFont typeface="Open Sans"/>
              <a:buChar char="●"/>
            </a:pPr>
            <a:r>
              <a:rPr lang="es" sz="1800">
                <a:solidFill>
                  <a:schemeClr val="dk1"/>
                </a:solidFill>
                <a:latin typeface="Open Sans"/>
                <a:ea typeface="Open Sans"/>
                <a:cs typeface="Open Sans"/>
                <a:sym typeface="Open Sans"/>
              </a:rPr>
              <a:t>P(X=x|Y=y)=P(X=x) ,</a:t>
            </a:r>
            <a:endParaRPr sz="1800">
              <a:solidFill>
                <a:schemeClr val="dk1"/>
              </a:solidFill>
              <a:latin typeface="Open Sans"/>
              <a:ea typeface="Open Sans"/>
              <a:cs typeface="Open Sans"/>
              <a:sym typeface="Open Sans"/>
            </a:endParaRPr>
          </a:p>
          <a:p>
            <a:pPr marL="457200" lvl="0" indent="0" algn="just" rtl="0">
              <a:spcBef>
                <a:spcPts val="0"/>
              </a:spcBef>
              <a:spcAft>
                <a:spcPts val="0"/>
              </a:spcAft>
              <a:buClr>
                <a:schemeClr val="dk1"/>
              </a:buClr>
              <a:buSzPts val="1100"/>
              <a:buFont typeface="Arial"/>
              <a:buNone/>
            </a:pPr>
            <a:endParaRPr sz="1800">
              <a:solidFill>
                <a:schemeClr val="dk1"/>
              </a:solidFill>
              <a:latin typeface="Open Sans"/>
              <a:ea typeface="Open Sans"/>
              <a:cs typeface="Open Sans"/>
              <a:sym typeface="Open Sans"/>
            </a:endParaRPr>
          </a:p>
          <a:p>
            <a:pPr marL="457200" lvl="0" indent="-342900" algn="just" rtl="0">
              <a:spcBef>
                <a:spcPts val="0"/>
              </a:spcBef>
              <a:spcAft>
                <a:spcPts val="0"/>
              </a:spcAft>
              <a:buClr>
                <a:schemeClr val="dk1"/>
              </a:buClr>
              <a:buSzPts val="1800"/>
              <a:buFont typeface="Open Sans"/>
              <a:buChar char="●"/>
            </a:pPr>
            <a:endParaRPr>
              <a:latin typeface="Open Sans"/>
              <a:ea typeface="Open Sans"/>
              <a:cs typeface="Open Sans"/>
              <a:sym typeface="Open Sans"/>
            </a:endParaRPr>
          </a:p>
          <a:p>
            <a:pPr marL="457200" lvl="0" indent="0" algn="just" rtl="0">
              <a:spcBef>
                <a:spcPts val="0"/>
              </a:spcBef>
              <a:spcAft>
                <a:spcPts val="0"/>
              </a:spcAft>
              <a:buNone/>
            </a:pPr>
            <a:endParaRPr>
              <a:latin typeface="Open Sans"/>
              <a:ea typeface="Open Sans"/>
              <a:cs typeface="Open Sans"/>
              <a:sym typeface="Open Sans"/>
            </a:endParaRPr>
          </a:p>
          <a:p>
            <a:pPr marL="457200" lvl="0" indent="-342900" algn="just" rtl="0">
              <a:spcBef>
                <a:spcPts val="0"/>
              </a:spcBef>
              <a:spcAft>
                <a:spcPts val="0"/>
              </a:spcAft>
              <a:buClr>
                <a:schemeClr val="dk1"/>
              </a:buClr>
              <a:buSzPts val="1800"/>
              <a:buFont typeface="Open Sans"/>
              <a:buChar char="●"/>
            </a:pPr>
            <a:endParaRPr>
              <a:latin typeface="Open Sans"/>
              <a:ea typeface="Open Sans"/>
              <a:cs typeface="Open Sans"/>
              <a:sym typeface="Open Sans"/>
            </a:endParaRPr>
          </a:p>
        </p:txBody>
      </p:sp>
      <p:pic>
        <p:nvPicPr>
          <p:cNvPr id="156" name="Google Shape;156;p26"/>
          <p:cNvPicPr preferRelativeResize="0"/>
          <p:nvPr/>
        </p:nvPicPr>
        <p:blipFill>
          <a:blip r:embed="rId3">
            <a:alphaModFix/>
          </a:blip>
          <a:stretch>
            <a:fillRect/>
          </a:stretch>
        </p:blipFill>
        <p:spPr>
          <a:xfrm>
            <a:off x="4917925" y="3847200"/>
            <a:ext cx="2756425" cy="302525"/>
          </a:xfrm>
          <a:prstGeom prst="rect">
            <a:avLst/>
          </a:prstGeom>
          <a:noFill/>
          <a:ln>
            <a:noFill/>
          </a:ln>
        </p:spPr>
      </p:pic>
      <p:pic>
        <p:nvPicPr>
          <p:cNvPr id="157" name="Google Shape;157;p26"/>
          <p:cNvPicPr preferRelativeResize="0"/>
          <p:nvPr/>
        </p:nvPicPr>
        <p:blipFill>
          <a:blip r:embed="rId4">
            <a:alphaModFix/>
          </a:blip>
          <a:stretch>
            <a:fillRect/>
          </a:stretch>
        </p:blipFill>
        <p:spPr>
          <a:xfrm>
            <a:off x="4946325" y="4320050"/>
            <a:ext cx="3964375" cy="59291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7"/>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s"/>
              <a:t>Covarianza en gráficos</a:t>
            </a:r>
            <a:endParaRPr/>
          </a:p>
        </p:txBody>
      </p:sp>
      <p:pic>
        <p:nvPicPr>
          <p:cNvPr id="163" name="Google Shape;163;p27"/>
          <p:cNvPicPr preferRelativeResize="0"/>
          <p:nvPr/>
        </p:nvPicPr>
        <p:blipFill>
          <a:blip r:embed="rId3">
            <a:alphaModFix/>
          </a:blip>
          <a:stretch>
            <a:fillRect/>
          </a:stretch>
        </p:blipFill>
        <p:spPr>
          <a:xfrm>
            <a:off x="311697" y="1225222"/>
            <a:ext cx="4441249" cy="2357875"/>
          </a:xfrm>
          <a:prstGeom prst="rect">
            <a:avLst/>
          </a:prstGeom>
          <a:noFill/>
          <a:ln>
            <a:noFill/>
          </a:ln>
        </p:spPr>
      </p:pic>
      <p:pic>
        <p:nvPicPr>
          <p:cNvPr id="164" name="Google Shape;164;p27"/>
          <p:cNvPicPr preferRelativeResize="0"/>
          <p:nvPr/>
        </p:nvPicPr>
        <p:blipFill>
          <a:blip r:embed="rId4">
            <a:alphaModFix/>
          </a:blip>
          <a:stretch>
            <a:fillRect/>
          </a:stretch>
        </p:blipFill>
        <p:spPr>
          <a:xfrm>
            <a:off x="4862121" y="2077650"/>
            <a:ext cx="4086254" cy="2651252"/>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Google Shape;169;p28"/>
          <p:cNvPicPr preferRelativeResize="0"/>
          <p:nvPr/>
        </p:nvPicPr>
        <p:blipFill>
          <a:blip r:embed="rId3">
            <a:alphaModFix/>
          </a:blip>
          <a:stretch>
            <a:fillRect/>
          </a:stretch>
        </p:blipFill>
        <p:spPr>
          <a:xfrm>
            <a:off x="5900100" y="1202125"/>
            <a:ext cx="2253300" cy="2684075"/>
          </a:xfrm>
          <a:prstGeom prst="rect">
            <a:avLst/>
          </a:prstGeom>
          <a:noFill/>
          <a:ln>
            <a:noFill/>
          </a:ln>
        </p:spPr>
      </p:pic>
      <p:sp>
        <p:nvSpPr>
          <p:cNvPr id="170" name="Google Shape;170;p28"/>
          <p:cNvSpPr txBox="1">
            <a:spLocks noGrp="1"/>
          </p:cNvSpPr>
          <p:nvPr>
            <p:ph type="title"/>
          </p:nvPr>
        </p:nvSpPr>
        <p:spPr>
          <a:xfrm>
            <a:off x="311700" y="316800"/>
            <a:ext cx="82500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Ejemplo: distribución Normal bivariada</a:t>
            </a:r>
            <a:endParaRPr/>
          </a:p>
        </p:txBody>
      </p:sp>
      <p:pic>
        <p:nvPicPr>
          <p:cNvPr id="171" name="Google Shape;171;p28"/>
          <p:cNvPicPr preferRelativeResize="0"/>
          <p:nvPr/>
        </p:nvPicPr>
        <p:blipFill>
          <a:blip r:embed="rId4">
            <a:alphaModFix/>
          </a:blip>
          <a:stretch>
            <a:fillRect/>
          </a:stretch>
        </p:blipFill>
        <p:spPr>
          <a:xfrm>
            <a:off x="1138500" y="1682100"/>
            <a:ext cx="3048000" cy="2286000"/>
          </a:xfrm>
          <a:prstGeom prst="rect">
            <a:avLst/>
          </a:prstGeom>
          <a:noFill/>
          <a:ln>
            <a:noFill/>
          </a:ln>
        </p:spPr>
      </p:pic>
      <p:pic>
        <p:nvPicPr>
          <p:cNvPr id="172" name="Google Shape;172;p28"/>
          <p:cNvPicPr preferRelativeResize="0"/>
          <p:nvPr/>
        </p:nvPicPr>
        <p:blipFill>
          <a:blip r:embed="rId5">
            <a:alphaModFix/>
          </a:blip>
          <a:stretch>
            <a:fillRect/>
          </a:stretch>
        </p:blipFill>
        <p:spPr>
          <a:xfrm>
            <a:off x="1161684" y="3735900"/>
            <a:ext cx="7850316" cy="755700"/>
          </a:xfrm>
          <a:prstGeom prst="rect">
            <a:avLst/>
          </a:prstGeom>
          <a:noFill/>
          <a:ln>
            <a:noFill/>
          </a:ln>
        </p:spPr>
      </p:pic>
      <p:sp>
        <p:nvSpPr>
          <p:cNvPr id="173" name="Google Shape;173;p28"/>
          <p:cNvSpPr txBox="1"/>
          <p:nvPr/>
        </p:nvSpPr>
        <p:spPr>
          <a:xfrm>
            <a:off x="467725" y="1022825"/>
            <a:ext cx="8494200" cy="192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000" b="1">
                <a:solidFill>
                  <a:srgbClr val="1B786E"/>
                </a:solidFill>
                <a:latin typeface="Open Sans"/>
                <a:ea typeface="Open Sans"/>
                <a:cs typeface="Open Sans"/>
                <a:sym typeface="Open Sans"/>
              </a:rPr>
              <a:t>Diremos que el par (X, Y) de</a:t>
            </a:r>
            <a:r>
              <a:rPr lang="es" sz="1800" b="1">
                <a:solidFill>
                  <a:srgbClr val="1B786E"/>
                </a:solidFill>
                <a:latin typeface="Open Sans"/>
                <a:ea typeface="Open Sans"/>
                <a:cs typeface="Open Sans"/>
                <a:sym typeface="Open Sans"/>
              </a:rPr>
              <a:t> </a:t>
            </a:r>
            <a:r>
              <a:rPr lang="es" sz="2000" b="1">
                <a:solidFill>
                  <a:srgbClr val="1B786E"/>
                </a:solidFill>
                <a:latin typeface="Open Sans"/>
                <a:ea typeface="Open Sans"/>
                <a:cs typeface="Open Sans"/>
                <a:sym typeface="Open Sans"/>
              </a:rPr>
              <a:t> v.a. </a:t>
            </a:r>
            <a:r>
              <a:rPr lang="es" sz="2000">
                <a:latin typeface="Open Sans"/>
                <a:ea typeface="Open Sans"/>
                <a:cs typeface="Open Sans"/>
                <a:sym typeface="Open Sans"/>
              </a:rPr>
              <a:t> tiene distribución normal bivariada si función de densidad conjunta es:</a:t>
            </a:r>
            <a:endParaRPr sz="2000">
              <a:latin typeface="Open Sans"/>
              <a:ea typeface="Open Sans"/>
              <a:cs typeface="Open Sans"/>
              <a:sym typeface="Open Sans"/>
            </a:endParaRPr>
          </a:p>
          <a:p>
            <a:pPr marL="0" lvl="0" indent="0" algn="l" rtl="0">
              <a:spcBef>
                <a:spcPts val="0"/>
              </a:spcBef>
              <a:spcAft>
                <a:spcPts val="0"/>
              </a:spcAft>
              <a:buNone/>
            </a:pPr>
            <a:endParaRPr sz="2000">
              <a:latin typeface="Open Sans"/>
              <a:ea typeface="Open Sans"/>
              <a:cs typeface="Open Sans"/>
              <a:sym typeface="Open Sans"/>
            </a:endParaRPr>
          </a:p>
          <a:p>
            <a:pPr marL="0" lvl="0" indent="0" algn="r" rtl="0">
              <a:spcBef>
                <a:spcPts val="0"/>
              </a:spcBef>
              <a:spcAft>
                <a:spcPts val="0"/>
              </a:spcAft>
              <a:buNone/>
            </a:pPr>
            <a:endParaRPr>
              <a:solidFill>
                <a:srgbClr val="1B786E"/>
              </a:solidFill>
              <a:latin typeface="Open Sans"/>
              <a:ea typeface="Open Sans"/>
              <a:cs typeface="Open Sans"/>
              <a:sym typeface="Open Sans"/>
            </a:endParaRPr>
          </a:p>
        </p:txBody>
      </p:sp>
      <p:sp>
        <p:nvSpPr>
          <p:cNvPr id="174" name="Google Shape;174;p28"/>
          <p:cNvSpPr txBox="1"/>
          <p:nvPr/>
        </p:nvSpPr>
        <p:spPr>
          <a:xfrm>
            <a:off x="455800" y="3858300"/>
            <a:ext cx="951600" cy="48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i="1">
                <a:solidFill>
                  <a:schemeClr val="dk1"/>
                </a:solidFill>
                <a:latin typeface="Open Sans"/>
                <a:ea typeface="Open Sans"/>
                <a:cs typeface="Open Sans"/>
                <a:sym typeface="Open Sans"/>
              </a:rPr>
              <a:t>f(x,y)=</a:t>
            </a:r>
            <a:endParaRPr sz="1800">
              <a:latin typeface="Open Sans"/>
              <a:ea typeface="Open Sans"/>
              <a:cs typeface="Open Sans"/>
              <a:sym typeface="Open Sans"/>
            </a:endParaRPr>
          </a:p>
        </p:txBody>
      </p:sp>
      <p:sp>
        <p:nvSpPr>
          <p:cNvPr id="175" name="Google Shape;175;p28"/>
          <p:cNvSpPr txBox="1"/>
          <p:nvPr/>
        </p:nvSpPr>
        <p:spPr>
          <a:xfrm>
            <a:off x="164700" y="4421525"/>
            <a:ext cx="5028300" cy="307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a:solidFill>
                  <a:schemeClr val="dk1"/>
                </a:solidFill>
                <a:latin typeface="Open Sans"/>
                <a:ea typeface="Open Sans"/>
                <a:cs typeface="Open Sans"/>
                <a:sym typeface="Open Sans"/>
              </a:rPr>
              <a:t>μ</a:t>
            </a:r>
            <a:r>
              <a:rPr lang="es" sz="1800" baseline="-25000">
                <a:solidFill>
                  <a:schemeClr val="dk1"/>
                </a:solidFill>
                <a:latin typeface="Open Sans"/>
                <a:ea typeface="Open Sans"/>
                <a:cs typeface="Open Sans"/>
                <a:sym typeface="Open Sans"/>
              </a:rPr>
              <a:t>1</a:t>
            </a:r>
            <a:r>
              <a:rPr lang="es" sz="1800">
                <a:latin typeface="Open Sans"/>
                <a:ea typeface="Open Sans"/>
                <a:cs typeface="Open Sans"/>
                <a:sym typeface="Open Sans"/>
              </a:rPr>
              <a:t>= E(X),   </a:t>
            </a:r>
            <a:r>
              <a:rPr lang="es" sz="1800">
                <a:solidFill>
                  <a:schemeClr val="dk1"/>
                </a:solidFill>
                <a:latin typeface="Open Sans"/>
                <a:ea typeface="Open Sans"/>
                <a:cs typeface="Open Sans"/>
                <a:sym typeface="Open Sans"/>
              </a:rPr>
              <a:t>μ</a:t>
            </a:r>
            <a:r>
              <a:rPr lang="es" sz="1800" baseline="-25000">
                <a:solidFill>
                  <a:schemeClr val="dk1"/>
                </a:solidFill>
                <a:latin typeface="Open Sans"/>
                <a:ea typeface="Open Sans"/>
                <a:cs typeface="Open Sans"/>
                <a:sym typeface="Open Sans"/>
              </a:rPr>
              <a:t>2</a:t>
            </a:r>
            <a:r>
              <a:rPr lang="es" sz="1800">
                <a:latin typeface="Open Sans"/>
                <a:ea typeface="Open Sans"/>
                <a:cs typeface="Open Sans"/>
                <a:sym typeface="Open Sans"/>
              </a:rPr>
              <a:t>= E(Y) ,  σ</a:t>
            </a:r>
            <a:r>
              <a:rPr lang="es" sz="1800" baseline="-25000">
                <a:solidFill>
                  <a:schemeClr val="dk1"/>
                </a:solidFill>
                <a:latin typeface="Open Sans"/>
                <a:ea typeface="Open Sans"/>
                <a:cs typeface="Open Sans"/>
                <a:sym typeface="Open Sans"/>
              </a:rPr>
              <a:t>1</a:t>
            </a:r>
            <a:r>
              <a:rPr lang="es" sz="1800" baseline="30000">
                <a:solidFill>
                  <a:schemeClr val="dk1"/>
                </a:solidFill>
                <a:latin typeface="Open Sans"/>
                <a:ea typeface="Open Sans"/>
                <a:cs typeface="Open Sans"/>
                <a:sym typeface="Open Sans"/>
              </a:rPr>
              <a:t>2</a:t>
            </a:r>
            <a:r>
              <a:rPr lang="es" sz="1800">
                <a:latin typeface="Open Sans"/>
                <a:ea typeface="Open Sans"/>
                <a:cs typeface="Open Sans"/>
                <a:sym typeface="Open Sans"/>
              </a:rPr>
              <a:t>= Var(X),  </a:t>
            </a:r>
            <a:r>
              <a:rPr lang="es" sz="1800">
                <a:solidFill>
                  <a:schemeClr val="dk1"/>
                </a:solidFill>
                <a:latin typeface="Open Sans"/>
                <a:ea typeface="Open Sans"/>
                <a:cs typeface="Open Sans"/>
                <a:sym typeface="Open Sans"/>
              </a:rPr>
              <a:t>σ</a:t>
            </a:r>
            <a:r>
              <a:rPr lang="es" sz="1800" baseline="-25000">
                <a:solidFill>
                  <a:schemeClr val="dk1"/>
                </a:solidFill>
                <a:latin typeface="Open Sans"/>
                <a:ea typeface="Open Sans"/>
                <a:cs typeface="Open Sans"/>
                <a:sym typeface="Open Sans"/>
              </a:rPr>
              <a:t>2</a:t>
            </a:r>
            <a:r>
              <a:rPr lang="es" sz="1800" baseline="30000">
                <a:solidFill>
                  <a:schemeClr val="dk1"/>
                </a:solidFill>
                <a:latin typeface="Open Sans"/>
                <a:ea typeface="Open Sans"/>
                <a:cs typeface="Open Sans"/>
                <a:sym typeface="Open Sans"/>
              </a:rPr>
              <a:t>2</a:t>
            </a:r>
            <a:r>
              <a:rPr lang="es" sz="1800">
                <a:latin typeface="Open Sans"/>
                <a:ea typeface="Open Sans"/>
                <a:cs typeface="Open Sans"/>
                <a:sym typeface="Open Sans"/>
              </a:rPr>
              <a:t>= Var(Y), </a:t>
            </a:r>
            <a:endParaRPr sz="1800">
              <a:latin typeface="Open Sans"/>
              <a:ea typeface="Open Sans"/>
              <a:cs typeface="Open Sans"/>
              <a:sym typeface="Open Sans"/>
            </a:endParaRPr>
          </a:p>
        </p:txBody>
      </p:sp>
      <p:pic>
        <p:nvPicPr>
          <p:cNvPr id="176" name="Google Shape;176;p28"/>
          <p:cNvPicPr preferRelativeResize="0"/>
          <p:nvPr/>
        </p:nvPicPr>
        <p:blipFill>
          <a:blip r:embed="rId6">
            <a:alphaModFix/>
          </a:blip>
          <a:stretch>
            <a:fillRect/>
          </a:stretch>
        </p:blipFill>
        <p:spPr>
          <a:xfrm>
            <a:off x="5075049" y="4421524"/>
            <a:ext cx="3233025" cy="5915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9"/>
          <p:cNvSpPr txBox="1">
            <a:spLocks noGrp="1"/>
          </p:cNvSpPr>
          <p:nvPr>
            <p:ph type="title"/>
          </p:nvPr>
        </p:nvSpPr>
        <p:spPr>
          <a:xfrm>
            <a:off x="311700" y="316800"/>
            <a:ext cx="82500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Ejemplo: distribución Normal bivariada</a:t>
            </a:r>
            <a:endParaRPr/>
          </a:p>
        </p:txBody>
      </p:sp>
      <p:pic>
        <p:nvPicPr>
          <p:cNvPr id="182" name="Google Shape;182;p29"/>
          <p:cNvPicPr preferRelativeResize="0"/>
          <p:nvPr/>
        </p:nvPicPr>
        <p:blipFill>
          <a:blip r:embed="rId3">
            <a:alphaModFix/>
          </a:blip>
          <a:stretch>
            <a:fillRect/>
          </a:stretch>
        </p:blipFill>
        <p:spPr>
          <a:xfrm>
            <a:off x="6098700" y="1611375"/>
            <a:ext cx="2015925" cy="1511950"/>
          </a:xfrm>
          <a:prstGeom prst="rect">
            <a:avLst/>
          </a:prstGeom>
          <a:noFill/>
          <a:ln>
            <a:noFill/>
          </a:ln>
        </p:spPr>
      </p:pic>
      <p:pic>
        <p:nvPicPr>
          <p:cNvPr id="183" name="Google Shape;183;p29"/>
          <p:cNvPicPr preferRelativeResize="0"/>
          <p:nvPr/>
        </p:nvPicPr>
        <p:blipFill>
          <a:blip r:embed="rId4">
            <a:alphaModFix/>
          </a:blip>
          <a:stretch>
            <a:fillRect/>
          </a:stretch>
        </p:blipFill>
        <p:spPr>
          <a:xfrm>
            <a:off x="762000" y="3240226"/>
            <a:ext cx="8249999" cy="794174"/>
          </a:xfrm>
          <a:prstGeom prst="rect">
            <a:avLst/>
          </a:prstGeom>
          <a:noFill/>
          <a:ln>
            <a:noFill/>
          </a:ln>
        </p:spPr>
      </p:pic>
      <p:sp>
        <p:nvSpPr>
          <p:cNvPr id="184" name="Google Shape;184;p29"/>
          <p:cNvSpPr txBox="1"/>
          <p:nvPr/>
        </p:nvSpPr>
        <p:spPr>
          <a:xfrm>
            <a:off x="467725" y="1022825"/>
            <a:ext cx="8494200" cy="192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000" b="1">
                <a:solidFill>
                  <a:srgbClr val="1B786E"/>
                </a:solidFill>
                <a:latin typeface="Open Sans"/>
                <a:ea typeface="Open Sans"/>
                <a:cs typeface="Open Sans"/>
                <a:sym typeface="Open Sans"/>
              </a:rPr>
              <a:t>X e Y  v.a.  </a:t>
            </a:r>
            <a:r>
              <a:rPr lang="es" sz="2000">
                <a:latin typeface="Open Sans"/>
                <a:ea typeface="Open Sans"/>
                <a:cs typeface="Open Sans"/>
                <a:sym typeface="Open Sans"/>
              </a:rPr>
              <a:t>con distribución normal bivariada son independientes si y sólo si ⍴=0 si y sólo si Cov(X,Y)=0</a:t>
            </a:r>
            <a:endParaRPr sz="2000">
              <a:latin typeface="Open Sans"/>
              <a:ea typeface="Open Sans"/>
              <a:cs typeface="Open Sans"/>
              <a:sym typeface="Open Sans"/>
            </a:endParaRPr>
          </a:p>
          <a:p>
            <a:pPr marL="0" lvl="0" indent="0" algn="r" rtl="0">
              <a:spcBef>
                <a:spcPts val="0"/>
              </a:spcBef>
              <a:spcAft>
                <a:spcPts val="0"/>
              </a:spcAft>
              <a:buNone/>
            </a:pPr>
            <a:endParaRPr>
              <a:solidFill>
                <a:srgbClr val="1B786E"/>
              </a:solidFill>
              <a:latin typeface="Open Sans"/>
              <a:ea typeface="Open Sans"/>
              <a:cs typeface="Open Sans"/>
              <a:sym typeface="Open Sans"/>
            </a:endParaRPr>
          </a:p>
        </p:txBody>
      </p:sp>
      <p:sp>
        <p:nvSpPr>
          <p:cNvPr id="185" name="Google Shape;185;p29"/>
          <p:cNvSpPr txBox="1"/>
          <p:nvPr/>
        </p:nvSpPr>
        <p:spPr>
          <a:xfrm>
            <a:off x="74800" y="3366625"/>
            <a:ext cx="915900" cy="59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i="1">
                <a:solidFill>
                  <a:schemeClr val="dk1"/>
                </a:solidFill>
                <a:latin typeface="Open Sans"/>
                <a:ea typeface="Open Sans"/>
                <a:cs typeface="Open Sans"/>
                <a:sym typeface="Open Sans"/>
              </a:rPr>
              <a:t>f(x,y)=</a:t>
            </a:r>
            <a:endParaRPr sz="1800">
              <a:latin typeface="Open Sans"/>
              <a:ea typeface="Open Sans"/>
              <a:cs typeface="Open Sans"/>
              <a:sym typeface="Open Sans"/>
            </a:endParaRPr>
          </a:p>
        </p:txBody>
      </p:sp>
      <p:pic>
        <p:nvPicPr>
          <p:cNvPr id="186" name="Google Shape;186;p29"/>
          <p:cNvPicPr preferRelativeResize="0"/>
          <p:nvPr/>
        </p:nvPicPr>
        <p:blipFill>
          <a:blip r:embed="rId5">
            <a:alphaModFix/>
          </a:blip>
          <a:stretch>
            <a:fillRect/>
          </a:stretch>
        </p:blipFill>
        <p:spPr>
          <a:xfrm>
            <a:off x="605299" y="2250924"/>
            <a:ext cx="3233025" cy="591575"/>
          </a:xfrm>
          <a:prstGeom prst="rect">
            <a:avLst/>
          </a:prstGeom>
          <a:noFill/>
          <a:ln>
            <a:noFill/>
          </a:ln>
        </p:spPr>
      </p:pic>
      <p:pic>
        <p:nvPicPr>
          <p:cNvPr id="187" name="Google Shape;187;p29"/>
          <p:cNvPicPr preferRelativeResize="0"/>
          <p:nvPr/>
        </p:nvPicPr>
        <p:blipFill>
          <a:blip r:embed="rId6">
            <a:alphaModFix/>
          </a:blip>
          <a:stretch>
            <a:fillRect/>
          </a:stretch>
        </p:blipFill>
        <p:spPr>
          <a:xfrm>
            <a:off x="685800" y="4170925"/>
            <a:ext cx="7510458" cy="591575"/>
          </a:xfrm>
          <a:prstGeom prst="rect">
            <a:avLst/>
          </a:prstGeom>
          <a:noFill/>
          <a:ln>
            <a:noFill/>
          </a:ln>
        </p:spPr>
      </p:pic>
      <p:sp>
        <p:nvSpPr>
          <p:cNvPr id="188" name="Google Shape;188;p29"/>
          <p:cNvSpPr txBox="1"/>
          <p:nvPr/>
        </p:nvSpPr>
        <p:spPr>
          <a:xfrm>
            <a:off x="74800" y="4204825"/>
            <a:ext cx="915900" cy="59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800" i="1">
                <a:solidFill>
                  <a:schemeClr val="dk1"/>
                </a:solidFill>
                <a:latin typeface="Open Sans"/>
                <a:ea typeface="Open Sans"/>
                <a:cs typeface="Open Sans"/>
                <a:sym typeface="Open Sans"/>
              </a:rPr>
              <a:t>f(x,y)</a:t>
            </a:r>
            <a:endParaRPr sz="1800">
              <a:latin typeface="Open Sans"/>
              <a:ea typeface="Open Sans"/>
              <a:cs typeface="Open Sans"/>
              <a:sym typeface="Open Sans"/>
            </a:endParaRPr>
          </a:p>
        </p:txBody>
      </p:sp>
      <p:sp>
        <p:nvSpPr>
          <p:cNvPr id="189" name="Google Shape;189;p29"/>
          <p:cNvSpPr txBox="1"/>
          <p:nvPr/>
        </p:nvSpPr>
        <p:spPr>
          <a:xfrm>
            <a:off x="3962400" y="2286000"/>
            <a:ext cx="838200" cy="59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000">
                <a:solidFill>
                  <a:schemeClr val="dk1"/>
                </a:solidFill>
                <a:latin typeface="Open Sans"/>
                <a:ea typeface="Open Sans"/>
                <a:cs typeface="Open Sans"/>
                <a:sym typeface="Open Sans"/>
              </a:rPr>
              <a:t>=0</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0"/>
          <p:cNvSpPr txBox="1">
            <a:spLocks noGrp="1"/>
          </p:cNvSpPr>
          <p:nvPr>
            <p:ph type="title"/>
          </p:nvPr>
        </p:nvSpPr>
        <p:spPr>
          <a:xfrm>
            <a:off x="311700" y="316800"/>
            <a:ext cx="82500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Datos con distribución Normal bivariada</a:t>
            </a:r>
            <a:endParaRPr/>
          </a:p>
        </p:txBody>
      </p:sp>
      <p:pic>
        <p:nvPicPr>
          <p:cNvPr id="195" name="Google Shape;195;p30"/>
          <p:cNvPicPr preferRelativeResize="0"/>
          <p:nvPr/>
        </p:nvPicPr>
        <p:blipFill>
          <a:blip r:embed="rId3">
            <a:alphaModFix/>
          </a:blip>
          <a:stretch>
            <a:fillRect/>
          </a:stretch>
        </p:blipFill>
        <p:spPr>
          <a:xfrm>
            <a:off x="838200" y="1072500"/>
            <a:ext cx="6527497" cy="3766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1"/>
          <p:cNvSpPr txBox="1">
            <a:spLocks noGrp="1"/>
          </p:cNvSpPr>
          <p:nvPr>
            <p:ph type="title"/>
          </p:nvPr>
        </p:nvSpPr>
        <p:spPr>
          <a:xfrm>
            <a:off x="311700" y="316800"/>
            <a:ext cx="8250000" cy="75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Ejemplo: Distribución Normal multivariada</a:t>
            </a:r>
            <a:endParaRPr/>
          </a:p>
        </p:txBody>
      </p:sp>
      <p:sp>
        <p:nvSpPr>
          <p:cNvPr id="201" name="Google Shape;201;p31"/>
          <p:cNvSpPr txBox="1"/>
          <p:nvPr/>
        </p:nvSpPr>
        <p:spPr>
          <a:xfrm>
            <a:off x="467725" y="1022825"/>
            <a:ext cx="8494200" cy="192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2000" b="1">
                <a:solidFill>
                  <a:srgbClr val="1B786E"/>
                </a:solidFill>
                <a:latin typeface="Open Sans"/>
                <a:ea typeface="Open Sans"/>
                <a:cs typeface="Open Sans"/>
                <a:sym typeface="Open Sans"/>
              </a:rPr>
              <a:t>Llamamos vector aleatorio a </a:t>
            </a:r>
            <a:r>
              <a:rPr lang="es" sz="2000" b="1" u="sng">
                <a:solidFill>
                  <a:srgbClr val="1B786E"/>
                </a:solidFill>
                <a:latin typeface="Open Sans"/>
                <a:ea typeface="Open Sans"/>
                <a:cs typeface="Open Sans"/>
                <a:sym typeface="Open Sans"/>
              </a:rPr>
              <a:t>Y</a:t>
            </a:r>
            <a:r>
              <a:rPr lang="es" sz="2000" b="1">
                <a:solidFill>
                  <a:srgbClr val="1B786E"/>
                </a:solidFill>
                <a:latin typeface="Open Sans"/>
                <a:ea typeface="Open Sans"/>
                <a:cs typeface="Open Sans"/>
                <a:sym typeface="Open Sans"/>
              </a:rPr>
              <a:t>=(Y</a:t>
            </a:r>
            <a:r>
              <a:rPr lang="es" sz="2000" b="1" baseline="-25000">
                <a:solidFill>
                  <a:srgbClr val="1B786E"/>
                </a:solidFill>
                <a:latin typeface="Open Sans"/>
                <a:ea typeface="Open Sans"/>
                <a:cs typeface="Open Sans"/>
                <a:sym typeface="Open Sans"/>
              </a:rPr>
              <a:t>1</a:t>
            </a:r>
            <a:r>
              <a:rPr lang="es" sz="2000" b="1">
                <a:solidFill>
                  <a:srgbClr val="1B786E"/>
                </a:solidFill>
                <a:latin typeface="Open Sans"/>
                <a:ea typeface="Open Sans"/>
                <a:cs typeface="Open Sans"/>
                <a:sym typeface="Open Sans"/>
              </a:rPr>
              <a:t>,Y</a:t>
            </a:r>
            <a:r>
              <a:rPr lang="es" sz="2000" b="1" baseline="-25000">
                <a:solidFill>
                  <a:srgbClr val="1B786E"/>
                </a:solidFill>
                <a:latin typeface="Open Sans"/>
                <a:ea typeface="Open Sans"/>
                <a:cs typeface="Open Sans"/>
                <a:sym typeface="Open Sans"/>
              </a:rPr>
              <a:t>2</a:t>
            </a:r>
            <a:r>
              <a:rPr lang="es" sz="2000" b="1">
                <a:solidFill>
                  <a:srgbClr val="1B786E"/>
                </a:solidFill>
                <a:latin typeface="Open Sans"/>
                <a:ea typeface="Open Sans"/>
                <a:cs typeface="Open Sans"/>
                <a:sym typeface="Open Sans"/>
              </a:rPr>
              <a:t>, …,Y</a:t>
            </a:r>
            <a:r>
              <a:rPr lang="es" sz="2000" b="1" baseline="-25000">
                <a:solidFill>
                  <a:srgbClr val="1B786E"/>
                </a:solidFill>
                <a:latin typeface="Open Sans"/>
                <a:ea typeface="Open Sans"/>
                <a:cs typeface="Open Sans"/>
                <a:sym typeface="Open Sans"/>
              </a:rPr>
              <a:t>n</a:t>
            </a:r>
            <a:r>
              <a:rPr lang="es" sz="2000" b="1">
                <a:solidFill>
                  <a:srgbClr val="1B786E"/>
                </a:solidFill>
                <a:latin typeface="Open Sans"/>
                <a:ea typeface="Open Sans"/>
                <a:cs typeface="Open Sans"/>
                <a:sym typeface="Open Sans"/>
              </a:rPr>
              <a:t>) o a </a:t>
            </a:r>
            <a:r>
              <a:rPr lang="es" sz="2000" b="1" u="sng">
                <a:solidFill>
                  <a:srgbClr val="1B786E"/>
                </a:solidFill>
                <a:latin typeface="Open Sans"/>
                <a:ea typeface="Open Sans"/>
                <a:cs typeface="Open Sans"/>
                <a:sym typeface="Open Sans"/>
              </a:rPr>
              <a:t>Y</a:t>
            </a:r>
            <a:r>
              <a:rPr lang="es" sz="2000" b="1">
                <a:solidFill>
                  <a:srgbClr val="1B786E"/>
                </a:solidFill>
                <a:latin typeface="Open Sans"/>
                <a:ea typeface="Open Sans"/>
                <a:cs typeface="Open Sans"/>
                <a:sym typeface="Open Sans"/>
              </a:rPr>
              <a:t>=[Y</a:t>
            </a:r>
            <a:r>
              <a:rPr lang="es" sz="2000" b="1" baseline="-25000">
                <a:solidFill>
                  <a:srgbClr val="1B786E"/>
                </a:solidFill>
                <a:latin typeface="Open Sans"/>
                <a:ea typeface="Open Sans"/>
                <a:cs typeface="Open Sans"/>
                <a:sym typeface="Open Sans"/>
              </a:rPr>
              <a:t>1</a:t>
            </a:r>
            <a:r>
              <a:rPr lang="es" sz="2000" b="1">
                <a:solidFill>
                  <a:srgbClr val="1B786E"/>
                </a:solidFill>
                <a:latin typeface="Open Sans"/>
                <a:ea typeface="Open Sans"/>
                <a:cs typeface="Open Sans"/>
                <a:sym typeface="Open Sans"/>
              </a:rPr>
              <a:t> Y</a:t>
            </a:r>
            <a:r>
              <a:rPr lang="es" sz="2000" b="1" baseline="-25000">
                <a:solidFill>
                  <a:srgbClr val="1B786E"/>
                </a:solidFill>
                <a:latin typeface="Open Sans"/>
                <a:ea typeface="Open Sans"/>
                <a:cs typeface="Open Sans"/>
                <a:sym typeface="Open Sans"/>
              </a:rPr>
              <a:t>2</a:t>
            </a:r>
            <a:r>
              <a:rPr lang="es" sz="2000" b="1">
                <a:solidFill>
                  <a:srgbClr val="1B786E"/>
                </a:solidFill>
                <a:latin typeface="Open Sans"/>
                <a:ea typeface="Open Sans"/>
                <a:cs typeface="Open Sans"/>
                <a:sym typeface="Open Sans"/>
              </a:rPr>
              <a:t> … Y</a:t>
            </a:r>
            <a:r>
              <a:rPr lang="es" sz="2000" b="1" baseline="-25000">
                <a:solidFill>
                  <a:srgbClr val="1B786E"/>
                </a:solidFill>
                <a:latin typeface="Open Sans"/>
                <a:ea typeface="Open Sans"/>
                <a:cs typeface="Open Sans"/>
                <a:sym typeface="Open Sans"/>
              </a:rPr>
              <a:t>n</a:t>
            </a:r>
            <a:r>
              <a:rPr lang="es" sz="2000" b="1">
                <a:solidFill>
                  <a:srgbClr val="1B786E"/>
                </a:solidFill>
                <a:latin typeface="Open Sans"/>
                <a:ea typeface="Open Sans"/>
                <a:cs typeface="Open Sans"/>
                <a:sym typeface="Open Sans"/>
              </a:rPr>
              <a:t>]</a:t>
            </a:r>
            <a:r>
              <a:rPr lang="es" sz="2000" b="1" baseline="30000">
                <a:solidFill>
                  <a:srgbClr val="1B786E"/>
                </a:solidFill>
                <a:latin typeface="Open Sans"/>
                <a:ea typeface="Open Sans"/>
                <a:cs typeface="Open Sans"/>
                <a:sym typeface="Open Sans"/>
              </a:rPr>
              <a:t>t</a:t>
            </a:r>
            <a:r>
              <a:rPr lang="es" sz="2000" b="1">
                <a:solidFill>
                  <a:srgbClr val="1B786E"/>
                </a:solidFill>
                <a:latin typeface="Open Sans"/>
                <a:ea typeface="Open Sans"/>
                <a:cs typeface="Open Sans"/>
                <a:sym typeface="Open Sans"/>
              </a:rPr>
              <a:t> a un arreglo de</a:t>
            </a:r>
            <a:r>
              <a:rPr lang="es" sz="1800" b="1">
                <a:solidFill>
                  <a:srgbClr val="1B786E"/>
                </a:solidFill>
                <a:latin typeface="Open Sans"/>
                <a:ea typeface="Open Sans"/>
                <a:cs typeface="Open Sans"/>
                <a:sym typeface="Open Sans"/>
              </a:rPr>
              <a:t> </a:t>
            </a:r>
            <a:r>
              <a:rPr lang="es" sz="2000" b="1">
                <a:solidFill>
                  <a:srgbClr val="1B786E"/>
                </a:solidFill>
                <a:latin typeface="Open Sans"/>
                <a:ea typeface="Open Sans"/>
                <a:cs typeface="Open Sans"/>
                <a:sym typeface="Open Sans"/>
              </a:rPr>
              <a:t> v.a. ‘s</a:t>
            </a:r>
            <a:r>
              <a:rPr lang="es" sz="2000">
                <a:latin typeface="Open Sans"/>
                <a:ea typeface="Open Sans"/>
                <a:cs typeface="Open Sans"/>
                <a:sym typeface="Open Sans"/>
              </a:rPr>
              <a:t> </a:t>
            </a:r>
            <a:endParaRPr sz="2000">
              <a:latin typeface="Open Sans"/>
              <a:ea typeface="Open Sans"/>
              <a:cs typeface="Open Sans"/>
              <a:sym typeface="Open Sans"/>
            </a:endParaRPr>
          </a:p>
          <a:p>
            <a:pPr marL="0" lvl="0" indent="0" algn="l" rtl="0">
              <a:spcBef>
                <a:spcPts val="0"/>
              </a:spcBef>
              <a:spcAft>
                <a:spcPts val="0"/>
              </a:spcAft>
              <a:buNone/>
            </a:pPr>
            <a:r>
              <a:rPr lang="es" sz="2000">
                <a:latin typeface="Open Sans"/>
                <a:ea typeface="Open Sans"/>
                <a:cs typeface="Open Sans"/>
                <a:sym typeface="Open Sans"/>
              </a:rPr>
              <a:t>Diremos que el vector </a:t>
            </a:r>
            <a:r>
              <a:rPr lang="es" sz="2000" b="1" u="sng">
                <a:solidFill>
                  <a:srgbClr val="1B786E"/>
                </a:solidFill>
                <a:latin typeface="Open Sans"/>
                <a:ea typeface="Open Sans"/>
                <a:cs typeface="Open Sans"/>
                <a:sym typeface="Open Sans"/>
              </a:rPr>
              <a:t>Y</a:t>
            </a:r>
            <a:r>
              <a:rPr lang="es" sz="2000">
                <a:latin typeface="Open Sans"/>
                <a:ea typeface="Open Sans"/>
                <a:cs typeface="Open Sans"/>
                <a:sym typeface="Open Sans"/>
              </a:rPr>
              <a:t> tiene distribución normal multivariada si la función de densidad conjunta del arreglo es:</a:t>
            </a:r>
            <a:endParaRPr sz="2000">
              <a:latin typeface="Open Sans"/>
              <a:ea typeface="Open Sans"/>
              <a:cs typeface="Open Sans"/>
              <a:sym typeface="Open Sans"/>
            </a:endParaRPr>
          </a:p>
          <a:p>
            <a:pPr marL="0" lvl="0" indent="0" algn="l" rtl="0">
              <a:spcBef>
                <a:spcPts val="0"/>
              </a:spcBef>
              <a:spcAft>
                <a:spcPts val="0"/>
              </a:spcAft>
              <a:buNone/>
            </a:pPr>
            <a:endParaRPr sz="2000">
              <a:latin typeface="Open Sans"/>
              <a:ea typeface="Open Sans"/>
              <a:cs typeface="Open Sans"/>
              <a:sym typeface="Open Sans"/>
            </a:endParaRPr>
          </a:p>
          <a:p>
            <a:pPr marL="0" lvl="0" indent="0" algn="l" rtl="0">
              <a:spcBef>
                <a:spcPts val="0"/>
              </a:spcBef>
              <a:spcAft>
                <a:spcPts val="0"/>
              </a:spcAft>
              <a:buNone/>
            </a:pPr>
            <a:endParaRPr sz="2000">
              <a:latin typeface="Open Sans"/>
              <a:ea typeface="Open Sans"/>
              <a:cs typeface="Open Sans"/>
              <a:sym typeface="Open Sans"/>
            </a:endParaRPr>
          </a:p>
          <a:p>
            <a:pPr marL="0" lvl="0" indent="0" algn="l" rtl="0">
              <a:spcBef>
                <a:spcPts val="0"/>
              </a:spcBef>
              <a:spcAft>
                <a:spcPts val="0"/>
              </a:spcAft>
              <a:buNone/>
            </a:pPr>
            <a:endParaRPr sz="2000">
              <a:latin typeface="Open Sans"/>
              <a:ea typeface="Open Sans"/>
              <a:cs typeface="Open Sans"/>
              <a:sym typeface="Open Sans"/>
            </a:endParaRPr>
          </a:p>
          <a:p>
            <a:pPr marL="0" lvl="0" indent="0" algn="l" rtl="0">
              <a:spcBef>
                <a:spcPts val="0"/>
              </a:spcBef>
              <a:spcAft>
                <a:spcPts val="0"/>
              </a:spcAft>
              <a:buNone/>
            </a:pPr>
            <a:endParaRPr sz="2000">
              <a:latin typeface="Open Sans"/>
              <a:ea typeface="Open Sans"/>
              <a:cs typeface="Open Sans"/>
              <a:sym typeface="Open Sans"/>
            </a:endParaRPr>
          </a:p>
          <a:p>
            <a:pPr marL="0" lvl="0" indent="0" algn="l" rtl="0">
              <a:spcBef>
                <a:spcPts val="0"/>
              </a:spcBef>
              <a:spcAft>
                <a:spcPts val="0"/>
              </a:spcAft>
              <a:buNone/>
            </a:pPr>
            <a:endParaRPr sz="2000">
              <a:latin typeface="Open Sans"/>
              <a:ea typeface="Open Sans"/>
              <a:cs typeface="Open Sans"/>
              <a:sym typeface="Open Sans"/>
            </a:endParaRPr>
          </a:p>
          <a:p>
            <a:pPr marL="0" lvl="0" indent="0" algn="l" rtl="0">
              <a:spcBef>
                <a:spcPts val="0"/>
              </a:spcBef>
              <a:spcAft>
                <a:spcPts val="0"/>
              </a:spcAft>
              <a:buNone/>
            </a:pPr>
            <a:r>
              <a:rPr lang="es" sz="2000">
                <a:latin typeface="Open Sans"/>
                <a:ea typeface="Open Sans"/>
                <a:cs typeface="Open Sans"/>
                <a:sym typeface="Open Sans"/>
              </a:rPr>
              <a:t>donde										,  vector de medias.</a:t>
            </a:r>
            <a:endParaRPr sz="2000">
              <a:latin typeface="Open Sans"/>
              <a:ea typeface="Open Sans"/>
              <a:cs typeface="Open Sans"/>
              <a:sym typeface="Open Sans"/>
            </a:endParaRPr>
          </a:p>
          <a:p>
            <a:pPr marL="0" lvl="0" indent="0" algn="l" rtl="0">
              <a:spcBef>
                <a:spcPts val="0"/>
              </a:spcBef>
              <a:spcAft>
                <a:spcPts val="0"/>
              </a:spcAft>
              <a:buNone/>
            </a:pPr>
            <a:r>
              <a:rPr lang="es" sz="2000" b="1">
                <a:solidFill>
                  <a:srgbClr val="1B786E"/>
                </a:solidFill>
                <a:latin typeface="Open Sans"/>
                <a:ea typeface="Open Sans"/>
                <a:cs typeface="Open Sans"/>
                <a:sym typeface="Open Sans"/>
              </a:rPr>
              <a:t>Σ </a:t>
            </a:r>
            <a:r>
              <a:rPr lang="es" sz="2000">
                <a:latin typeface="Open Sans"/>
                <a:ea typeface="Open Sans"/>
                <a:cs typeface="Open Sans"/>
                <a:sym typeface="Open Sans"/>
              </a:rPr>
              <a:t>se dice</a:t>
            </a:r>
            <a:r>
              <a:rPr lang="es" sz="2000" b="1">
                <a:solidFill>
                  <a:srgbClr val="1B786E"/>
                </a:solidFill>
                <a:latin typeface="Open Sans"/>
                <a:ea typeface="Open Sans"/>
                <a:cs typeface="Open Sans"/>
                <a:sym typeface="Open Sans"/>
              </a:rPr>
              <a:t> Matriz de Var-Covarianza</a:t>
            </a:r>
            <a:r>
              <a:rPr lang="es" sz="2000">
                <a:latin typeface="Open Sans"/>
                <a:ea typeface="Open Sans"/>
                <a:cs typeface="Open Sans"/>
                <a:sym typeface="Open Sans"/>
              </a:rPr>
              <a:t>, matriz nxn, simétrica no singular y |</a:t>
            </a:r>
            <a:r>
              <a:rPr lang="es" sz="2000">
                <a:solidFill>
                  <a:schemeClr val="dk1"/>
                </a:solidFill>
                <a:latin typeface="Open Sans"/>
                <a:ea typeface="Open Sans"/>
                <a:cs typeface="Open Sans"/>
                <a:sym typeface="Open Sans"/>
              </a:rPr>
              <a:t>Σ</a:t>
            </a:r>
            <a:r>
              <a:rPr lang="es" sz="2000">
                <a:latin typeface="Open Sans"/>
                <a:ea typeface="Open Sans"/>
                <a:cs typeface="Open Sans"/>
                <a:sym typeface="Open Sans"/>
              </a:rPr>
              <a:t>| denota el determinante de </a:t>
            </a:r>
            <a:r>
              <a:rPr lang="es" sz="2000">
                <a:solidFill>
                  <a:schemeClr val="dk1"/>
                </a:solidFill>
                <a:latin typeface="Open Sans"/>
                <a:ea typeface="Open Sans"/>
                <a:cs typeface="Open Sans"/>
                <a:sym typeface="Open Sans"/>
              </a:rPr>
              <a:t>Σ.</a:t>
            </a:r>
            <a:endParaRPr sz="2000">
              <a:latin typeface="Open Sans"/>
              <a:ea typeface="Open Sans"/>
              <a:cs typeface="Open Sans"/>
              <a:sym typeface="Open Sans"/>
            </a:endParaRPr>
          </a:p>
          <a:p>
            <a:pPr marL="0" lvl="0" indent="0" algn="l" rtl="0">
              <a:spcBef>
                <a:spcPts val="0"/>
              </a:spcBef>
              <a:spcAft>
                <a:spcPts val="0"/>
              </a:spcAft>
              <a:buNone/>
            </a:pPr>
            <a:endParaRPr sz="2000">
              <a:latin typeface="Open Sans"/>
              <a:ea typeface="Open Sans"/>
              <a:cs typeface="Open Sans"/>
              <a:sym typeface="Open Sans"/>
            </a:endParaRPr>
          </a:p>
          <a:p>
            <a:pPr marL="0" lvl="0" indent="0" algn="r" rtl="0">
              <a:spcBef>
                <a:spcPts val="0"/>
              </a:spcBef>
              <a:spcAft>
                <a:spcPts val="0"/>
              </a:spcAft>
              <a:buNone/>
            </a:pPr>
            <a:endParaRPr>
              <a:solidFill>
                <a:srgbClr val="1B786E"/>
              </a:solidFill>
              <a:latin typeface="Open Sans"/>
              <a:ea typeface="Open Sans"/>
              <a:cs typeface="Open Sans"/>
              <a:sym typeface="Open Sans"/>
            </a:endParaRPr>
          </a:p>
        </p:txBody>
      </p:sp>
      <p:pic>
        <p:nvPicPr>
          <p:cNvPr id="202" name="Google Shape;202;p31"/>
          <p:cNvPicPr preferRelativeResize="0"/>
          <p:nvPr/>
        </p:nvPicPr>
        <p:blipFill>
          <a:blip r:embed="rId3">
            <a:alphaModFix/>
          </a:blip>
          <a:stretch>
            <a:fillRect/>
          </a:stretch>
        </p:blipFill>
        <p:spPr>
          <a:xfrm>
            <a:off x="1600200" y="3783725"/>
            <a:ext cx="3960586" cy="352425"/>
          </a:xfrm>
          <a:prstGeom prst="rect">
            <a:avLst/>
          </a:prstGeom>
          <a:noFill/>
          <a:ln>
            <a:noFill/>
          </a:ln>
        </p:spPr>
      </p:pic>
      <p:pic>
        <p:nvPicPr>
          <p:cNvPr id="203" name="Google Shape;203;p31"/>
          <p:cNvPicPr preferRelativeResize="0"/>
          <p:nvPr/>
        </p:nvPicPr>
        <p:blipFill>
          <a:blip r:embed="rId4">
            <a:alphaModFix/>
          </a:blip>
          <a:stretch>
            <a:fillRect/>
          </a:stretch>
        </p:blipFill>
        <p:spPr>
          <a:xfrm>
            <a:off x="378150" y="2563150"/>
            <a:ext cx="8371400" cy="889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2"/>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Asociación de Variables</a:t>
            </a:r>
            <a:endParaRPr/>
          </a:p>
        </p:txBody>
      </p:sp>
      <p:sp>
        <p:nvSpPr>
          <p:cNvPr id="209" name="Google Shape;209;p32"/>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s"/>
              <a:t>Para variables Categóricas: </a:t>
            </a:r>
            <a:r>
              <a:rPr lang="es" b="1">
                <a:latin typeface="Roboto"/>
                <a:ea typeface="Roboto"/>
                <a:cs typeface="Roboto"/>
                <a:sym typeface="Roboto"/>
              </a:rPr>
              <a:t>tablas de contingencia</a:t>
            </a:r>
            <a:endParaRPr b="1">
              <a:latin typeface="Roboto"/>
              <a:ea typeface="Roboto"/>
              <a:cs typeface="Roboto"/>
              <a:sym typeface="Roboto"/>
            </a:endParaRPr>
          </a:p>
          <a:p>
            <a:pPr marL="457200" lvl="0" indent="0" algn="l" rtl="0">
              <a:spcBef>
                <a:spcPts val="1600"/>
              </a:spcBef>
              <a:spcAft>
                <a:spcPts val="0"/>
              </a:spcAft>
              <a:buNone/>
            </a:pPr>
            <a:endParaRPr b="1">
              <a:latin typeface="Roboto"/>
              <a:ea typeface="Roboto"/>
              <a:cs typeface="Roboto"/>
              <a:sym typeface="Roboto"/>
            </a:endParaRPr>
          </a:p>
          <a:p>
            <a:pPr marL="0" lvl="0" indent="0" algn="just" rtl="0">
              <a:spcBef>
                <a:spcPts val="1600"/>
              </a:spcBef>
              <a:spcAft>
                <a:spcPts val="0"/>
              </a:spcAft>
              <a:buNone/>
            </a:pPr>
            <a:endParaRPr>
              <a:latin typeface="Roboto"/>
              <a:ea typeface="Roboto"/>
              <a:cs typeface="Roboto"/>
              <a:sym typeface="Roboto"/>
            </a:endParaRPr>
          </a:p>
          <a:p>
            <a:pPr marL="0" lvl="0" indent="0" algn="just" rtl="0">
              <a:spcBef>
                <a:spcPts val="0"/>
              </a:spcBef>
              <a:spcAft>
                <a:spcPts val="0"/>
              </a:spcAft>
              <a:buNone/>
            </a:pPr>
            <a:endParaRPr>
              <a:latin typeface="Roboto"/>
              <a:ea typeface="Roboto"/>
              <a:cs typeface="Roboto"/>
              <a:sym typeface="Roboto"/>
            </a:endParaRPr>
          </a:p>
          <a:p>
            <a:pPr marL="0" lvl="0" indent="0" algn="just" rtl="0">
              <a:spcBef>
                <a:spcPts val="0"/>
              </a:spcBef>
              <a:spcAft>
                <a:spcPts val="0"/>
              </a:spcAft>
              <a:buNone/>
            </a:pPr>
            <a:endParaRPr>
              <a:latin typeface="Roboto"/>
              <a:ea typeface="Roboto"/>
              <a:cs typeface="Roboto"/>
              <a:sym typeface="Roboto"/>
            </a:endParaRPr>
          </a:p>
          <a:p>
            <a:pPr marL="457200" lvl="0" indent="0" algn="l" rtl="0">
              <a:spcBef>
                <a:spcPts val="0"/>
              </a:spcBef>
              <a:spcAft>
                <a:spcPts val="0"/>
              </a:spcAft>
              <a:buNone/>
            </a:pPr>
            <a:endParaRPr b="1">
              <a:latin typeface="Roboto"/>
              <a:ea typeface="Roboto"/>
              <a:cs typeface="Roboto"/>
              <a:sym typeface="Roboto"/>
            </a:endParaRPr>
          </a:p>
          <a:p>
            <a:pPr marL="457200" lvl="0" indent="-342900" algn="l" rtl="0">
              <a:spcBef>
                <a:spcPts val="1600"/>
              </a:spcBef>
              <a:spcAft>
                <a:spcPts val="0"/>
              </a:spcAft>
              <a:buSzPts val="1800"/>
              <a:buChar char="●"/>
            </a:pPr>
            <a:r>
              <a:rPr lang="es"/>
              <a:t>Para variables Numéricas: Covarianza y Correlación</a:t>
            </a:r>
            <a:endParaRPr/>
          </a:p>
        </p:txBody>
      </p:sp>
      <p:pic>
        <p:nvPicPr>
          <p:cNvPr id="210" name="Google Shape;210;p32"/>
          <p:cNvPicPr preferRelativeResize="0"/>
          <p:nvPr/>
        </p:nvPicPr>
        <p:blipFill>
          <a:blip r:embed="rId3">
            <a:alphaModFix/>
          </a:blip>
          <a:stretch>
            <a:fillRect/>
          </a:stretch>
        </p:blipFill>
        <p:spPr>
          <a:xfrm>
            <a:off x="3132369" y="1816250"/>
            <a:ext cx="3698226" cy="15961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3"/>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Covarianza y Correlación</a:t>
            </a:r>
            <a:endParaRPr/>
          </a:p>
        </p:txBody>
      </p:sp>
      <p:sp>
        <p:nvSpPr>
          <p:cNvPr id="216" name="Google Shape;216;p33"/>
          <p:cNvSpPr txBox="1">
            <a:spLocks noGrp="1"/>
          </p:cNvSpPr>
          <p:nvPr>
            <p:ph type="body" idx="1"/>
          </p:nvPr>
        </p:nvSpPr>
        <p:spPr>
          <a:xfrm>
            <a:off x="311700" y="1863050"/>
            <a:ext cx="8520600" cy="1725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sz="2000">
                <a:latin typeface="Roboto"/>
                <a:ea typeface="Roboto"/>
                <a:cs typeface="Roboto"/>
                <a:sym typeface="Roboto"/>
              </a:rPr>
              <a:t>Si Cov</a:t>
            </a:r>
            <a:r>
              <a:rPr lang="es" sz="2000" baseline="-25000">
                <a:latin typeface="Roboto"/>
                <a:ea typeface="Roboto"/>
                <a:cs typeface="Roboto"/>
                <a:sym typeface="Roboto"/>
              </a:rPr>
              <a:t>xy</a:t>
            </a:r>
            <a:r>
              <a:rPr lang="es" sz="2000">
                <a:latin typeface="Roboto"/>
                <a:ea typeface="Roboto"/>
                <a:cs typeface="Roboto"/>
                <a:sym typeface="Roboto"/>
              </a:rPr>
              <a:t>&gt; 0, la correlación (“alineación”) es directa.</a:t>
            </a:r>
            <a:endParaRPr sz="2000">
              <a:latin typeface="Roboto"/>
              <a:ea typeface="Roboto"/>
              <a:cs typeface="Roboto"/>
              <a:sym typeface="Roboto"/>
            </a:endParaRPr>
          </a:p>
          <a:p>
            <a:pPr marL="0" lvl="0" indent="0" algn="l" rtl="0">
              <a:spcBef>
                <a:spcPts val="0"/>
              </a:spcBef>
              <a:spcAft>
                <a:spcPts val="0"/>
              </a:spcAft>
              <a:buNone/>
            </a:pPr>
            <a:r>
              <a:rPr lang="es" sz="2000">
                <a:latin typeface="Roboto"/>
                <a:ea typeface="Roboto"/>
                <a:cs typeface="Roboto"/>
                <a:sym typeface="Roboto"/>
              </a:rPr>
              <a:t>•Si Cov</a:t>
            </a:r>
            <a:r>
              <a:rPr lang="es" sz="2000" baseline="-25000">
                <a:latin typeface="Roboto"/>
                <a:ea typeface="Roboto"/>
                <a:cs typeface="Roboto"/>
                <a:sym typeface="Roboto"/>
              </a:rPr>
              <a:t>xy</a:t>
            </a:r>
            <a:r>
              <a:rPr lang="es" sz="2000">
                <a:latin typeface="Roboto"/>
                <a:ea typeface="Roboto"/>
                <a:cs typeface="Roboto"/>
                <a:sym typeface="Roboto"/>
              </a:rPr>
              <a:t>&lt; 0, la correlación (“alineación”) es inversa</a:t>
            </a:r>
            <a:endParaRPr sz="2000">
              <a:latin typeface="Roboto"/>
              <a:ea typeface="Roboto"/>
              <a:cs typeface="Roboto"/>
              <a:sym typeface="Roboto"/>
            </a:endParaRPr>
          </a:p>
          <a:p>
            <a:pPr marL="0" lvl="0" indent="0" algn="l" rtl="0">
              <a:spcBef>
                <a:spcPts val="1600"/>
              </a:spcBef>
              <a:spcAft>
                <a:spcPts val="0"/>
              </a:spcAft>
              <a:buNone/>
            </a:pPr>
            <a:endParaRPr sz="2000">
              <a:latin typeface="Roboto"/>
              <a:ea typeface="Roboto"/>
              <a:cs typeface="Roboto"/>
              <a:sym typeface="Roboto"/>
            </a:endParaRPr>
          </a:p>
          <a:p>
            <a:pPr marL="0" lvl="0" indent="0" algn="l" rtl="0">
              <a:spcBef>
                <a:spcPts val="1600"/>
              </a:spcBef>
              <a:spcAft>
                <a:spcPts val="0"/>
              </a:spcAft>
              <a:buNone/>
            </a:pPr>
            <a:endParaRPr sz="2000">
              <a:latin typeface="Roboto"/>
              <a:ea typeface="Roboto"/>
              <a:cs typeface="Roboto"/>
              <a:sym typeface="Roboto"/>
            </a:endParaRPr>
          </a:p>
          <a:p>
            <a:pPr marL="0" lvl="0" indent="0" algn="l" rtl="0">
              <a:spcBef>
                <a:spcPts val="1600"/>
              </a:spcBef>
              <a:spcAft>
                <a:spcPts val="0"/>
              </a:spcAft>
              <a:buClr>
                <a:schemeClr val="dk1"/>
              </a:buClr>
              <a:buSzPts val="1100"/>
              <a:buFont typeface="Arial"/>
              <a:buNone/>
            </a:pPr>
            <a:r>
              <a:rPr lang="es">
                <a:latin typeface="Roboto"/>
                <a:ea typeface="Roboto"/>
                <a:cs typeface="Roboto"/>
                <a:sym typeface="Roboto"/>
              </a:rPr>
              <a:t>El valor del índice de correlación r= ρ varía en el intervalo [-1,1], </a:t>
            </a:r>
            <a:endParaRPr sz="2000">
              <a:latin typeface="Roboto"/>
              <a:ea typeface="Roboto"/>
              <a:cs typeface="Roboto"/>
              <a:sym typeface="Roboto"/>
            </a:endParaRPr>
          </a:p>
        </p:txBody>
      </p:sp>
      <p:pic>
        <p:nvPicPr>
          <p:cNvPr id="217" name="Google Shape;217;p33"/>
          <p:cNvPicPr preferRelativeResize="0"/>
          <p:nvPr/>
        </p:nvPicPr>
        <p:blipFill>
          <a:blip r:embed="rId3">
            <a:alphaModFix/>
          </a:blip>
          <a:stretch>
            <a:fillRect/>
          </a:stretch>
        </p:blipFill>
        <p:spPr>
          <a:xfrm>
            <a:off x="304800" y="1223425"/>
            <a:ext cx="3933825" cy="752475"/>
          </a:xfrm>
          <a:prstGeom prst="rect">
            <a:avLst/>
          </a:prstGeom>
          <a:noFill/>
          <a:ln>
            <a:noFill/>
          </a:ln>
        </p:spPr>
      </p:pic>
      <p:pic>
        <p:nvPicPr>
          <p:cNvPr id="218" name="Google Shape;218;p33"/>
          <p:cNvPicPr preferRelativeResize="0"/>
          <p:nvPr/>
        </p:nvPicPr>
        <p:blipFill>
          <a:blip r:embed="rId4">
            <a:alphaModFix/>
          </a:blip>
          <a:stretch>
            <a:fillRect/>
          </a:stretch>
        </p:blipFill>
        <p:spPr>
          <a:xfrm>
            <a:off x="595900" y="2950850"/>
            <a:ext cx="4129995" cy="7557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Correlación en gráficos</a:t>
            </a:r>
            <a:endParaRPr/>
          </a:p>
        </p:txBody>
      </p:sp>
      <p:sp>
        <p:nvSpPr>
          <p:cNvPr id="224" name="Google Shape;224;p3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225" name="Google Shape;225;p34"/>
          <p:cNvPicPr preferRelativeResize="0"/>
          <p:nvPr/>
        </p:nvPicPr>
        <p:blipFill>
          <a:blip r:embed="rId3">
            <a:alphaModFix/>
          </a:blip>
          <a:stretch>
            <a:fillRect/>
          </a:stretch>
        </p:blipFill>
        <p:spPr>
          <a:xfrm>
            <a:off x="484213" y="1363925"/>
            <a:ext cx="7800975" cy="30765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Interpretación</a:t>
            </a:r>
            <a:endParaRPr/>
          </a:p>
        </p:txBody>
      </p:sp>
      <p:sp>
        <p:nvSpPr>
          <p:cNvPr id="231" name="Google Shape;231;p35"/>
          <p:cNvSpPr txBox="1">
            <a:spLocks noGrp="1"/>
          </p:cNvSpPr>
          <p:nvPr>
            <p:ph type="body" idx="1"/>
          </p:nvPr>
        </p:nvSpPr>
        <p:spPr>
          <a:xfrm>
            <a:off x="311700" y="1149025"/>
            <a:ext cx="85206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latin typeface="Roboto"/>
                <a:ea typeface="Roboto"/>
                <a:cs typeface="Roboto"/>
                <a:sym typeface="Roboto"/>
              </a:rPr>
              <a:t>●Si </a:t>
            </a:r>
            <a:r>
              <a:rPr lang="es" i="1">
                <a:latin typeface="Roboto"/>
                <a:ea typeface="Roboto"/>
                <a:cs typeface="Roboto"/>
                <a:sym typeface="Roboto"/>
              </a:rPr>
              <a:t>r</a:t>
            </a:r>
            <a:r>
              <a:rPr lang="es">
                <a:latin typeface="Roboto"/>
                <a:ea typeface="Roboto"/>
                <a:cs typeface="Roboto"/>
                <a:sym typeface="Roboto"/>
              </a:rPr>
              <a:t> = 1, existe una correlación positiva perfecta. El índice indica una dependencia total entre las dos variables denominada </a:t>
            </a:r>
            <a:r>
              <a:rPr lang="es" i="1">
                <a:latin typeface="Roboto"/>
                <a:ea typeface="Roboto"/>
                <a:cs typeface="Roboto"/>
                <a:sym typeface="Roboto"/>
              </a:rPr>
              <a:t>relación directa</a:t>
            </a:r>
            <a:r>
              <a:rPr lang="es">
                <a:latin typeface="Roboto"/>
                <a:ea typeface="Roboto"/>
                <a:cs typeface="Roboto"/>
                <a:sym typeface="Roboto"/>
              </a:rPr>
              <a:t>: cuando una de ellas aumenta, la otra también lo hace en proporción constante.</a:t>
            </a:r>
            <a:endParaRPr>
              <a:latin typeface="Roboto"/>
              <a:ea typeface="Roboto"/>
              <a:cs typeface="Roboto"/>
              <a:sym typeface="Roboto"/>
            </a:endParaRPr>
          </a:p>
          <a:p>
            <a:pPr marL="0" lvl="0" indent="0" algn="l" rtl="0">
              <a:lnSpc>
                <a:spcPct val="115000"/>
              </a:lnSpc>
              <a:spcBef>
                <a:spcPts val="0"/>
              </a:spcBef>
              <a:spcAft>
                <a:spcPts val="0"/>
              </a:spcAft>
              <a:buNone/>
            </a:pPr>
            <a:r>
              <a:rPr lang="es">
                <a:latin typeface="Roboto"/>
                <a:ea typeface="Roboto"/>
                <a:cs typeface="Roboto"/>
                <a:sym typeface="Roboto"/>
              </a:rPr>
              <a:t>●Si 0 &lt; </a:t>
            </a:r>
            <a:r>
              <a:rPr lang="es" i="1">
                <a:latin typeface="Roboto"/>
                <a:ea typeface="Roboto"/>
                <a:cs typeface="Roboto"/>
                <a:sym typeface="Roboto"/>
              </a:rPr>
              <a:t>r</a:t>
            </a:r>
            <a:r>
              <a:rPr lang="es">
                <a:latin typeface="Roboto"/>
                <a:ea typeface="Roboto"/>
                <a:cs typeface="Roboto"/>
                <a:sym typeface="Roboto"/>
              </a:rPr>
              <a:t> &lt; 1, existe una correlación positiva.</a:t>
            </a:r>
            <a:endParaRPr>
              <a:latin typeface="Roboto"/>
              <a:ea typeface="Roboto"/>
              <a:cs typeface="Roboto"/>
              <a:sym typeface="Roboto"/>
            </a:endParaRPr>
          </a:p>
          <a:p>
            <a:pPr marL="0" lvl="0" indent="0" algn="just" rtl="0">
              <a:lnSpc>
                <a:spcPct val="115000"/>
              </a:lnSpc>
              <a:spcBef>
                <a:spcPts val="0"/>
              </a:spcBef>
              <a:spcAft>
                <a:spcPts val="0"/>
              </a:spcAft>
              <a:buClr>
                <a:schemeClr val="dk1"/>
              </a:buClr>
              <a:buSzPts val="1100"/>
              <a:buFont typeface="Arial"/>
              <a:buNone/>
            </a:pPr>
            <a:r>
              <a:rPr lang="es">
                <a:latin typeface="Roboto"/>
                <a:ea typeface="Roboto"/>
                <a:cs typeface="Roboto"/>
                <a:sym typeface="Roboto"/>
              </a:rPr>
              <a:t>●Si </a:t>
            </a:r>
            <a:r>
              <a:rPr lang="es" i="1">
                <a:latin typeface="Roboto"/>
                <a:ea typeface="Roboto"/>
                <a:cs typeface="Roboto"/>
                <a:sym typeface="Roboto"/>
              </a:rPr>
              <a:t>r</a:t>
            </a:r>
            <a:r>
              <a:rPr lang="es">
                <a:latin typeface="Roboto"/>
                <a:ea typeface="Roboto"/>
                <a:cs typeface="Roboto"/>
                <a:sym typeface="Roboto"/>
              </a:rPr>
              <a:t> = 0, no existe relación lineal. Pero esto no necesariamente implica que las variables son independientes: pueden existir todavía relaciones no lineales entre las dos variables.</a:t>
            </a:r>
            <a:endParaRPr>
              <a:latin typeface="Roboto"/>
              <a:ea typeface="Roboto"/>
              <a:cs typeface="Roboto"/>
              <a:sym typeface="Roboto"/>
            </a:endParaRPr>
          </a:p>
          <a:p>
            <a:pPr marL="0" lvl="0" indent="0" algn="just" rtl="0">
              <a:lnSpc>
                <a:spcPct val="115000"/>
              </a:lnSpc>
              <a:spcBef>
                <a:spcPts val="0"/>
              </a:spcBef>
              <a:spcAft>
                <a:spcPts val="0"/>
              </a:spcAft>
              <a:buClr>
                <a:schemeClr val="dk1"/>
              </a:buClr>
              <a:buSzPts val="1100"/>
              <a:buFont typeface="Arial"/>
              <a:buNone/>
            </a:pPr>
            <a:r>
              <a:rPr lang="es">
                <a:latin typeface="Roboto"/>
                <a:ea typeface="Roboto"/>
                <a:cs typeface="Roboto"/>
                <a:sym typeface="Roboto"/>
              </a:rPr>
              <a:t>●Si -1 &lt; </a:t>
            </a:r>
            <a:r>
              <a:rPr lang="es" i="1">
                <a:latin typeface="Roboto"/>
                <a:ea typeface="Roboto"/>
                <a:cs typeface="Roboto"/>
                <a:sym typeface="Roboto"/>
              </a:rPr>
              <a:t>r</a:t>
            </a:r>
            <a:r>
              <a:rPr lang="es">
                <a:latin typeface="Roboto"/>
                <a:ea typeface="Roboto"/>
                <a:cs typeface="Roboto"/>
                <a:sym typeface="Roboto"/>
              </a:rPr>
              <a:t> &lt; 0, existe una correlación negativa.</a:t>
            </a:r>
            <a:endParaRPr>
              <a:latin typeface="Roboto"/>
              <a:ea typeface="Roboto"/>
              <a:cs typeface="Roboto"/>
              <a:sym typeface="Roboto"/>
            </a:endParaRPr>
          </a:p>
          <a:p>
            <a:pPr marL="0" lvl="0" indent="0" algn="just" rtl="0">
              <a:lnSpc>
                <a:spcPct val="115000"/>
              </a:lnSpc>
              <a:spcBef>
                <a:spcPts val="0"/>
              </a:spcBef>
              <a:spcAft>
                <a:spcPts val="0"/>
              </a:spcAft>
              <a:buClr>
                <a:schemeClr val="dk1"/>
              </a:buClr>
              <a:buSzPts val="1100"/>
              <a:buFont typeface="Arial"/>
              <a:buNone/>
            </a:pPr>
            <a:r>
              <a:rPr lang="es">
                <a:latin typeface="Roboto"/>
                <a:ea typeface="Roboto"/>
                <a:cs typeface="Roboto"/>
                <a:sym typeface="Roboto"/>
              </a:rPr>
              <a:t>●Si </a:t>
            </a:r>
            <a:r>
              <a:rPr lang="es" i="1">
                <a:latin typeface="Roboto"/>
                <a:ea typeface="Roboto"/>
                <a:cs typeface="Roboto"/>
                <a:sym typeface="Roboto"/>
              </a:rPr>
              <a:t>r</a:t>
            </a:r>
            <a:r>
              <a:rPr lang="es">
                <a:latin typeface="Roboto"/>
                <a:ea typeface="Roboto"/>
                <a:cs typeface="Roboto"/>
                <a:sym typeface="Roboto"/>
              </a:rPr>
              <a:t> = -1, existe una correlación negativa perfecta. El índice indica una dependencia total entre las dos variables llamada </a:t>
            </a:r>
            <a:r>
              <a:rPr lang="es" i="1">
                <a:latin typeface="Roboto"/>
                <a:ea typeface="Roboto"/>
                <a:cs typeface="Roboto"/>
                <a:sym typeface="Roboto"/>
              </a:rPr>
              <a:t>relación inversa</a:t>
            </a:r>
            <a:r>
              <a:rPr lang="es">
                <a:latin typeface="Roboto"/>
                <a:ea typeface="Roboto"/>
                <a:cs typeface="Roboto"/>
                <a:sym typeface="Roboto"/>
              </a:rPr>
              <a:t>: cuando una de ellas aumenta, la otra disminuye en proporción constante.</a:t>
            </a:r>
            <a:endParaRPr>
              <a:latin typeface="Roboto"/>
              <a:ea typeface="Roboto"/>
              <a:cs typeface="Roboto"/>
              <a:sym typeface="Roboto"/>
            </a:endParaRPr>
          </a:p>
          <a:p>
            <a:pPr marL="0" lvl="0" indent="0" algn="l" rtl="0">
              <a:spcBef>
                <a:spcPts val="0"/>
              </a:spcBef>
              <a:spcAft>
                <a:spcPts val="160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Coeficiente de correlación lineal. Spearman</a:t>
            </a:r>
            <a:endParaRPr/>
          </a:p>
        </p:txBody>
      </p:sp>
      <p:sp>
        <p:nvSpPr>
          <p:cNvPr id="237" name="Google Shape;237;p36"/>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s" sz="2000" b="1">
                <a:solidFill>
                  <a:srgbClr val="990000"/>
                </a:solidFill>
                <a:latin typeface="Roboto"/>
                <a:ea typeface="Roboto"/>
                <a:cs typeface="Roboto"/>
                <a:sym typeface="Roboto"/>
              </a:rPr>
              <a:t>O Coeficiente de Spearman</a:t>
            </a:r>
            <a:endParaRPr sz="2000">
              <a:latin typeface="Roboto"/>
              <a:ea typeface="Roboto"/>
              <a:cs typeface="Roboto"/>
              <a:sym typeface="Roboto"/>
            </a:endParaRPr>
          </a:p>
          <a:p>
            <a:pPr marL="0" lvl="0" indent="0" algn="l" rtl="0">
              <a:spcBef>
                <a:spcPts val="0"/>
              </a:spcBef>
              <a:spcAft>
                <a:spcPts val="0"/>
              </a:spcAft>
              <a:buNone/>
            </a:pPr>
            <a:endParaRPr sz="2000">
              <a:latin typeface="Roboto"/>
              <a:ea typeface="Roboto"/>
              <a:cs typeface="Roboto"/>
              <a:sym typeface="Roboto"/>
            </a:endParaRPr>
          </a:p>
          <a:p>
            <a:pPr marL="0" lvl="0" indent="0" algn="l" rtl="0">
              <a:spcBef>
                <a:spcPts val="0"/>
              </a:spcBef>
              <a:spcAft>
                <a:spcPts val="0"/>
              </a:spcAft>
              <a:buNone/>
            </a:pPr>
            <a:r>
              <a:rPr lang="es" sz="2000">
                <a:latin typeface="Roboto"/>
                <a:ea typeface="Roboto"/>
                <a:cs typeface="Roboto"/>
                <a:sym typeface="Roboto"/>
              </a:rPr>
              <a:t>Para ( X , Y )  par de v.a. Si no sabemos si su distribución conj. es Normal o tenemos poco datos. O si la/s variable/s son del tipo ordinal.</a:t>
            </a:r>
            <a:endParaRPr sz="2000">
              <a:latin typeface="Roboto"/>
              <a:ea typeface="Roboto"/>
              <a:cs typeface="Roboto"/>
              <a:sym typeface="Roboto"/>
            </a:endParaRPr>
          </a:p>
          <a:p>
            <a:pPr marL="0" lvl="0" indent="0" algn="ctr" rtl="0">
              <a:spcBef>
                <a:spcPts val="0"/>
              </a:spcBef>
              <a:spcAft>
                <a:spcPts val="0"/>
              </a:spcAft>
              <a:buClr>
                <a:schemeClr val="dk1"/>
              </a:buClr>
              <a:buSzPts val="1100"/>
              <a:buFont typeface="Arial"/>
              <a:buNone/>
            </a:pPr>
            <a:endParaRPr sz="2000">
              <a:solidFill>
                <a:srgbClr val="990000"/>
              </a:solidFill>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2000">
              <a:solidFill>
                <a:srgbClr val="6AA84F"/>
              </a:solidFill>
              <a:latin typeface="Roboto"/>
              <a:ea typeface="Roboto"/>
              <a:cs typeface="Roboto"/>
              <a:sym typeface="Roboto"/>
            </a:endParaRPr>
          </a:p>
          <a:p>
            <a:pPr marL="457200" lvl="0" indent="-355600" algn="l" rtl="0">
              <a:spcBef>
                <a:spcPts val="0"/>
              </a:spcBef>
              <a:spcAft>
                <a:spcPts val="0"/>
              </a:spcAft>
              <a:buClr>
                <a:srgbClr val="6AA84F"/>
              </a:buClr>
              <a:buSzPts val="2000"/>
              <a:buFont typeface="Roboto"/>
              <a:buChar char="-"/>
            </a:pPr>
            <a:r>
              <a:rPr lang="es" sz="2000">
                <a:solidFill>
                  <a:srgbClr val="6AA84F"/>
                </a:solidFill>
                <a:latin typeface="Roboto"/>
                <a:ea typeface="Roboto"/>
                <a:cs typeface="Roboto"/>
                <a:sym typeface="Roboto"/>
              </a:rPr>
              <a:t>analíticamente tiene un cálculo tedioso</a:t>
            </a:r>
            <a:endParaRPr sz="2000">
              <a:solidFill>
                <a:srgbClr val="6AA84F"/>
              </a:solidFill>
              <a:latin typeface="Roboto"/>
              <a:ea typeface="Roboto"/>
              <a:cs typeface="Roboto"/>
              <a:sym typeface="Roboto"/>
            </a:endParaRPr>
          </a:p>
          <a:p>
            <a:pPr marL="0" lvl="0" indent="0" algn="l" rtl="0">
              <a:spcBef>
                <a:spcPts val="0"/>
              </a:spcBef>
              <a:spcAft>
                <a:spcPts val="1600"/>
              </a:spcAft>
              <a:buNone/>
            </a:pPr>
            <a:endParaRPr sz="2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7"/>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s"/>
              <a:t>Coeficiente de correlación lineal. Tau de Kendall</a:t>
            </a:r>
            <a:endParaRPr/>
          </a:p>
        </p:txBody>
      </p:sp>
      <p:sp>
        <p:nvSpPr>
          <p:cNvPr id="243" name="Google Shape;243;p37"/>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s" b="1">
                <a:solidFill>
                  <a:srgbClr val="990000"/>
                </a:solidFill>
                <a:latin typeface="Roboto"/>
                <a:ea typeface="Roboto"/>
                <a:cs typeface="Roboto"/>
                <a:sym typeface="Roboto"/>
              </a:rPr>
              <a:t>O Coeficiente de Correlación por Rangos de Kendall</a:t>
            </a:r>
            <a:r>
              <a:rPr lang="es">
                <a:latin typeface="Roboto"/>
                <a:ea typeface="Roboto"/>
                <a:cs typeface="Roboto"/>
                <a:sym typeface="Roboto"/>
              </a:rPr>
              <a:t> </a:t>
            </a:r>
            <a:endParaRPr>
              <a:latin typeface="Roboto"/>
              <a:ea typeface="Roboto"/>
              <a:cs typeface="Roboto"/>
              <a:sym typeface="Roboto"/>
            </a:endParaRPr>
          </a:p>
          <a:p>
            <a:pPr marL="0" lvl="0" indent="0" algn="just" rtl="0">
              <a:lnSpc>
                <a:spcPct val="115000"/>
              </a:lnSpc>
              <a:spcBef>
                <a:spcPts val="0"/>
              </a:spcBef>
              <a:spcAft>
                <a:spcPts val="0"/>
              </a:spcAft>
              <a:buNone/>
            </a:pPr>
            <a:r>
              <a:rPr lang="es">
                <a:latin typeface="Roboto"/>
                <a:ea typeface="Roboto"/>
                <a:cs typeface="Roboto"/>
                <a:sym typeface="Roboto"/>
              </a:rPr>
              <a:t>Medida de asociación no paramétrica utilizada para variables cualitativas ordinales o de razón (numéricas). </a:t>
            </a:r>
            <a:r>
              <a:rPr lang="es">
                <a:solidFill>
                  <a:srgbClr val="999999"/>
                </a:solidFill>
                <a:latin typeface="Roboto"/>
                <a:ea typeface="Roboto"/>
                <a:cs typeface="Roboto"/>
                <a:sym typeface="Roboto"/>
              </a:rPr>
              <a:t>Estas variables son distribuidas en categorías con varios niveles que cumplen un orden, por ejemplo, muy bajo, bajo, medio, alto y muy alto.</a:t>
            </a:r>
            <a:endParaRPr>
              <a:solidFill>
                <a:srgbClr val="999999"/>
              </a:solidFill>
              <a:latin typeface="Roboto"/>
              <a:ea typeface="Roboto"/>
              <a:cs typeface="Roboto"/>
              <a:sym typeface="Roboto"/>
            </a:endParaRPr>
          </a:p>
          <a:p>
            <a:pPr marL="457200" lvl="0" indent="-342900" algn="just" rtl="0">
              <a:lnSpc>
                <a:spcPct val="115000"/>
              </a:lnSpc>
              <a:spcBef>
                <a:spcPts val="3000"/>
              </a:spcBef>
              <a:spcAft>
                <a:spcPts val="0"/>
              </a:spcAft>
              <a:buClr>
                <a:srgbClr val="6AA84F"/>
              </a:buClr>
              <a:buSzPts val="1800"/>
              <a:buFont typeface="Roboto"/>
              <a:buChar char="●"/>
            </a:pPr>
            <a:r>
              <a:rPr lang="es">
                <a:solidFill>
                  <a:srgbClr val="6AA84F"/>
                </a:solidFill>
                <a:latin typeface="Roboto"/>
                <a:ea typeface="Roboto"/>
                <a:cs typeface="Roboto"/>
                <a:sym typeface="Roboto"/>
              </a:rPr>
              <a:t>Sólo se puede aplicar a partir de tablas cuadradas.</a:t>
            </a:r>
            <a:endParaRPr>
              <a:solidFill>
                <a:srgbClr val="6AA84F"/>
              </a:solidFill>
              <a:latin typeface="Roboto"/>
              <a:ea typeface="Roboto"/>
              <a:cs typeface="Roboto"/>
              <a:sym typeface="Roboto"/>
            </a:endParaRPr>
          </a:p>
          <a:p>
            <a:pPr marL="457200" lvl="0" indent="-342900" algn="just" rtl="0">
              <a:lnSpc>
                <a:spcPct val="115000"/>
              </a:lnSpc>
              <a:spcBef>
                <a:spcPts val="0"/>
              </a:spcBef>
              <a:spcAft>
                <a:spcPts val="0"/>
              </a:spcAft>
              <a:buClr>
                <a:srgbClr val="6AA84F"/>
              </a:buClr>
              <a:buSzPts val="1800"/>
              <a:buFont typeface="Roboto"/>
              <a:buChar char="●"/>
            </a:pPr>
            <a:r>
              <a:rPr lang="es">
                <a:solidFill>
                  <a:srgbClr val="6AA84F"/>
                </a:solidFill>
                <a:latin typeface="Roboto"/>
                <a:ea typeface="Roboto"/>
                <a:cs typeface="Roboto"/>
                <a:sym typeface="Roboto"/>
              </a:rPr>
              <a:t>Las variables utilizadas deben ser de nivel ordinal, intervalo o razón </a:t>
            </a:r>
            <a:endParaRPr>
              <a:solidFill>
                <a:srgbClr val="6AA84F"/>
              </a:solidFill>
              <a:latin typeface="Roboto"/>
              <a:ea typeface="Roboto"/>
              <a:cs typeface="Roboto"/>
              <a:sym typeface="Roboto"/>
            </a:endParaRPr>
          </a:p>
          <a:p>
            <a:pPr marL="457200" lvl="0" indent="-342900" algn="just" rtl="0">
              <a:lnSpc>
                <a:spcPct val="115000"/>
              </a:lnSpc>
              <a:spcBef>
                <a:spcPts val="0"/>
              </a:spcBef>
              <a:spcAft>
                <a:spcPts val="0"/>
              </a:spcAft>
              <a:buClr>
                <a:srgbClr val="6AA84F"/>
              </a:buClr>
              <a:buSzPts val="1800"/>
              <a:buFont typeface="Roboto"/>
              <a:buChar char="●"/>
            </a:pPr>
            <a:r>
              <a:rPr lang="es">
                <a:solidFill>
                  <a:srgbClr val="6AA84F"/>
                </a:solidFill>
                <a:latin typeface="Roboto"/>
                <a:ea typeface="Roboto"/>
                <a:cs typeface="Roboto"/>
                <a:sym typeface="Roboto"/>
              </a:rPr>
              <a:t>Su resultado debe encontrarse en el rango de -1 a 1.</a:t>
            </a:r>
            <a:endParaRPr>
              <a:solidFill>
                <a:srgbClr val="6AA84F"/>
              </a:solidFill>
              <a:latin typeface="Roboto"/>
              <a:ea typeface="Roboto"/>
              <a:cs typeface="Roboto"/>
              <a:sym typeface="Roboto"/>
            </a:endParaRPr>
          </a:p>
          <a:p>
            <a:pPr marL="457200" lvl="0" indent="-342900" algn="just" rtl="0">
              <a:lnSpc>
                <a:spcPct val="115000"/>
              </a:lnSpc>
              <a:spcBef>
                <a:spcPts val="0"/>
              </a:spcBef>
              <a:spcAft>
                <a:spcPts val="0"/>
              </a:spcAft>
              <a:buClr>
                <a:srgbClr val="6AA84F"/>
              </a:buClr>
              <a:buSzPts val="1800"/>
              <a:buFont typeface="Roboto"/>
              <a:buChar char="●"/>
            </a:pPr>
            <a:r>
              <a:rPr lang="es">
                <a:solidFill>
                  <a:srgbClr val="6AA84F"/>
                </a:solidFill>
                <a:latin typeface="Roboto"/>
                <a:ea typeface="Roboto"/>
                <a:cs typeface="Roboto"/>
                <a:sym typeface="Roboto"/>
              </a:rPr>
              <a:t>Tiene sentido su aplicación, si las variables objeto de estudio no poseen una distribución poblacional conjunta normal</a:t>
            </a:r>
            <a:endParaRPr>
              <a:solidFill>
                <a:srgbClr val="6AA84F"/>
              </a:solidFill>
              <a:latin typeface="Roboto"/>
              <a:ea typeface="Roboto"/>
              <a:cs typeface="Roboto"/>
              <a:sym typeface="Roboto"/>
            </a:endParaRPr>
          </a:p>
          <a:p>
            <a:pPr marL="0" lvl="0" indent="0" algn="just" rtl="0">
              <a:lnSpc>
                <a:spcPct val="115000"/>
              </a:lnSpc>
              <a:spcBef>
                <a:spcPts val="0"/>
              </a:spcBef>
              <a:spcAft>
                <a:spcPts val="0"/>
              </a:spcAft>
              <a:buClr>
                <a:schemeClr val="dk1"/>
              </a:buClr>
              <a:buSzPts val="1100"/>
              <a:buFont typeface="Arial"/>
              <a:buNone/>
            </a:pPr>
            <a:endParaRPr>
              <a:latin typeface="Roboto"/>
              <a:ea typeface="Roboto"/>
              <a:cs typeface="Roboto"/>
              <a:sym typeface="Roboto"/>
            </a:endParaRPr>
          </a:p>
          <a:p>
            <a:pPr marL="0" lvl="0" indent="0" algn="l" rtl="0">
              <a:spcBef>
                <a:spcPts val="0"/>
              </a:spcBef>
              <a:spcAft>
                <a:spcPts val="160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38"/>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Cuidado!</a:t>
            </a:r>
            <a:endParaRPr/>
          </a:p>
        </p:txBody>
      </p:sp>
      <p:sp>
        <p:nvSpPr>
          <p:cNvPr id="249" name="Google Shape;249;p38"/>
          <p:cNvSpPr txBox="1">
            <a:spLocks noGrp="1"/>
          </p:cNvSpPr>
          <p:nvPr>
            <p:ph type="body" idx="1"/>
          </p:nvPr>
        </p:nvSpPr>
        <p:spPr>
          <a:xfrm>
            <a:off x="311700" y="1149025"/>
            <a:ext cx="8520600" cy="33540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s">
                <a:latin typeface="Roboto"/>
                <a:ea typeface="Roboto"/>
                <a:cs typeface="Roboto"/>
                <a:sym typeface="Roboto"/>
              </a:rPr>
              <a:t>Recuerden que </a:t>
            </a:r>
            <a:r>
              <a:rPr lang="es" b="1">
                <a:solidFill>
                  <a:srgbClr val="1B786E"/>
                </a:solidFill>
                <a:latin typeface="Roboto"/>
                <a:ea typeface="Roboto"/>
                <a:cs typeface="Roboto"/>
                <a:sym typeface="Roboto"/>
              </a:rPr>
              <a:t>la correlación no implica causalidad</a:t>
            </a:r>
            <a:r>
              <a:rPr lang="es">
                <a:latin typeface="Roboto"/>
                <a:ea typeface="Roboto"/>
                <a:cs typeface="Roboto"/>
                <a:sym typeface="Roboto"/>
              </a:rPr>
              <a:t>. Por ejemplo, si las ventas de helados están correlacionadas positivamente con los ataques de los tiburones a los nadadores, eso no significa que el consumo de helados de alguna manera hace que los tiburones ataquen. Otra variable, como el clima cálido, puede provocar un aumento tanto en las ventas de helados como en las visitas a las playas.</a:t>
            </a:r>
            <a:endParaRPr>
              <a:latin typeface="Roboto"/>
              <a:ea typeface="Roboto"/>
              <a:cs typeface="Roboto"/>
              <a:sym typeface="Roboto"/>
            </a:endParaRPr>
          </a:p>
          <a:p>
            <a:pPr marL="0" lvl="0" indent="0" algn="l" rtl="0">
              <a:spcBef>
                <a:spcPts val="0"/>
              </a:spcBef>
              <a:spcAft>
                <a:spcPts val="1600"/>
              </a:spcAft>
              <a:buNone/>
            </a:pPr>
            <a:endParaRPr/>
          </a:p>
        </p:txBody>
      </p:sp>
      <p:pic>
        <p:nvPicPr>
          <p:cNvPr id="250" name="Google Shape;250;p38"/>
          <p:cNvPicPr preferRelativeResize="0"/>
          <p:nvPr/>
        </p:nvPicPr>
        <p:blipFill>
          <a:blip r:embed="rId3">
            <a:alphaModFix/>
          </a:blip>
          <a:stretch>
            <a:fillRect/>
          </a:stretch>
        </p:blipFill>
        <p:spPr>
          <a:xfrm>
            <a:off x="2396263" y="3035638"/>
            <a:ext cx="4524375" cy="1895475"/>
          </a:xfrm>
          <a:prstGeom prst="rect">
            <a:avLst/>
          </a:prstGeom>
          <a:noFill/>
          <a:ln>
            <a:noFill/>
          </a:ln>
        </p:spPr>
      </p:pic>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152</TotalTime>
  <Words>1786</Words>
  <Application>Microsoft Office PowerPoint</Application>
  <PresentationFormat>Presentación en pantalla (16:9)</PresentationFormat>
  <Paragraphs>175</Paragraphs>
  <Slides>26</Slides>
  <Notes>25</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26</vt:i4>
      </vt:variant>
    </vt:vector>
  </HeadingPairs>
  <TitlesOfParts>
    <vt:vector size="33" baseType="lpstr">
      <vt:lpstr>Trebuchet MS</vt:lpstr>
      <vt:lpstr>Arial</vt:lpstr>
      <vt:lpstr>Roboto</vt:lpstr>
      <vt:lpstr>Gill Sans MT</vt:lpstr>
      <vt:lpstr>Economica</vt:lpstr>
      <vt:lpstr>Open Sans</vt:lpstr>
      <vt:lpstr>Luxe</vt:lpstr>
      <vt:lpstr>Presentación de PowerPoint</vt:lpstr>
      <vt:lpstr>Demo con Notebook  EL460_Varias Variables.ipynb</vt:lpstr>
      <vt:lpstr>Para pensar… </vt:lpstr>
      <vt:lpstr>Varias Variables</vt:lpstr>
      <vt:lpstr>Varias Variables</vt:lpstr>
      <vt:lpstr>Varias Variables</vt:lpstr>
      <vt:lpstr>Percentiles</vt:lpstr>
      <vt:lpstr>Varias Variables: propiedades</vt:lpstr>
      <vt:lpstr>Varias Variables, numéricas</vt:lpstr>
      <vt:lpstr>Ejemplo: distribución Normal bivariada</vt:lpstr>
      <vt:lpstr>Varias Variables, categóricas</vt:lpstr>
      <vt:lpstr>Notebook (ejercicio) EL40_Varias Variables.ipynb</vt:lpstr>
      <vt:lpstr>Independencia entre Variables</vt:lpstr>
      <vt:lpstr>Varias Variables: independencia</vt:lpstr>
      <vt:lpstr>Covarianza en gráficos</vt:lpstr>
      <vt:lpstr>Ejemplo: distribución Normal bivariada</vt:lpstr>
      <vt:lpstr>Ejemplo: distribución Normal bivariada</vt:lpstr>
      <vt:lpstr>Datos con distribución Normal bivariada</vt:lpstr>
      <vt:lpstr>Ejemplo: Distribución Normal multivariada</vt:lpstr>
      <vt:lpstr>Asociación de Variables</vt:lpstr>
      <vt:lpstr>Covarianza y Correlación</vt:lpstr>
      <vt:lpstr>Correlación en gráficos</vt:lpstr>
      <vt:lpstr>Interpretación</vt:lpstr>
      <vt:lpstr>Coeficiente de correlación lineal. Spearman</vt:lpstr>
      <vt:lpstr>Coeficiente de correlación lineal. Tau de Kendall</vt:lpstr>
      <vt:lpstr>Cuidado!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José Ramon Iglesias Gamarra</cp:lastModifiedBy>
  <cp:revision>8</cp:revision>
  <dcterms:modified xsi:type="dcterms:W3CDTF">2026-07-08T15:28:22Z</dcterms:modified>
</cp:coreProperties>
</file>