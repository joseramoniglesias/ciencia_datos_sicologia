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44"/>
  </p:notesMasterIdLst>
  <p:sldIdLst>
    <p:sldId id="298"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sldSz cx="9144000" cy="5143500" type="screen16x9"/>
  <p:notesSz cx="6858000" cy="9144000"/>
  <p:embeddedFontLst>
    <p:embeddedFont>
      <p:font typeface="Economica" panose="020B0604020202020204" charset="0"/>
      <p:regular r:id="rId45"/>
      <p:bold r:id="rId46"/>
      <p:italic r:id="rId47"/>
      <p:boldItalic r:id="rId48"/>
    </p:embeddedFont>
    <p:embeddedFont>
      <p:font typeface="Gill Sans MT" panose="020B0502020104020203" pitchFamily="34" charset="0"/>
      <p:regular r:id="rId49"/>
      <p:bold r:id="rId50"/>
      <p:italic r:id="rId51"/>
      <p:boldItalic r:id="rId52"/>
    </p:embeddedFont>
    <p:embeddedFont>
      <p:font typeface="Open Sans" panose="020B0606030504020204" pitchFamily="34" charset="0"/>
      <p:regular r:id="rId53"/>
      <p:bold r:id="rId54"/>
      <p:italic r:id="rId55"/>
      <p:boldItalic r:id="rId56"/>
    </p:embeddedFont>
    <p:embeddedFont>
      <p:font typeface="Roboto" panose="02000000000000000000" pitchFamily="2" charset="0"/>
      <p:regular r:id="rId57"/>
      <p:bold r:id="rId58"/>
      <p:italic r:id="rId59"/>
      <p:boldItalic r:id="rId60"/>
    </p:embeddedFont>
    <p:embeddedFont>
      <p:font typeface="Trebuchet MS" panose="020B0603020202020204" pitchFamily="34" charset="0"/>
      <p:regular r:id="rId61"/>
      <p:bold r:id="rId62"/>
      <p:italic r:id="rId63"/>
      <p:boldItalic r:id="rId6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2880">
          <p15:clr>
            <a:srgbClr val="9AA0A6"/>
          </p15:clr>
        </p15:guide>
        <p15:guide id="2" orient="horz" pos="594">
          <p15:clr>
            <a:srgbClr val="9AA0A6"/>
          </p15:clr>
        </p15:guide>
        <p15:guide id="3" orient="horz" pos="1864">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1B300F3-8315-4C43-94BD-F69CAAB65E06}">
  <a:tblStyle styleId="{21B300F3-8315-4C43-94BD-F69CAAB65E06}"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3658" autoAdjust="0"/>
  </p:normalViewPr>
  <p:slideViewPr>
    <p:cSldViewPr snapToGrid="0">
      <p:cViewPr varScale="1">
        <p:scale>
          <a:sx n="76" d="100"/>
          <a:sy n="76" d="100"/>
        </p:scale>
        <p:origin x="1236" y="78"/>
      </p:cViewPr>
      <p:guideLst>
        <p:guide pos="2880"/>
        <p:guide orient="horz" pos="594"/>
        <p:guide orient="horz" pos="186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3.fntdata"/><Relationship Id="rId50" Type="http://schemas.openxmlformats.org/officeDocument/2006/relationships/font" Target="fonts/font6.fntdata"/><Relationship Id="rId55" Type="http://schemas.openxmlformats.org/officeDocument/2006/relationships/font" Target="fonts/font11.fntdata"/><Relationship Id="rId63" Type="http://schemas.openxmlformats.org/officeDocument/2006/relationships/font" Target="fonts/font19.fntdata"/><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1.fntdata"/><Relationship Id="rId53" Type="http://schemas.openxmlformats.org/officeDocument/2006/relationships/font" Target="fonts/font9.fntdata"/><Relationship Id="rId58" Type="http://schemas.openxmlformats.org/officeDocument/2006/relationships/font" Target="fonts/font14.fntdata"/><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font" Target="fonts/font17.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4.fntdata"/><Relationship Id="rId56" Type="http://schemas.openxmlformats.org/officeDocument/2006/relationships/font" Target="fonts/font12.fntdata"/><Relationship Id="rId64" Type="http://schemas.openxmlformats.org/officeDocument/2006/relationships/font" Target="fonts/font20.fntdata"/><Relationship Id="rId8" Type="http://schemas.openxmlformats.org/officeDocument/2006/relationships/slide" Target="slides/slide7.xml"/><Relationship Id="rId51" Type="http://schemas.openxmlformats.org/officeDocument/2006/relationships/font" Target="fonts/font7.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2.fntdata"/><Relationship Id="rId59" Type="http://schemas.openxmlformats.org/officeDocument/2006/relationships/font" Target="fonts/font15.fntdata"/><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0.fntdata"/><Relationship Id="rId62" Type="http://schemas.openxmlformats.org/officeDocument/2006/relationships/font" Target="fonts/font18.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5.fntdata"/><Relationship Id="rId57" Type="http://schemas.openxmlformats.org/officeDocument/2006/relationships/font" Target="fonts/font13.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notesMaster" Target="notesMasters/notesMaster1.xml"/><Relationship Id="rId52" Type="http://schemas.openxmlformats.org/officeDocument/2006/relationships/font" Target="fonts/font8.fntdata"/><Relationship Id="rId60" Type="http://schemas.openxmlformats.org/officeDocument/2006/relationships/font" Target="fonts/font16.fntdata"/><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11ef0ed607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11ef0ed607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Para poder empezar a trabajar, tenemos que enteder cuál es el concepto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11ef0ed6079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11ef0ed6079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11ef0ed6079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11ef0ed6079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11ef0ed6079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11ef0ed6079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Existen otros tipos de medias, pero la más usada es la media aritmética</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11ef0ed6079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11ef0ed6079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Existen otros tipos de medias, pero la más usada es la media aritmética</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11ef0ed6079_0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11ef0ed6079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Existen otros tipos de medias, pero la más usada es la media aritmética</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11ef0ed6079_0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11ef0ed6079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11ef0ed6079_0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11ef0ed6079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11ef0ed6079_0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11ef0ed6079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11ef0ed6079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11ef0ed6079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11ef0ed6079_0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11ef0ed6079_0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11ef0ed6079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11ef0ed6079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11ef0ed6079_0_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11ef0ed6079_0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ef0ed6079_0_1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11ef0ed6079_0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11ef0ed6079_0_1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11ef0ed6079_0_1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Comenzamos a hablar ahora de dos variables aleatorias: el salario y el nivel de estudios.</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73517200bf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73517200bf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11e80c4ed26_0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11e80c4ed26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a:solidFill>
                  <a:schemeClr val="dk1"/>
                </a:solidFill>
              </a:rPr>
              <a:t>Se quiere estimar la densidad (discreta o probabilidad puntual) de dicha variable aleatoria? ¿Cuál sería la probabilidad de que, en la muestra, haya 0 caras, una, etc, hasta 3. es decir cuánto vale P(X=k) para k=0, ..,3. Repitiendo el experimento una cierta cantidad de veces, podemos estimar la probabilidad con la proporción.</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712fc1569e_0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 name="Google Shape;207;g712fc1569e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a:solidFill>
                  <a:schemeClr val="dk1"/>
                </a:solidFill>
              </a:rPr>
              <a:t>Se quiere estimar la densidad (discreta o probabilidad puntual) de dicha variable aleatoria? ¿Cuál sería la probabilidad de que, en la muestra, haya 0 caras, una, etc, hasta 3. es decir cuánto vale P(X=k) para k=0, ..,3. Repitiendo el experimento una cierta cantidad de veces, podemos estimar la probabilidad con la proporción.</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70f2a9669f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 name="Google Shape;216;g70f2a9669f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713be3bb0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4" name="Google Shape;224;g713be3bb0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a:solidFill>
                  <a:schemeClr val="dk1"/>
                </a:solidFill>
              </a:rPr>
              <a:t>Se quiere modelar la variable aleatoria cantidad de caras al lanzar una moneda 3 veces. ¿Cuál sería la densidad (discreta) de dicha variable aleatoria? ¿ Cuál sería la probabilidad de que, en la muestra, haya 0 caras? ¿Cuál sería la probabilidad de que haya una cara?, y así hasta 3. es decir, cuánto vale P(X=k) para k=0, ..,3.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70f2a9669f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70f2a9669f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dirty="0"/>
              <a:t>Distribución binomial modela la probabilidad de la cantidad de éxitos o  situación de interés. En una n-upla donde p es la probabilidad de éxito o que se de la situación de interés. El que salga cara puede ser considerado un éxito. También el “éxito” puede ser que en una selección, con reposición, la persona elegida tenga rulos. La situación de interés (o “exito” ) puede ser que la persona sea de Capricornio. En la bibliografía se considera el no “exito” como fracaso que sería el complemento.  La probabilidad del fracaso, no éxito o complemento sería (1-p) , etc. p y n resultan parámetros de esta distribución y por eso podeos llamarla distribución paramétrica, define toda una familia de distribuciones binomiales parametrizadas por p y n.</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s" dirty="0"/>
              <a:t>Reiteramos que el ejemplo anterior (el de las 3 monedas)  es un caso particular de Distribución Binomial, donde </a:t>
            </a:r>
            <a:r>
              <a:rPr lang="es" dirty="0">
                <a:solidFill>
                  <a:schemeClr val="dk1"/>
                </a:solidFill>
              </a:rPr>
              <a:t>p=½ , probabilidad de salir cara y n=3</a:t>
            </a:r>
            <a:endParaRPr dirty="0">
              <a:solidFill>
                <a:schemeClr val="dk1"/>
              </a:solidFill>
            </a:endParaRPr>
          </a:p>
          <a:p>
            <a:pPr marL="0" lvl="0" indent="0" algn="l" rtl="0">
              <a:spcBef>
                <a:spcPts val="0"/>
              </a:spcBef>
              <a:spcAft>
                <a:spcPts val="0"/>
              </a:spcAft>
              <a:buNone/>
            </a:pPr>
            <a:endParaRPr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72234f11b6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72234f11b6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712fc1569e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7" name="Google Shape;247;g712fc1569e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En el caso de X variable aleatoria discreta, la función de densidad discreta también es llamada probabilidad puntual. Otra notación usual: p(k) = P(X=k), con k en un conjunto finito o infinito numerable (contable). Si puede extender la noción de densidad discreta para variables del tipo categórica que sería la probabilidad de ser asignada a una clase o categoría, pero no está definida la función de distribución acumulada pues las clases no tienen orden.</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72234f11b6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72234f11b6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7294c8f061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7294c8f061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72234f11b6_0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72234f11b6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Modela la distribución de una variable numérica continua, con valores en toda la recta real más densa en el centro y menos densa hacia los extremos (infinitos). cumple las propiedades de cualquier función de densidad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7294c8f061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7294c8f061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Modela la distribución de una variable numérica continua, con valores en toda la recta real más densa en el centro y menos densa hacia los extremos (infinitos). cumple las propiedades de cualquier función de densidad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72234f11b6_0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 name="Google Shape;290;g72234f11b6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8048d7f23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8048d7f23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2234f11b6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2234f11b6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cecf0cf5d2_0_1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3" name="Google Shape;313;gcecf0cf5d2_0_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cecf0cf5d2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0" name="Google Shape;320;gcecf0cf5d2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cecf0cf5d2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cecf0cf5d2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Medida más adecuada para datos categóricos (pues la Media y la Mediana  NO tienen sentido para datos categóricos)</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gcecf0cf5d2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8" name="Google Shape;338;gcecf0cf5d2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Estos tres conceptos están definidos tanto para una muestra o conjunto de datos como para una función de densidad teórica. Ambos tipos de definiciones tienen las mismas propiedades.</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72234f11b6_0_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6" name="Google Shape;346;g72234f11b6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cecf0cf5d2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4" name="Google Shape;354;gcecf0cf5d2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8048d7f234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8048d7f234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g86f98127bb_2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7" name="Google Shape;367;g86f98127bb_2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g7294c8f061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4" name="Google Shape;374;g7294c8f061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gcecf0cf5d2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4" name="Google Shape;384;gcecf0cf5d2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gcecf0cf5d2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4" name="Google Shape;394;gcecf0cf5d2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2" name="Google Shape;12;p2"/>
          <p:cNvSpPr txBox="1">
            <a:spLocks noGrp="1"/>
          </p:cNvSpPr>
          <p:nvPr>
            <p:ph type="ctrTitle"/>
          </p:nvPr>
        </p:nvSpPr>
        <p:spPr>
          <a:xfrm>
            <a:off x="3044700" y="1444255"/>
            <a:ext cx="3054600" cy="15372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a:endParaRPr/>
          </a:p>
        </p:txBody>
      </p:sp>
      <p:sp>
        <p:nvSpPr>
          <p:cNvPr id="13" name="Google Shape;13;p2"/>
          <p:cNvSpPr txBox="1">
            <a:spLocks noGrp="1"/>
          </p:cNvSpPr>
          <p:nvPr>
            <p:ph type="subTitle" idx="1"/>
          </p:nvPr>
        </p:nvSpPr>
        <p:spPr>
          <a:xfrm>
            <a:off x="3044700" y="3116580"/>
            <a:ext cx="3054600" cy="7014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a:endParaRPr/>
          </a:p>
        </p:txBody>
      </p:sp>
      <p:sp>
        <p:nvSpPr>
          <p:cNvPr id="14" name="Google Shape;14;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8" name="Google Shape;18;p3"/>
          <p:cNvSpPr txBox="1">
            <a:spLocks noGrp="1"/>
          </p:cNvSpPr>
          <p:nvPr>
            <p:ph type="title"/>
          </p:nvPr>
        </p:nvSpPr>
        <p:spPr>
          <a:xfrm>
            <a:off x="773700" y="1806450"/>
            <a:ext cx="7596600" cy="1530600"/>
          </a:xfrm>
          <a:prstGeom prst="rect">
            <a:avLst/>
          </a:prstGeom>
        </p:spPr>
        <p:txBody>
          <a:bodyPr spcFirstLastPara="1" wrap="square" lIns="91425" tIns="91425" rIns="91425" bIns="91425" anchor="ctr" anchorCtr="0">
            <a:no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a:endParaRPr/>
          </a:p>
        </p:txBody>
      </p:sp>
      <p:sp>
        <p:nvSpPr>
          <p:cNvPr id="19" name="Google Shape;19;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sp>
        <p:nvSpPr>
          <p:cNvPr id="21" name="Google Shape;21;p4"/>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4"/>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23" name="Google Shape;23;p4"/>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24" name="Google Shape;24;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extLst>
    <p:ext uri="{DCECCB84-F9BA-43D5-87BE-67443E8EF086}">
      <p15:sldGuideLst xmlns:p15="http://schemas.microsoft.com/office/powerpoint/2012/main">
        <p15:guide id="1" orient="horz" pos="596">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sp>
        <p:nvSpPr>
          <p:cNvPr id="26" name="Google Shape;26;p5"/>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27" name="Google Shape;27;p5"/>
          <p:cNvSpPr txBox="1">
            <a:spLocks noGrp="1"/>
          </p:cNvSpPr>
          <p:nvPr>
            <p:ph type="body" idx="1"/>
          </p:nvPr>
        </p:nvSpPr>
        <p:spPr>
          <a:xfrm>
            <a:off x="311700" y="1225225"/>
            <a:ext cx="3999900" cy="33540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8" name="Google Shape;28;p5"/>
          <p:cNvSpPr txBox="1">
            <a:spLocks noGrp="1"/>
          </p:cNvSpPr>
          <p:nvPr>
            <p:ph type="body" idx="2"/>
          </p:nvPr>
        </p:nvSpPr>
        <p:spPr>
          <a:xfrm>
            <a:off x="4832400" y="1225225"/>
            <a:ext cx="3999900" cy="33540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9" name="Google Shape;29;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p6"/>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32" name="Google Shape;32;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extLst>
    <p:ext uri="{DCECCB84-F9BA-43D5-87BE-67443E8EF086}">
      <p15:sldGuideLst xmlns:p15="http://schemas.microsoft.com/office/powerpoint/2012/main">
        <p15:guide id="1" orient="horz" pos="595">
          <p15:clr>
            <a:srgbClr val="FA7B17"/>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3"/>
        <p:cNvGrpSpPr/>
        <p:nvPr/>
      </p:nvGrpSpPr>
      <p:grpSpPr>
        <a:xfrm>
          <a:off x="0" y="0"/>
          <a:ext cx="0" cy="0"/>
          <a:chOff x="0" y="0"/>
          <a:chExt cx="0" cy="0"/>
        </a:xfrm>
      </p:grpSpPr>
      <p:sp>
        <p:nvSpPr>
          <p:cNvPr id="34" name="Google Shape;34;p7"/>
          <p:cNvSpPr txBox="1">
            <a:spLocks noGrp="1"/>
          </p:cNvSpPr>
          <p:nvPr>
            <p:ph type="title"/>
          </p:nvPr>
        </p:nvSpPr>
        <p:spPr>
          <a:xfrm>
            <a:off x="311700" y="3168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42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35" name="Google Shape;35;p7"/>
          <p:cNvSpPr txBox="1">
            <a:spLocks noGrp="1"/>
          </p:cNvSpPr>
          <p:nvPr>
            <p:ph type="body" idx="1"/>
          </p:nvPr>
        </p:nvSpPr>
        <p:spPr>
          <a:xfrm>
            <a:off x="311700" y="1224000"/>
            <a:ext cx="2808000" cy="34392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6" name="Google Shape;36;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7"/>
        <p:cNvGrpSpPr/>
        <p:nvPr/>
      </p:nvGrpSpPr>
      <p:grpSpPr>
        <a:xfrm>
          <a:off x="0" y="0"/>
          <a:ext cx="0" cy="0"/>
          <a:chOff x="0" y="0"/>
          <a:chExt cx="0" cy="0"/>
        </a:xfrm>
      </p:grpSpPr>
      <p:sp>
        <p:nvSpPr>
          <p:cNvPr id="38" name="Google Shape;38;p8"/>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8"/>
          <p:cNvSpPr txBox="1">
            <a:spLocks noGrp="1"/>
          </p:cNvSpPr>
          <p:nvPr>
            <p:ph type="title"/>
          </p:nvPr>
        </p:nvSpPr>
        <p:spPr>
          <a:xfrm>
            <a:off x="490250" y="450150"/>
            <a:ext cx="5878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0" name="Google Shape;40;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1"/>
        <p:cNvGrpSpPr/>
        <p:nvPr/>
      </p:nvGrpSpPr>
      <p:grpSpPr>
        <a:xfrm>
          <a:off x="0" y="0"/>
          <a:ext cx="0" cy="0"/>
          <a:chOff x="0" y="0"/>
          <a:chExt cx="0" cy="0"/>
        </a:xfrm>
      </p:grpSpPr>
      <p:sp>
        <p:nvSpPr>
          <p:cNvPr id="42" name="Google Shape;42;p9"/>
          <p:cNvSpPr/>
          <p:nvPr/>
        </p:nvSpPr>
        <p:spPr>
          <a:xfrm>
            <a:off x="4572000" y="-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3" name="Google Shape;43;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4" name="Google Shape;44;p9"/>
          <p:cNvSpPr txBox="1">
            <a:spLocks noGrp="1"/>
          </p:cNvSpPr>
          <p:nvPr>
            <p:ph type="title"/>
          </p:nvPr>
        </p:nvSpPr>
        <p:spPr>
          <a:xfrm>
            <a:off x="265500" y="929275"/>
            <a:ext cx="4045200" cy="17862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a:endParaRPr/>
          </a:p>
        </p:txBody>
      </p:sp>
      <p:sp>
        <p:nvSpPr>
          <p:cNvPr id="45" name="Google Shape;45;p9"/>
          <p:cNvSpPr txBox="1">
            <a:spLocks noGrp="1"/>
          </p:cNvSpPr>
          <p:nvPr>
            <p:ph type="subTitle" idx="1"/>
          </p:nvPr>
        </p:nvSpPr>
        <p:spPr>
          <a:xfrm>
            <a:off x="265500" y="2769001"/>
            <a:ext cx="4045200" cy="1574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a:endParaRPr/>
          </a:p>
        </p:txBody>
      </p:sp>
      <p:sp>
        <p:nvSpPr>
          <p:cNvPr id="46" name="Google Shape;46;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1600"/>
              </a:spcBef>
              <a:spcAft>
                <a:spcPts val="0"/>
              </a:spcAft>
              <a:buClr>
                <a:schemeClr val="lt1"/>
              </a:buClr>
              <a:buSzPts val="1400"/>
              <a:buChar char="○"/>
              <a:defRPr>
                <a:solidFill>
                  <a:schemeClr val="lt1"/>
                </a:solidFill>
              </a:defRPr>
            </a:lvl2pPr>
            <a:lvl3pPr marL="1371600" lvl="2" indent="-317500">
              <a:spcBef>
                <a:spcPts val="1600"/>
              </a:spcBef>
              <a:spcAft>
                <a:spcPts val="0"/>
              </a:spcAft>
              <a:buClr>
                <a:schemeClr val="lt1"/>
              </a:buClr>
              <a:buSzPts val="1400"/>
              <a:buChar char="■"/>
              <a:defRPr>
                <a:solidFill>
                  <a:schemeClr val="lt1"/>
                </a:solidFill>
              </a:defRPr>
            </a:lvl3pPr>
            <a:lvl4pPr marL="1828800" lvl="3" indent="-317500">
              <a:spcBef>
                <a:spcPts val="1600"/>
              </a:spcBef>
              <a:spcAft>
                <a:spcPts val="0"/>
              </a:spcAft>
              <a:buClr>
                <a:schemeClr val="lt1"/>
              </a:buClr>
              <a:buSzPts val="1400"/>
              <a:buChar char="●"/>
              <a:defRPr>
                <a:solidFill>
                  <a:schemeClr val="lt1"/>
                </a:solidFill>
              </a:defRPr>
            </a:lvl4pPr>
            <a:lvl5pPr marL="2286000" lvl="4" indent="-317500">
              <a:spcBef>
                <a:spcPts val="1600"/>
              </a:spcBef>
              <a:spcAft>
                <a:spcPts val="0"/>
              </a:spcAft>
              <a:buClr>
                <a:schemeClr val="lt1"/>
              </a:buClr>
              <a:buSzPts val="1400"/>
              <a:buChar char="○"/>
              <a:defRPr>
                <a:solidFill>
                  <a:schemeClr val="lt1"/>
                </a:solidFill>
              </a:defRPr>
            </a:lvl5pPr>
            <a:lvl6pPr marL="2743200" lvl="5" indent="-317500">
              <a:spcBef>
                <a:spcPts val="1600"/>
              </a:spcBef>
              <a:spcAft>
                <a:spcPts val="0"/>
              </a:spcAft>
              <a:buClr>
                <a:schemeClr val="lt1"/>
              </a:buClr>
              <a:buSzPts val="1400"/>
              <a:buChar char="■"/>
              <a:defRPr>
                <a:solidFill>
                  <a:schemeClr val="lt1"/>
                </a:solidFill>
              </a:defRPr>
            </a:lvl6pPr>
            <a:lvl7pPr marL="3200400" lvl="6" indent="-317500">
              <a:spcBef>
                <a:spcPts val="1600"/>
              </a:spcBef>
              <a:spcAft>
                <a:spcPts val="0"/>
              </a:spcAft>
              <a:buClr>
                <a:schemeClr val="lt1"/>
              </a:buClr>
              <a:buSzPts val="1400"/>
              <a:buChar char="●"/>
              <a:defRPr>
                <a:solidFill>
                  <a:schemeClr val="lt1"/>
                </a:solidFill>
              </a:defRPr>
            </a:lvl7pPr>
            <a:lvl8pPr marL="3657600" lvl="7" indent="-317500">
              <a:spcBef>
                <a:spcPts val="1600"/>
              </a:spcBef>
              <a:spcAft>
                <a:spcPts val="0"/>
              </a:spcAft>
              <a:buClr>
                <a:schemeClr val="lt1"/>
              </a:buClr>
              <a:buSzPts val="1400"/>
              <a:buChar char="○"/>
              <a:defRPr>
                <a:solidFill>
                  <a:schemeClr val="lt1"/>
                </a:solidFill>
              </a:defRPr>
            </a:lvl8pPr>
            <a:lvl9pPr marL="4114800" lvl="8" indent="-317500">
              <a:spcBef>
                <a:spcPts val="1600"/>
              </a:spcBef>
              <a:spcAft>
                <a:spcPts val="1600"/>
              </a:spcAft>
              <a:buClr>
                <a:schemeClr val="lt1"/>
              </a:buClr>
              <a:buSzPts val="1400"/>
              <a:buChar char="■"/>
              <a:defRPr>
                <a:solidFill>
                  <a:schemeClr val="lt1"/>
                </a:solidFill>
              </a:defRPr>
            </a:lvl9pPr>
          </a:lstStyle>
          <a:p>
            <a:endParaRPr/>
          </a:p>
        </p:txBody>
      </p:sp>
      <p:sp>
        <p:nvSpPr>
          <p:cNvPr id="47" name="Google Shape;47;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8"/>
        <p:cNvGrpSpPr/>
        <p:nvPr/>
      </p:nvGrpSpPr>
      <p:grpSpPr>
        <a:xfrm>
          <a:off x="0" y="0"/>
          <a:ext cx="0" cy="0"/>
          <a:chOff x="0" y="0"/>
          <a:chExt cx="0" cy="0"/>
        </a:xfrm>
      </p:grpSpPr>
      <p:sp>
        <p:nvSpPr>
          <p:cNvPr id="49" name="Google Shape;49;p10"/>
          <p:cNvSpPr txBox="1">
            <a:spLocks noGrp="1"/>
          </p:cNvSpPr>
          <p:nvPr>
            <p:ph type="body" idx="1"/>
          </p:nvPr>
        </p:nvSpPr>
        <p:spPr>
          <a:xfrm>
            <a:off x="319500" y="4218925"/>
            <a:ext cx="5998800" cy="598800"/>
          </a:xfrm>
          <a:prstGeom prst="rect">
            <a:avLst/>
          </a:prstGeom>
        </p:spPr>
        <p:txBody>
          <a:bodyPr spcFirstLastPara="1" wrap="square" lIns="91425" tIns="91425" rIns="91425" bIns="91425" anchor="b" anchorCtr="0">
            <a:noAutofit/>
          </a:bodyPr>
          <a:lstStyle>
            <a:lvl1pPr marL="457200" lvl="0" indent="-228600">
              <a:lnSpc>
                <a:spcPct val="100000"/>
              </a:lnSpc>
              <a:spcBef>
                <a:spcPts val="0"/>
              </a:spcBef>
              <a:spcAft>
                <a:spcPts val="0"/>
              </a:spcAft>
              <a:buSzPts val="3600"/>
              <a:buFont typeface="Economica"/>
              <a:buNone/>
              <a:defRPr sz="3600">
                <a:latin typeface="Economica"/>
                <a:ea typeface="Economica"/>
                <a:cs typeface="Economica"/>
                <a:sym typeface="Economica"/>
              </a:defRPr>
            </a:lvl1pPr>
          </a:lstStyle>
          <a:p>
            <a:endParaRPr/>
          </a:p>
        </p:txBody>
      </p:sp>
      <p:sp>
        <p:nvSpPr>
          <p:cNvPr id="50" name="Google Shape;50;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1"/>
        <p:cNvGrpSpPr/>
        <p:nvPr/>
      </p:nvGrpSpPr>
      <p:grpSpPr>
        <a:xfrm>
          <a:off x="0" y="0"/>
          <a:ext cx="0" cy="0"/>
          <a:chOff x="0" y="0"/>
          <a:chExt cx="0" cy="0"/>
        </a:xfrm>
      </p:grpSpPr>
      <p:sp>
        <p:nvSpPr>
          <p:cNvPr id="52" name="Google Shape;52;p11"/>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11"/>
          <p:cNvSpPr txBox="1">
            <a:spLocks noGrp="1"/>
          </p:cNvSpPr>
          <p:nvPr>
            <p:ph type="title" hasCustomPrompt="1"/>
          </p:nvPr>
        </p:nvSpPr>
        <p:spPr>
          <a:xfrm>
            <a:off x="311700" y="957125"/>
            <a:ext cx="8520600" cy="21288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54" name="Google Shape;54;p11"/>
          <p:cNvSpPr txBox="1">
            <a:spLocks noGrp="1"/>
          </p:cNvSpPr>
          <p:nvPr>
            <p:ph type="body" idx="1"/>
          </p:nvPr>
        </p:nvSpPr>
        <p:spPr>
          <a:xfrm>
            <a:off x="311700" y="3162000"/>
            <a:ext cx="8520600" cy="10716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55" name="Google Shape;55;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Encabezado de sección subtitulo">
  <p:cSld name="SECTION_HEADER_1">
    <p:spTree>
      <p:nvGrpSpPr>
        <p:cNvPr id="1" name="Shape 58"/>
        <p:cNvGrpSpPr/>
        <p:nvPr/>
      </p:nvGrpSpPr>
      <p:grpSpPr>
        <a:xfrm>
          <a:off x="0" y="0"/>
          <a:ext cx="0" cy="0"/>
          <a:chOff x="0" y="0"/>
          <a:chExt cx="0" cy="0"/>
        </a:xfrm>
      </p:grpSpPr>
      <p:sp>
        <p:nvSpPr>
          <p:cNvPr id="61" name="Google Shape;61;p13"/>
          <p:cNvSpPr txBox="1">
            <a:spLocks noGrp="1"/>
          </p:cNvSpPr>
          <p:nvPr>
            <p:ph type="title"/>
          </p:nvPr>
        </p:nvSpPr>
        <p:spPr>
          <a:xfrm>
            <a:off x="773700" y="1445625"/>
            <a:ext cx="7596600" cy="1530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a:lvl1pPr>
            <a:lvl2pPr lvl="1" algn="ctr" rtl="0">
              <a:spcBef>
                <a:spcPts val="0"/>
              </a:spcBef>
              <a:spcAft>
                <a:spcPts val="0"/>
              </a:spcAft>
              <a:buSzPts val="4200"/>
              <a:buNone/>
              <a:defRPr/>
            </a:lvl2pPr>
            <a:lvl3pPr lvl="2" algn="ctr" rtl="0">
              <a:spcBef>
                <a:spcPts val="0"/>
              </a:spcBef>
              <a:spcAft>
                <a:spcPts val="0"/>
              </a:spcAft>
              <a:buSzPts val="4200"/>
              <a:buNone/>
              <a:defRPr/>
            </a:lvl3pPr>
            <a:lvl4pPr lvl="3" algn="ctr" rtl="0">
              <a:spcBef>
                <a:spcPts val="0"/>
              </a:spcBef>
              <a:spcAft>
                <a:spcPts val="0"/>
              </a:spcAft>
              <a:buSzPts val="4200"/>
              <a:buNone/>
              <a:defRPr/>
            </a:lvl4pPr>
            <a:lvl5pPr lvl="4" algn="ctr" rtl="0">
              <a:spcBef>
                <a:spcPts val="0"/>
              </a:spcBef>
              <a:spcAft>
                <a:spcPts val="0"/>
              </a:spcAft>
              <a:buSzPts val="4200"/>
              <a:buNone/>
              <a:defRPr/>
            </a:lvl5pPr>
            <a:lvl6pPr lvl="5" algn="ctr" rtl="0">
              <a:spcBef>
                <a:spcPts val="0"/>
              </a:spcBef>
              <a:spcAft>
                <a:spcPts val="0"/>
              </a:spcAft>
              <a:buSzPts val="4200"/>
              <a:buNone/>
              <a:defRPr/>
            </a:lvl6pPr>
            <a:lvl7pPr lvl="6" algn="ctr" rtl="0">
              <a:spcBef>
                <a:spcPts val="0"/>
              </a:spcBef>
              <a:spcAft>
                <a:spcPts val="0"/>
              </a:spcAft>
              <a:buSzPts val="4200"/>
              <a:buNone/>
              <a:defRPr/>
            </a:lvl7pPr>
            <a:lvl8pPr lvl="7" algn="ctr" rtl="0">
              <a:spcBef>
                <a:spcPts val="0"/>
              </a:spcBef>
              <a:spcAft>
                <a:spcPts val="0"/>
              </a:spcAft>
              <a:buSzPts val="4200"/>
              <a:buNone/>
              <a:defRPr/>
            </a:lvl8pPr>
            <a:lvl9pPr lvl="8" algn="ctr" rtl="0">
              <a:spcBef>
                <a:spcPts val="0"/>
              </a:spcBef>
              <a:spcAft>
                <a:spcPts val="0"/>
              </a:spcAft>
              <a:buSzPts val="4200"/>
              <a:buNone/>
              <a:defRPr/>
            </a:lvl9pPr>
          </a:lstStyle>
          <a:p>
            <a:endParaRPr/>
          </a:p>
        </p:txBody>
      </p:sp>
      <p:sp>
        <p:nvSpPr>
          <p:cNvPr id="62" name="Google Shape;62;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s"/>
              <a:t>‹Nº›</a:t>
            </a:fld>
            <a:endParaRPr/>
          </a:p>
        </p:txBody>
      </p:sp>
      <p:sp>
        <p:nvSpPr>
          <p:cNvPr id="63" name="Google Shape;63;p13"/>
          <p:cNvSpPr txBox="1">
            <a:spLocks noGrp="1"/>
          </p:cNvSpPr>
          <p:nvPr>
            <p:ph type="title" idx="2"/>
          </p:nvPr>
        </p:nvSpPr>
        <p:spPr>
          <a:xfrm>
            <a:off x="773700" y="2876900"/>
            <a:ext cx="7596600" cy="9285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accent2"/>
              </a:buClr>
              <a:buSzPts val="2600"/>
              <a:buNone/>
              <a:defRPr sz="2600">
                <a:solidFill>
                  <a:schemeClr val="accent2"/>
                </a:solidFill>
              </a:defRPr>
            </a:lvl1pPr>
            <a:lvl2pPr lvl="1" algn="ctr" rtl="0">
              <a:spcBef>
                <a:spcPts val="0"/>
              </a:spcBef>
              <a:spcAft>
                <a:spcPts val="0"/>
              </a:spcAft>
              <a:buClr>
                <a:schemeClr val="accent2"/>
              </a:buClr>
              <a:buSzPts val="2600"/>
              <a:buNone/>
              <a:defRPr sz="2600">
                <a:solidFill>
                  <a:schemeClr val="accent2"/>
                </a:solidFill>
              </a:defRPr>
            </a:lvl2pPr>
            <a:lvl3pPr lvl="2" algn="ctr" rtl="0">
              <a:spcBef>
                <a:spcPts val="0"/>
              </a:spcBef>
              <a:spcAft>
                <a:spcPts val="0"/>
              </a:spcAft>
              <a:buClr>
                <a:schemeClr val="accent2"/>
              </a:buClr>
              <a:buSzPts val="2600"/>
              <a:buNone/>
              <a:defRPr sz="2600">
                <a:solidFill>
                  <a:schemeClr val="accent2"/>
                </a:solidFill>
              </a:defRPr>
            </a:lvl3pPr>
            <a:lvl4pPr lvl="3" algn="ctr" rtl="0">
              <a:spcBef>
                <a:spcPts val="0"/>
              </a:spcBef>
              <a:spcAft>
                <a:spcPts val="0"/>
              </a:spcAft>
              <a:buClr>
                <a:schemeClr val="accent2"/>
              </a:buClr>
              <a:buSzPts val="2600"/>
              <a:buNone/>
              <a:defRPr sz="2600">
                <a:solidFill>
                  <a:schemeClr val="accent2"/>
                </a:solidFill>
              </a:defRPr>
            </a:lvl4pPr>
            <a:lvl5pPr lvl="4" algn="ctr" rtl="0">
              <a:spcBef>
                <a:spcPts val="0"/>
              </a:spcBef>
              <a:spcAft>
                <a:spcPts val="0"/>
              </a:spcAft>
              <a:buClr>
                <a:schemeClr val="accent2"/>
              </a:buClr>
              <a:buSzPts val="2600"/>
              <a:buNone/>
              <a:defRPr sz="2600">
                <a:solidFill>
                  <a:schemeClr val="accent2"/>
                </a:solidFill>
              </a:defRPr>
            </a:lvl5pPr>
            <a:lvl6pPr lvl="5" algn="ctr" rtl="0">
              <a:spcBef>
                <a:spcPts val="0"/>
              </a:spcBef>
              <a:spcAft>
                <a:spcPts val="0"/>
              </a:spcAft>
              <a:buClr>
                <a:schemeClr val="accent2"/>
              </a:buClr>
              <a:buSzPts val="2600"/>
              <a:buNone/>
              <a:defRPr sz="2600">
                <a:solidFill>
                  <a:schemeClr val="accent2"/>
                </a:solidFill>
              </a:defRPr>
            </a:lvl6pPr>
            <a:lvl7pPr lvl="6" algn="ctr" rtl="0">
              <a:spcBef>
                <a:spcPts val="0"/>
              </a:spcBef>
              <a:spcAft>
                <a:spcPts val="0"/>
              </a:spcAft>
              <a:buClr>
                <a:schemeClr val="accent2"/>
              </a:buClr>
              <a:buSzPts val="2600"/>
              <a:buNone/>
              <a:defRPr sz="2600">
                <a:solidFill>
                  <a:schemeClr val="accent2"/>
                </a:solidFill>
              </a:defRPr>
            </a:lvl7pPr>
            <a:lvl8pPr lvl="7" algn="ctr" rtl="0">
              <a:spcBef>
                <a:spcPts val="0"/>
              </a:spcBef>
              <a:spcAft>
                <a:spcPts val="0"/>
              </a:spcAft>
              <a:buClr>
                <a:schemeClr val="accent2"/>
              </a:buClr>
              <a:buSzPts val="2600"/>
              <a:buNone/>
              <a:defRPr sz="2600">
                <a:solidFill>
                  <a:schemeClr val="accent2"/>
                </a:solidFill>
              </a:defRPr>
            </a:lvl8pPr>
            <a:lvl9pPr lvl="8" algn="ctr" rtl="0">
              <a:spcBef>
                <a:spcPts val="0"/>
              </a:spcBef>
              <a:spcAft>
                <a:spcPts val="0"/>
              </a:spcAft>
              <a:buClr>
                <a:schemeClr val="accent2"/>
              </a:buClr>
              <a:buSzPts val="2600"/>
              <a:buNone/>
              <a:defRPr sz="2600">
                <a:solidFill>
                  <a:schemeClr val="accent2"/>
                </a:solidFil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lux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a:endParaRPr/>
          </a:p>
        </p:txBody>
      </p:sp>
      <p:sp>
        <p:nvSpPr>
          <p:cNvPr id="7" name="Google Shape;7;p1"/>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marL="914400" lvl="1"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marL="1371600" lvl="2"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marL="1828800" lvl="3"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marL="2286000" lvl="4"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marL="2743200" lvl="5"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marL="3200400" lvl="6"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marL="3657600" lvl="7"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marL="4114800" lvl="8" indent="-317500">
              <a:lnSpc>
                <a:spcPct val="115000"/>
              </a:lnSpc>
              <a:spcBef>
                <a:spcPts val="1600"/>
              </a:spcBef>
              <a:spcAft>
                <a:spcPts val="1600"/>
              </a:spcAft>
              <a:buClr>
                <a:schemeClr val="dk1"/>
              </a:buClr>
              <a:buSzPts val="1400"/>
              <a:buFont typeface="Open Sans"/>
              <a:buChar char="■"/>
              <a:defRPr>
                <a:solidFill>
                  <a:schemeClr val="dk1"/>
                </a:solidFill>
                <a:latin typeface="Open Sans"/>
                <a:ea typeface="Open Sans"/>
                <a:cs typeface="Open Sans"/>
                <a:sym typeface="Open Sans"/>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hyperlink" Target="http://www.garrahan.gov.ar/PDFS/crecimiento_y_desarrollo/estatura-f-0-6-a.pdf" TargetMode="External"/><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6.xml"/><Relationship Id="rId5" Type="http://schemas.openxmlformats.org/officeDocument/2006/relationships/image" Target="../media/image13.png"/><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8.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3.xml"/><Relationship Id="rId1" Type="http://schemas.openxmlformats.org/officeDocument/2006/relationships/slideLayout" Target="../slideLayouts/slideLayout6.xml"/><Relationship Id="rId5" Type="http://schemas.openxmlformats.org/officeDocument/2006/relationships/image" Target="../media/image20.png"/><Relationship Id="rId4" Type="http://schemas.openxmlformats.org/officeDocument/2006/relationships/image" Target="../media/image12.png"/></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4.xml"/><Relationship Id="rId1" Type="http://schemas.openxmlformats.org/officeDocument/2006/relationships/slideLayout" Target="../slideLayouts/slideLayout6.xml"/><Relationship Id="rId4" Type="http://schemas.openxmlformats.org/officeDocument/2006/relationships/hyperlink" Target="https://upload.wikimedia.org/wikipedia/commons/thumb/3/33/Visualisation_mode_median_mean.svg/512px-Visualisation_mode_median_mean.svg.png" TargetMode="External"/></Relationships>
</file>

<file path=ppt/slides/_rels/slide3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5.xml"/><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6.xml"/><Relationship Id="rId1" Type="http://schemas.openxmlformats.org/officeDocument/2006/relationships/slideLayout" Target="../slideLayouts/slideLayout6.xml"/><Relationship Id="rId4" Type="http://schemas.openxmlformats.org/officeDocument/2006/relationships/hyperlink" Target="https://www.proyectosendo.es/hijo-esta-percentil-3-hago/" TargetMode="Externa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26.gif"/><Relationship Id="rId2" Type="http://schemas.openxmlformats.org/officeDocument/2006/relationships/notesSlide" Target="../notesSlides/notesSlide39.xml"/><Relationship Id="rId1" Type="http://schemas.openxmlformats.org/officeDocument/2006/relationships/slideLayout" Target="../slideLayouts/slideLayout3.xml"/><Relationship Id="rId5" Type="http://schemas.openxmlformats.org/officeDocument/2006/relationships/image" Target="../media/image28.png"/><Relationship Id="rId4" Type="http://schemas.openxmlformats.org/officeDocument/2006/relationships/image" Target="../media/image27.png"/></Relationships>
</file>

<file path=ppt/slides/_rels/slide41.xml.rels><?xml version="1.0" encoding="UTF-8" standalone="yes"?>
<Relationships xmlns="http://schemas.openxmlformats.org/package/2006/relationships"><Relationship Id="rId3" Type="http://schemas.openxmlformats.org/officeDocument/2006/relationships/image" Target="../media/image26.gif"/><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B876E2BE-1E76-0F44-8020-A654157CDF76}"/>
              </a:ext>
            </a:extLst>
          </p:cNvPr>
          <p:cNvSpPr txBox="1"/>
          <p:nvPr/>
        </p:nvSpPr>
        <p:spPr>
          <a:xfrm>
            <a:off x="1663818" y="2894244"/>
            <a:ext cx="2656496" cy="1211870"/>
          </a:xfrm>
          <a:prstGeom prst="rect">
            <a:avLst/>
          </a:prstGeom>
          <a:noFill/>
        </p:spPr>
        <p:txBody>
          <a:bodyPr wrap="none" rtlCol="0">
            <a:spAutoFit/>
          </a:bodyPr>
          <a:lstStyle/>
          <a:p>
            <a:pPr defTabSz="514350"/>
            <a:r>
              <a:rPr lang="en-US" sz="2025" dirty="0">
                <a:latin typeface="Gill Sans MT" panose="020B0502020104020203" pitchFamily="34" charset="77"/>
              </a:rPr>
              <a:t>Dr. José Ramón Iglesias</a:t>
            </a:r>
          </a:p>
          <a:p>
            <a:pPr defTabSz="514350"/>
            <a:r>
              <a:rPr lang="en-US" sz="1050" dirty="0">
                <a:solidFill>
                  <a:prstClr val="white">
                    <a:lumMod val="50000"/>
                  </a:prstClr>
                </a:solidFill>
                <a:latin typeface="Gill Sans MT" panose="020B0502020104020203" pitchFamily="34" charset="77"/>
              </a:rPr>
              <a:t>DSP-ASIC BUILDER GROUP</a:t>
            </a:r>
          </a:p>
          <a:p>
            <a:pPr defTabSz="514350"/>
            <a:r>
              <a:rPr lang="en-US" sz="1050" dirty="0">
                <a:solidFill>
                  <a:prstClr val="white">
                    <a:lumMod val="50000"/>
                  </a:prstClr>
                </a:solidFill>
                <a:latin typeface="Gill Sans MT" panose="020B0502020104020203" pitchFamily="34" charset="77"/>
              </a:rPr>
              <a:t>Director Semillero TRIAC</a:t>
            </a:r>
          </a:p>
          <a:p>
            <a:pPr defTabSz="514350"/>
            <a:r>
              <a:rPr lang="en-US" sz="1050" dirty="0">
                <a:solidFill>
                  <a:prstClr val="white">
                    <a:lumMod val="50000"/>
                  </a:prstClr>
                </a:solidFill>
                <a:latin typeface="Gill Sans MT" panose="020B0502020104020203" pitchFamily="34" charset="77"/>
              </a:rPr>
              <a:t>Ingenieria Electronica</a:t>
            </a:r>
          </a:p>
          <a:p>
            <a:pPr defTabSz="514350"/>
            <a:r>
              <a:rPr lang="en-US" sz="1050" dirty="0">
                <a:solidFill>
                  <a:prstClr val="white">
                    <a:lumMod val="50000"/>
                  </a:prstClr>
                </a:solidFill>
                <a:latin typeface="Gill Sans MT" panose="020B0502020104020203" pitchFamily="34" charset="77"/>
              </a:rPr>
              <a:t>Universidad Popular del Cesar</a:t>
            </a:r>
          </a:p>
          <a:p>
            <a:pPr defTabSz="514350"/>
            <a:endParaRPr lang="en-US" sz="1050" dirty="0">
              <a:solidFill>
                <a:prstClr val="white">
                  <a:lumMod val="50000"/>
                </a:prstClr>
              </a:solidFill>
              <a:latin typeface="Gill Sans MT" panose="020B0502020104020203" pitchFamily="34" charset="77"/>
            </a:endParaRPr>
          </a:p>
        </p:txBody>
      </p:sp>
      <p:sp>
        <p:nvSpPr>
          <p:cNvPr id="8" name="TextBox 7">
            <a:extLst>
              <a:ext uri="{FF2B5EF4-FFF2-40B4-BE49-F238E27FC236}">
                <a16:creationId xmlns:a16="http://schemas.microsoft.com/office/drawing/2014/main" id="{DA0B8274-BF81-6D48-B1EC-87E4CF24BC51}"/>
              </a:ext>
            </a:extLst>
          </p:cNvPr>
          <p:cNvSpPr txBox="1"/>
          <p:nvPr/>
        </p:nvSpPr>
        <p:spPr>
          <a:xfrm>
            <a:off x="1889184" y="1315456"/>
            <a:ext cx="5365632" cy="646331"/>
          </a:xfrm>
          <a:prstGeom prst="rect">
            <a:avLst/>
          </a:prstGeom>
          <a:noFill/>
        </p:spPr>
        <p:txBody>
          <a:bodyPr wrap="square" rtlCol="0">
            <a:spAutoFit/>
          </a:bodyPr>
          <a:lstStyle/>
          <a:p>
            <a:pPr defTabSz="514350"/>
            <a:r>
              <a:rPr lang="en-US" sz="2475" dirty="0" err="1">
                <a:latin typeface="Arial" panose="020B0604020202020204" pitchFamily="34" charset="0"/>
                <a:cs typeface="Arial" panose="020B0604020202020204" pitchFamily="34" charset="0"/>
              </a:rPr>
              <a:t>Ciencia</a:t>
            </a:r>
            <a:r>
              <a:rPr lang="en-US" sz="2475" dirty="0">
                <a:latin typeface="Arial" panose="020B0604020202020204" pitchFamily="34" charset="0"/>
                <a:cs typeface="Arial" panose="020B0604020202020204" pitchFamily="34" charset="0"/>
              </a:rPr>
              <a:t> de </a:t>
            </a:r>
            <a:r>
              <a:rPr lang="en-US" sz="2475" dirty="0" err="1">
                <a:latin typeface="Arial" panose="020B0604020202020204" pitchFamily="34" charset="0"/>
                <a:cs typeface="Arial" panose="020B0604020202020204" pitchFamily="34" charset="0"/>
              </a:rPr>
              <a:t>Datos</a:t>
            </a:r>
            <a:r>
              <a:rPr lang="en-US" sz="2475" dirty="0">
                <a:latin typeface="Arial" panose="020B0604020202020204" pitchFamily="34" charset="0"/>
                <a:cs typeface="Arial" panose="020B0604020202020204" pitchFamily="34" charset="0"/>
              </a:rPr>
              <a:t> y </a:t>
            </a:r>
            <a:r>
              <a:rPr lang="en-US" sz="2475" dirty="0" err="1">
                <a:latin typeface="Arial" panose="020B0604020202020204" pitchFamily="34" charset="0"/>
                <a:cs typeface="Arial" panose="020B0604020202020204" pitchFamily="34" charset="0"/>
              </a:rPr>
              <a:t>BigData</a:t>
            </a:r>
            <a:endParaRPr lang="en-US" sz="2475" dirty="0">
              <a:latin typeface="Arial" panose="020B0604020202020204" pitchFamily="34" charset="0"/>
              <a:cs typeface="Arial" panose="020B0604020202020204" pitchFamily="34" charset="0"/>
            </a:endParaRPr>
          </a:p>
          <a:p>
            <a:pPr defTabSz="514350"/>
            <a:endParaRPr lang="en-US" sz="1125" dirty="0">
              <a:latin typeface="Gill Sans MT" panose="020B0502020104020203" pitchFamily="34" charset="77"/>
            </a:endParaRPr>
          </a:p>
        </p:txBody>
      </p:sp>
      <p:pic>
        <p:nvPicPr>
          <p:cNvPr id="5" name="Google Shape;30;p1">
            <a:extLst>
              <a:ext uri="{FF2B5EF4-FFF2-40B4-BE49-F238E27FC236}">
                <a16:creationId xmlns:a16="http://schemas.microsoft.com/office/drawing/2014/main" id="{4339DFEC-8BF3-4650-90E0-2B1293346692}"/>
              </a:ext>
            </a:extLst>
          </p:cNvPr>
          <p:cNvPicPr preferRelativeResize="0"/>
          <p:nvPr/>
        </p:nvPicPr>
        <p:blipFill rotWithShape="1">
          <a:blip r:embed="rId2">
            <a:alphaModFix/>
          </a:blip>
          <a:srcRect/>
          <a:stretch/>
        </p:blipFill>
        <p:spPr>
          <a:xfrm>
            <a:off x="1246153" y="679742"/>
            <a:ext cx="1942857" cy="635714"/>
          </a:xfrm>
          <a:prstGeom prst="rect">
            <a:avLst/>
          </a:prstGeom>
          <a:noFill/>
          <a:ln>
            <a:noFill/>
          </a:ln>
        </p:spPr>
      </p:pic>
      <p:sp>
        <p:nvSpPr>
          <p:cNvPr id="6" name="TextBox 1">
            <a:extLst>
              <a:ext uri="{FF2B5EF4-FFF2-40B4-BE49-F238E27FC236}">
                <a16:creationId xmlns:a16="http://schemas.microsoft.com/office/drawing/2014/main" id="{F0B24A3F-60C1-46BB-9F38-67F6A9D0EA23}"/>
              </a:ext>
            </a:extLst>
          </p:cNvPr>
          <p:cNvSpPr txBox="1"/>
          <p:nvPr/>
        </p:nvSpPr>
        <p:spPr>
          <a:xfrm>
            <a:off x="1143001" y="2273300"/>
            <a:ext cx="6858000" cy="369332"/>
          </a:xfrm>
          <a:prstGeom prst="rect">
            <a:avLst/>
          </a:prstGeom>
          <a:noFill/>
        </p:spPr>
        <p:txBody>
          <a:bodyPr wrap="square" rtlCol="0">
            <a:spAutoFit/>
          </a:bodyPr>
          <a:lstStyle/>
          <a:p>
            <a:pPr algn="ctr"/>
            <a:r>
              <a:rPr lang="es-CL" sz="1800" b="1" dirty="0">
                <a:latin typeface="Trebuchet MS"/>
                <a:cs typeface="Trebuchet MS"/>
              </a:rPr>
              <a:t>Análisis y Visualización de Datos: Datos y Modelos</a:t>
            </a:r>
          </a:p>
        </p:txBody>
      </p:sp>
    </p:spTree>
    <p:extLst>
      <p:ext uri="{BB962C8B-B14F-4D97-AF65-F5344CB8AC3E}">
        <p14:creationId xmlns:p14="http://schemas.microsoft.com/office/powerpoint/2010/main" val="2424940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100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5"/>
          <p:cNvSpPr txBox="1">
            <a:spLocks noGrp="1"/>
          </p:cNvSpPr>
          <p:nvPr>
            <p:ph type="body" idx="1"/>
          </p:nvPr>
        </p:nvSpPr>
        <p:spPr>
          <a:xfrm>
            <a:off x="319500" y="4218925"/>
            <a:ext cx="8621400" cy="598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¿Más herramientas para describir el “comportamiento” de los datos de la columna salary_monthly_NETO?</a:t>
            </a:r>
            <a:endParaRPr/>
          </a:p>
        </p:txBody>
      </p:sp>
      <p:pic>
        <p:nvPicPr>
          <p:cNvPr id="75" name="Google Shape;75;p15"/>
          <p:cNvPicPr preferRelativeResize="0"/>
          <p:nvPr/>
        </p:nvPicPr>
        <p:blipFill>
          <a:blip r:embed="rId3">
            <a:alphaModFix/>
          </a:blip>
          <a:stretch>
            <a:fillRect/>
          </a:stretch>
        </p:blipFill>
        <p:spPr>
          <a:xfrm>
            <a:off x="1181100" y="181350"/>
            <a:ext cx="6781800" cy="33528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6"/>
          <p:cNvSpPr txBox="1">
            <a:spLocks noGrp="1"/>
          </p:cNvSpPr>
          <p:nvPr>
            <p:ph type="title"/>
          </p:nvPr>
        </p:nvSpPr>
        <p:spPr>
          <a:xfrm>
            <a:off x="773700" y="1445625"/>
            <a:ext cx="7596600" cy="1530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
              <a:t>Estadística Descriptiva</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7"/>
          <p:cNvSpPr/>
          <p:nvPr/>
        </p:nvSpPr>
        <p:spPr>
          <a:xfrm>
            <a:off x="417275" y="440175"/>
            <a:ext cx="8320800" cy="2245200"/>
          </a:xfrm>
          <a:prstGeom prst="round2SameRect">
            <a:avLst>
              <a:gd name="adj1" fmla="val 18098"/>
              <a:gd name="adj2" fmla="val 0"/>
            </a:avLst>
          </a:prstGeom>
          <a:noFill/>
          <a:ln w="1905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900">
              <a:latin typeface="Open Sans"/>
              <a:ea typeface="Open Sans"/>
              <a:cs typeface="Open Sans"/>
              <a:sym typeface="Open Sans"/>
            </a:endParaRPr>
          </a:p>
        </p:txBody>
      </p:sp>
      <p:sp>
        <p:nvSpPr>
          <p:cNvPr id="86" name="Google Shape;86;p17"/>
          <p:cNvSpPr/>
          <p:nvPr/>
        </p:nvSpPr>
        <p:spPr>
          <a:xfrm rot="10800000">
            <a:off x="5960750" y="2685350"/>
            <a:ext cx="2776500" cy="1961700"/>
          </a:xfrm>
          <a:prstGeom prst="round1Rect">
            <a:avLst>
              <a:gd name="adj" fmla="val 17446"/>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900">
              <a:latin typeface="Open Sans"/>
              <a:ea typeface="Open Sans"/>
              <a:cs typeface="Open Sans"/>
              <a:sym typeface="Open Sans"/>
            </a:endParaRPr>
          </a:p>
        </p:txBody>
      </p:sp>
      <p:sp>
        <p:nvSpPr>
          <p:cNvPr id="87" name="Google Shape;87;p17"/>
          <p:cNvSpPr/>
          <p:nvPr/>
        </p:nvSpPr>
        <p:spPr>
          <a:xfrm rot="10800000" flipH="1">
            <a:off x="417275" y="2685439"/>
            <a:ext cx="2776500" cy="1940100"/>
          </a:xfrm>
          <a:prstGeom prst="round1Rect">
            <a:avLst>
              <a:gd name="adj" fmla="val 17446"/>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900">
              <a:latin typeface="Open Sans"/>
              <a:ea typeface="Open Sans"/>
              <a:cs typeface="Open Sans"/>
              <a:sym typeface="Open Sans"/>
            </a:endParaRPr>
          </a:p>
        </p:txBody>
      </p:sp>
      <p:sp>
        <p:nvSpPr>
          <p:cNvPr id="88" name="Google Shape;88;p17"/>
          <p:cNvSpPr txBox="1"/>
          <p:nvPr/>
        </p:nvSpPr>
        <p:spPr>
          <a:xfrm>
            <a:off x="731145" y="2911173"/>
            <a:ext cx="2074500" cy="65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600" b="1">
                <a:solidFill>
                  <a:schemeClr val="dk1"/>
                </a:solidFill>
                <a:latin typeface="Open Sans"/>
                <a:ea typeface="Open Sans"/>
                <a:cs typeface="Open Sans"/>
                <a:sym typeface="Open Sans"/>
              </a:rPr>
              <a:t>Análisis de frecuencias</a:t>
            </a:r>
            <a:endParaRPr sz="1600">
              <a:solidFill>
                <a:schemeClr val="dk1"/>
              </a:solidFill>
              <a:latin typeface="Open Sans"/>
              <a:ea typeface="Open Sans"/>
              <a:cs typeface="Open Sans"/>
              <a:sym typeface="Open Sans"/>
            </a:endParaRPr>
          </a:p>
        </p:txBody>
      </p:sp>
      <p:sp>
        <p:nvSpPr>
          <p:cNvPr id="89" name="Google Shape;89;p17"/>
          <p:cNvSpPr txBox="1"/>
          <p:nvPr/>
        </p:nvSpPr>
        <p:spPr>
          <a:xfrm>
            <a:off x="731141" y="3568558"/>
            <a:ext cx="2074500" cy="732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s" sz="1300">
                <a:solidFill>
                  <a:schemeClr val="dk1"/>
                </a:solidFill>
                <a:latin typeface="Open Sans"/>
                <a:ea typeface="Open Sans"/>
                <a:cs typeface="Open Sans"/>
                <a:sym typeface="Open Sans"/>
              </a:rPr>
              <a:t>¿Cuánto ocurre cada uno de los valores de una v.a.?</a:t>
            </a:r>
            <a:endParaRPr sz="1300">
              <a:solidFill>
                <a:schemeClr val="dk1"/>
              </a:solidFill>
              <a:latin typeface="Open Sans"/>
              <a:ea typeface="Open Sans"/>
              <a:cs typeface="Open Sans"/>
              <a:sym typeface="Open Sans"/>
            </a:endParaRPr>
          </a:p>
        </p:txBody>
      </p:sp>
      <p:sp>
        <p:nvSpPr>
          <p:cNvPr id="90" name="Google Shape;90;p17"/>
          <p:cNvSpPr/>
          <p:nvPr/>
        </p:nvSpPr>
        <p:spPr>
          <a:xfrm rot="10800000">
            <a:off x="3188585" y="2685350"/>
            <a:ext cx="2776500" cy="1961700"/>
          </a:xfrm>
          <a:prstGeom prst="round2SameRect">
            <a:avLst>
              <a:gd name="adj1" fmla="val 18098"/>
              <a:gd name="adj2" fmla="val 0"/>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900">
              <a:latin typeface="Open Sans"/>
              <a:ea typeface="Open Sans"/>
              <a:cs typeface="Open Sans"/>
              <a:sym typeface="Open Sans"/>
            </a:endParaRPr>
          </a:p>
        </p:txBody>
      </p:sp>
      <p:sp>
        <p:nvSpPr>
          <p:cNvPr id="91" name="Google Shape;91;p17"/>
          <p:cNvSpPr txBox="1"/>
          <p:nvPr/>
        </p:nvSpPr>
        <p:spPr>
          <a:xfrm>
            <a:off x="3502374" y="2911530"/>
            <a:ext cx="2074500" cy="65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600" b="1">
                <a:solidFill>
                  <a:schemeClr val="dk1"/>
                </a:solidFill>
                <a:latin typeface="Open Sans"/>
                <a:ea typeface="Open Sans"/>
                <a:cs typeface="Open Sans"/>
                <a:sym typeface="Open Sans"/>
              </a:rPr>
              <a:t>Medidas de tendencia central</a:t>
            </a:r>
            <a:endParaRPr sz="1600">
              <a:solidFill>
                <a:schemeClr val="dk1"/>
              </a:solidFill>
              <a:latin typeface="Open Sans"/>
              <a:ea typeface="Open Sans"/>
              <a:cs typeface="Open Sans"/>
              <a:sym typeface="Open Sans"/>
            </a:endParaRPr>
          </a:p>
        </p:txBody>
      </p:sp>
      <p:sp>
        <p:nvSpPr>
          <p:cNvPr id="92" name="Google Shape;92;p17"/>
          <p:cNvSpPr txBox="1"/>
          <p:nvPr/>
        </p:nvSpPr>
        <p:spPr>
          <a:xfrm>
            <a:off x="3502374" y="3568915"/>
            <a:ext cx="2074500" cy="732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s" sz="1300">
                <a:solidFill>
                  <a:schemeClr val="dk1"/>
                </a:solidFill>
                <a:latin typeface="Open Sans"/>
                <a:ea typeface="Open Sans"/>
                <a:cs typeface="Open Sans"/>
                <a:sym typeface="Open Sans"/>
              </a:rPr>
              <a:t>¿Cuál es el valor más representativo de una v.a.?</a:t>
            </a:r>
            <a:endParaRPr sz="1300">
              <a:solidFill>
                <a:schemeClr val="dk1"/>
              </a:solidFill>
              <a:latin typeface="Open Sans"/>
              <a:ea typeface="Open Sans"/>
              <a:cs typeface="Open Sans"/>
              <a:sym typeface="Open Sans"/>
            </a:endParaRPr>
          </a:p>
        </p:txBody>
      </p:sp>
      <p:sp>
        <p:nvSpPr>
          <p:cNvPr id="93" name="Google Shape;93;p17"/>
          <p:cNvSpPr txBox="1"/>
          <p:nvPr/>
        </p:nvSpPr>
        <p:spPr>
          <a:xfrm>
            <a:off x="6279701" y="2931566"/>
            <a:ext cx="2074500" cy="65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600" b="1">
                <a:solidFill>
                  <a:schemeClr val="dk1"/>
                </a:solidFill>
                <a:latin typeface="Open Sans"/>
                <a:ea typeface="Open Sans"/>
                <a:cs typeface="Open Sans"/>
                <a:sym typeface="Open Sans"/>
              </a:rPr>
              <a:t>Medidas de dispersión</a:t>
            </a:r>
            <a:endParaRPr sz="1600">
              <a:solidFill>
                <a:schemeClr val="dk1"/>
              </a:solidFill>
              <a:latin typeface="Open Sans"/>
              <a:ea typeface="Open Sans"/>
              <a:cs typeface="Open Sans"/>
              <a:sym typeface="Open Sans"/>
            </a:endParaRPr>
          </a:p>
        </p:txBody>
      </p:sp>
      <p:sp>
        <p:nvSpPr>
          <p:cNvPr id="94" name="Google Shape;94;p17"/>
          <p:cNvSpPr txBox="1"/>
          <p:nvPr/>
        </p:nvSpPr>
        <p:spPr>
          <a:xfrm>
            <a:off x="6279697" y="3581821"/>
            <a:ext cx="2074500" cy="724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s" sz="1300">
                <a:solidFill>
                  <a:schemeClr val="dk1"/>
                </a:solidFill>
                <a:latin typeface="Open Sans"/>
                <a:ea typeface="Open Sans"/>
                <a:cs typeface="Open Sans"/>
                <a:sym typeface="Open Sans"/>
              </a:rPr>
              <a:t>¿Qué tan alejados están los datos de la tendencia central?</a:t>
            </a:r>
            <a:endParaRPr sz="1300">
              <a:solidFill>
                <a:schemeClr val="dk1"/>
              </a:solidFill>
              <a:latin typeface="Open Sans"/>
              <a:ea typeface="Open Sans"/>
              <a:cs typeface="Open Sans"/>
              <a:sym typeface="Open Sans"/>
            </a:endParaRPr>
          </a:p>
        </p:txBody>
      </p:sp>
      <p:sp>
        <p:nvSpPr>
          <p:cNvPr id="95" name="Google Shape;95;p17"/>
          <p:cNvSpPr/>
          <p:nvPr/>
        </p:nvSpPr>
        <p:spPr>
          <a:xfrm rot="10800000">
            <a:off x="5773839" y="3422752"/>
            <a:ext cx="372000" cy="372000"/>
          </a:xfrm>
          <a:prstGeom prst="ellipse">
            <a:avLst/>
          </a:prstGeom>
          <a:solidFill>
            <a:schemeClr val="lt1"/>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900">
              <a:latin typeface="Open Sans"/>
              <a:ea typeface="Open Sans"/>
              <a:cs typeface="Open Sans"/>
              <a:sym typeface="Open Sans"/>
            </a:endParaRPr>
          </a:p>
        </p:txBody>
      </p:sp>
      <p:sp>
        <p:nvSpPr>
          <p:cNvPr id="96" name="Google Shape;96;p17"/>
          <p:cNvSpPr/>
          <p:nvPr/>
        </p:nvSpPr>
        <p:spPr>
          <a:xfrm rot="10800000">
            <a:off x="5841744" y="3490657"/>
            <a:ext cx="236100" cy="236100"/>
          </a:xfrm>
          <a:prstGeom prst="mathPlus">
            <a:avLst>
              <a:gd name="adj1" fmla="val 99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a:latin typeface="Open Sans"/>
              <a:ea typeface="Open Sans"/>
              <a:cs typeface="Open Sans"/>
              <a:sym typeface="Open Sans"/>
            </a:endParaRPr>
          </a:p>
        </p:txBody>
      </p:sp>
      <p:sp>
        <p:nvSpPr>
          <p:cNvPr id="97" name="Google Shape;97;p17"/>
          <p:cNvSpPr/>
          <p:nvPr/>
        </p:nvSpPr>
        <p:spPr>
          <a:xfrm rot="10800000">
            <a:off x="3002554" y="3422752"/>
            <a:ext cx="372000" cy="372000"/>
          </a:xfrm>
          <a:prstGeom prst="ellipse">
            <a:avLst/>
          </a:prstGeom>
          <a:solidFill>
            <a:schemeClr val="lt1"/>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900">
              <a:latin typeface="Open Sans"/>
              <a:ea typeface="Open Sans"/>
              <a:cs typeface="Open Sans"/>
              <a:sym typeface="Open Sans"/>
            </a:endParaRPr>
          </a:p>
        </p:txBody>
      </p:sp>
      <p:sp>
        <p:nvSpPr>
          <p:cNvPr id="98" name="Google Shape;98;p17"/>
          <p:cNvSpPr/>
          <p:nvPr/>
        </p:nvSpPr>
        <p:spPr>
          <a:xfrm rot="10800000">
            <a:off x="3070459" y="3490657"/>
            <a:ext cx="236100" cy="236100"/>
          </a:xfrm>
          <a:prstGeom prst="mathPlus">
            <a:avLst>
              <a:gd name="adj1" fmla="val 99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a:latin typeface="Open Sans"/>
              <a:ea typeface="Open Sans"/>
              <a:cs typeface="Open Sans"/>
              <a:sym typeface="Open Sans"/>
            </a:endParaRPr>
          </a:p>
        </p:txBody>
      </p:sp>
      <p:sp>
        <p:nvSpPr>
          <p:cNvPr id="99" name="Google Shape;99;p17"/>
          <p:cNvSpPr txBox="1"/>
          <p:nvPr/>
        </p:nvSpPr>
        <p:spPr>
          <a:xfrm>
            <a:off x="1735615" y="714493"/>
            <a:ext cx="5684100" cy="499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 sz="2000" b="1">
                <a:solidFill>
                  <a:schemeClr val="dk1"/>
                </a:solidFill>
                <a:latin typeface="Open Sans"/>
                <a:ea typeface="Open Sans"/>
                <a:cs typeface="Open Sans"/>
                <a:sym typeface="Open Sans"/>
              </a:rPr>
              <a:t>Estadística Descriptiva</a:t>
            </a:r>
            <a:endParaRPr sz="2000">
              <a:solidFill>
                <a:schemeClr val="dk1"/>
              </a:solidFill>
              <a:latin typeface="Open Sans"/>
              <a:ea typeface="Open Sans"/>
              <a:cs typeface="Open Sans"/>
              <a:sym typeface="Open Sans"/>
            </a:endParaRPr>
          </a:p>
        </p:txBody>
      </p:sp>
      <p:sp>
        <p:nvSpPr>
          <p:cNvPr id="100" name="Google Shape;100;p17"/>
          <p:cNvSpPr txBox="1"/>
          <p:nvPr/>
        </p:nvSpPr>
        <p:spPr>
          <a:xfrm>
            <a:off x="1019200" y="1214100"/>
            <a:ext cx="7116900" cy="1330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s">
                <a:solidFill>
                  <a:schemeClr val="dk1"/>
                </a:solidFill>
                <a:latin typeface="Open Sans"/>
                <a:ea typeface="Open Sans"/>
                <a:cs typeface="Open Sans"/>
                <a:sym typeface="Open Sans"/>
              </a:rPr>
              <a:t>Herramientas para resumir un conjunto de datos (modelados como realizaciones de una variable aleatoria), a través de ciertas medidas numéricas.</a:t>
            </a:r>
            <a:endParaRPr>
              <a:solidFill>
                <a:schemeClr val="dk1"/>
              </a:solidFill>
              <a:latin typeface="Open Sans"/>
              <a:ea typeface="Open Sans"/>
              <a:cs typeface="Open Sans"/>
              <a:sym typeface="Open Sans"/>
            </a:endParaRPr>
          </a:p>
          <a:p>
            <a:pPr marL="0" lvl="0" indent="0" algn="ctr" rtl="0">
              <a:lnSpc>
                <a:spcPct val="115000"/>
              </a:lnSpc>
              <a:spcBef>
                <a:spcPts val="1000"/>
              </a:spcBef>
              <a:spcAft>
                <a:spcPts val="1000"/>
              </a:spcAft>
              <a:buNone/>
            </a:pPr>
            <a:r>
              <a:rPr lang="es">
                <a:solidFill>
                  <a:schemeClr val="dk1"/>
                </a:solidFill>
                <a:latin typeface="Open Sans"/>
                <a:ea typeface="Open Sans"/>
                <a:cs typeface="Open Sans"/>
                <a:sym typeface="Open Sans"/>
              </a:rPr>
              <a:t>Representa la información de una manera distinta para facilitar su interpretación, pero no permite realizar predicciones o inferencias</a:t>
            </a:r>
            <a:endParaRPr>
              <a:solidFill>
                <a:schemeClr val="dk1"/>
              </a:solidFill>
              <a:latin typeface="Open Sans"/>
              <a:ea typeface="Open Sans"/>
              <a:cs typeface="Open Sans"/>
              <a:sym typeface="Open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8"/>
          <p:cNvSpPr txBox="1">
            <a:spLocks noGrp="1"/>
          </p:cNvSpPr>
          <p:nvPr>
            <p:ph type="title"/>
          </p:nvPr>
        </p:nvSpPr>
        <p:spPr>
          <a:xfrm>
            <a:off x="311700" y="316800"/>
            <a:ext cx="6115500" cy="75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Medidas de tendencia central</a:t>
            </a:r>
            <a:endParaRPr/>
          </a:p>
        </p:txBody>
      </p:sp>
      <p:sp>
        <p:nvSpPr>
          <p:cNvPr id="106" name="Google Shape;106;p18"/>
          <p:cNvSpPr txBox="1">
            <a:spLocks noGrp="1"/>
          </p:cNvSpPr>
          <p:nvPr>
            <p:ph type="body" idx="1"/>
          </p:nvPr>
        </p:nvSpPr>
        <p:spPr>
          <a:xfrm>
            <a:off x="311700" y="1224000"/>
            <a:ext cx="2808000" cy="3439200"/>
          </a:xfrm>
          <a:prstGeom prst="rect">
            <a:avLst/>
          </a:prstGeom>
        </p:spPr>
        <p:txBody>
          <a:bodyPr spcFirstLastPara="1" wrap="square" lIns="91425" tIns="91425" rIns="91425" bIns="91425" anchor="ctr" anchorCtr="0">
            <a:noAutofit/>
          </a:bodyPr>
          <a:lstStyle/>
          <a:p>
            <a:pPr marL="0" lvl="0" indent="0" algn="ctr" rtl="0">
              <a:lnSpc>
                <a:spcPct val="150000"/>
              </a:lnSpc>
              <a:spcBef>
                <a:spcPts val="0"/>
              </a:spcBef>
              <a:spcAft>
                <a:spcPts val="0"/>
              </a:spcAft>
              <a:buNone/>
            </a:pPr>
            <a:r>
              <a:rPr lang="es" sz="1800"/>
              <a:t>Dado un conjunto de datos numéricos (muestra) </a:t>
            </a:r>
            <a:endParaRPr sz="1800"/>
          </a:p>
          <a:p>
            <a:pPr marL="0" lvl="0" indent="0" algn="ctr" rtl="0">
              <a:lnSpc>
                <a:spcPct val="150000"/>
              </a:lnSpc>
              <a:spcBef>
                <a:spcPts val="0"/>
              </a:spcBef>
              <a:spcAft>
                <a:spcPts val="0"/>
              </a:spcAft>
              <a:buNone/>
            </a:pPr>
            <a:r>
              <a:rPr lang="es" sz="1800"/>
              <a:t>x = {x</a:t>
            </a:r>
            <a:r>
              <a:rPr lang="es" sz="1800" baseline="-25000"/>
              <a:t>1</a:t>
            </a:r>
            <a:r>
              <a:rPr lang="es" sz="1800"/>
              <a:t>, x</a:t>
            </a:r>
            <a:r>
              <a:rPr lang="es" sz="1800" baseline="-25000"/>
              <a:t>2</a:t>
            </a:r>
            <a:r>
              <a:rPr lang="es" sz="1800"/>
              <a:t>, ..x</a:t>
            </a:r>
            <a:r>
              <a:rPr lang="es" sz="1800" baseline="-25000"/>
              <a:t>N</a:t>
            </a:r>
            <a:r>
              <a:rPr lang="es" sz="1800"/>
              <a:t>} </a:t>
            </a:r>
            <a:endParaRPr sz="1800"/>
          </a:p>
          <a:p>
            <a:pPr marL="0" lvl="0" indent="0" algn="ctr" rtl="0">
              <a:lnSpc>
                <a:spcPct val="150000"/>
              </a:lnSpc>
              <a:spcBef>
                <a:spcPts val="0"/>
              </a:spcBef>
              <a:spcAft>
                <a:spcPts val="0"/>
              </a:spcAft>
              <a:buNone/>
            </a:pPr>
            <a:r>
              <a:rPr lang="es" sz="1800"/>
              <a:t>se la piensa como realizaciones (independientes) de una v.a. numérica </a:t>
            </a:r>
            <a:endParaRPr sz="1800"/>
          </a:p>
        </p:txBody>
      </p:sp>
      <p:sp>
        <p:nvSpPr>
          <p:cNvPr id="107" name="Google Shape;107;p18"/>
          <p:cNvSpPr txBox="1">
            <a:spLocks noGrp="1"/>
          </p:cNvSpPr>
          <p:nvPr>
            <p:ph type="body" idx="1"/>
          </p:nvPr>
        </p:nvSpPr>
        <p:spPr>
          <a:xfrm>
            <a:off x="3995125" y="1532650"/>
            <a:ext cx="4709400" cy="986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sz="1600"/>
              <a:t>La </a:t>
            </a:r>
            <a:r>
              <a:rPr lang="es" sz="1600" b="1"/>
              <a:t>media muestral</a:t>
            </a:r>
            <a:r>
              <a:rPr lang="es" sz="1600"/>
              <a:t> (aritmética) o promedio se calcula como:</a:t>
            </a:r>
            <a:endParaRPr sz="1600"/>
          </a:p>
        </p:txBody>
      </p:sp>
      <p:cxnSp>
        <p:nvCxnSpPr>
          <p:cNvPr id="108" name="Google Shape;108;p18"/>
          <p:cNvCxnSpPr/>
          <p:nvPr/>
        </p:nvCxnSpPr>
        <p:spPr>
          <a:xfrm>
            <a:off x="3461400" y="1304050"/>
            <a:ext cx="0" cy="3558600"/>
          </a:xfrm>
          <a:prstGeom prst="straightConnector1">
            <a:avLst/>
          </a:prstGeom>
          <a:noFill/>
          <a:ln w="28575" cap="flat" cmpd="sng">
            <a:solidFill>
              <a:schemeClr val="dk2"/>
            </a:solidFill>
            <a:prstDash val="dot"/>
            <a:round/>
            <a:headEnd type="none" w="med" len="med"/>
            <a:tailEnd type="none" w="med" len="med"/>
          </a:ln>
        </p:spPr>
      </p:cxnSp>
      <p:pic>
        <p:nvPicPr>
          <p:cNvPr id="109" name="Google Shape;109;p18"/>
          <p:cNvPicPr preferRelativeResize="0"/>
          <p:nvPr/>
        </p:nvPicPr>
        <p:blipFill>
          <a:blip r:embed="rId3">
            <a:alphaModFix/>
          </a:blip>
          <a:stretch>
            <a:fillRect/>
          </a:stretch>
        </p:blipFill>
        <p:spPr>
          <a:xfrm>
            <a:off x="4083300" y="2343825"/>
            <a:ext cx="2343900" cy="13439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9"/>
          <p:cNvSpPr txBox="1">
            <a:spLocks noGrp="1"/>
          </p:cNvSpPr>
          <p:nvPr>
            <p:ph type="title"/>
          </p:nvPr>
        </p:nvSpPr>
        <p:spPr>
          <a:xfrm>
            <a:off x="311700" y="316800"/>
            <a:ext cx="6115500" cy="75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Medidas de tendencia central</a:t>
            </a:r>
            <a:endParaRPr/>
          </a:p>
        </p:txBody>
      </p:sp>
      <p:sp>
        <p:nvSpPr>
          <p:cNvPr id="115" name="Google Shape;115;p19"/>
          <p:cNvSpPr txBox="1">
            <a:spLocks noGrp="1"/>
          </p:cNvSpPr>
          <p:nvPr>
            <p:ph type="body" idx="1"/>
          </p:nvPr>
        </p:nvSpPr>
        <p:spPr>
          <a:xfrm>
            <a:off x="311700" y="1224000"/>
            <a:ext cx="2808000" cy="3439200"/>
          </a:xfrm>
          <a:prstGeom prst="rect">
            <a:avLst/>
          </a:prstGeom>
        </p:spPr>
        <p:txBody>
          <a:bodyPr spcFirstLastPara="1" wrap="square" lIns="91425" tIns="91425" rIns="91425" bIns="91425" anchor="ctr" anchorCtr="0">
            <a:noAutofit/>
          </a:bodyPr>
          <a:lstStyle/>
          <a:p>
            <a:pPr marL="0" lvl="0" indent="0" algn="ctr" rtl="0">
              <a:lnSpc>
                <a:spcPct val="150000"/>
              </a:lnSpc>
              <a:spcBef>
                <a:spcPts val="0"/>
              </a:spcBef>
              <a:spcAft>
                <a:spcPts val="0"/>
              </a:spcAft>
              <a:buClr>
                <a:schemeClr val="dk1"/>
              </a:buClr>
              <a:buSzPts val="1100"/>
              <a:buFont typeface="Arial"/>
              <a:buNone/>
            </a:pPr>
            <a:r>
              <a:rPr lang="es" sz="1800"/>
              <a:t>Dados datos numéricos</a:t>
            </a:r>
            <a:endParaRPr sz="1800"/>
          </a:p>
          <a:p>
            <a:pPr marL="0" lvl="0" indent="0" algn="ctr" rtl="0">
              <a:lnSpc>
                <a:spcPct val="150000"/>
              </a:lnSpc>
              <a:spcBef>
                <a:spcPts val="0"/>
              </a:spcBef>
              <a:spcAft>
                <a:spcPts val="0"/>
              </a:spcAft>
              <a:buClr>
                <a:schemeClr val="dk1"/>
              </a:buClr>
              <a:buSzPts val="1100"/>
              <a:buFont typeface="Arial"/>
              <a:buNone/>
            </a:pPr>
            <a:r>
              <a:rPr lang="es" sz="1800"/>
              <a:t>x = {x</a:t>
            </a:r>
            <a:r>
              <a:rPr lang="es" sz="1800" baseline="-25000"/>
              <a:t>1</a:t>
            </a:r>
            <a:r>
              <a:rPr lang="es" sz="1800"/>
              <a:t>, x</a:t>
            </a:r>
            <a:r>
              <a:rPr lang="es" sz="1800" baseline="-25000"/>
              <a:t>2</a:t>
            </a:r>
            <a:r>
              <a:rPr lang="es" sz="1800"/>
              <a:t>, ..x</a:t>
            </a:r>
            <a:r>
              <a:rPr lang="es" sz="1800" baseline="-25000"/>
              <a:t>N</a:t>
            </a:r>
            <a:r>
              <a:rPr lang="es" sz="1800"/>
              <a:t>} </a:t>
            </a:r>
            <a:endParaRPr sz="1800"/>
          </a:p>
          <a:p>
            <a:pPr marL="0" lvl="0" indent="0" algn="ctr" rtl="0">
              <a:lnSpc>
                <a:spcPct val="150000"/>
              </a:lnSpc>
              <a:spcBef>
                <a:spcPts val="0"/>
              </a:spcBef>
              <a:spcAft>
                <a:spcPts val="0"/>
              </a:spcAft>
              <a:buNone/>
            </a:pPr>
            <a:r>
              <a:rPr lang="es" sz="1800"/>
              <a:t>se los piensa como  x</a:t>
            </a:r>
            <a:r>
              <a:rPr lang="es" sz="1800" baseline="-25000"/>
              <a:t>i </a:t>
            </a:r>
            <a:r>
              <a:rPr lang="es" sz="1800"/>
              <a:t>= X</a:t>
            </a:r>
            <a:r>
              <a:rPr lang="es" sz="1800" baseline="-25000"/>
              <a:t>i </a:t>
            </a:r>
            <a:r>
              <a:rPr lang="es" sz="1800"/>
              <a:t>(ω)  para algún  ω</a:t>
            </a:r>
            <a:r>
              <a:rPr lang="es" sz="1800" baseline="-25000"/>
              <a:t>i </a:t>
            </a:r>
            <a:r>
              <a:rPr lang="es" sz="1800"/>
              <a:t> ∈ Ω</a:t>
            </a:r>
            <a:endParaRPr sz="1800"/>
          </a:p>
        </p:txBody>
      </p:sp>
      <p:sp>
        <p:nvSpPr>
          <p:cNvPr id="116" name="Google Shape;116;p19"/>
          <p:cNvSpPr txBox="1">
            <a:spLocks noGrp="1"/>
          </p:cNvSpPr>
          <p:nvPr>
            <p:ph type="body" idx="1"/>
          </p:nvPr>
        </p:nvSpPr>
        <p:spPr>
          <a:xfrm>
            <a:off x="3937450" y="1489750"/>
            <a:ext cx="4863600" cy="303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sz="1600"/>
              <a:t>La </a:t>
            </a:r>
            <a:r>
              <a:rPr lang="es" sz="1600" b="1"/>
              <a:t>mediana</a:t>
            </a:r>
            <a:r>
              <a:rPr lang="es" sz="1600"/>
              <a:t> se calcula como:</a:t>
            </a:r>
            <a:endParaRPr sz="1600"/>
          </a:p>
          <a:p>
            <a:pPr marL="457200" lvl="0" indent="-330200" algn="l" rtl="0">
              <a:spcBef>
                <a:spcPts val="1000"/>
              </a:spcBef>
              <a:spcAft>
                <a:spcPts val="0"/>
              </a:spcAft>
              <a:buSzPts val="1600"/>
              <a:buAutoNum type="arabicPeriod"/>
            </a:pPr>
            <a:r>
              <a:rPr lang="es" sz="1600"/>
              <a:t>Ordenar las realizaciones de menor a mayor</a:t>
            </a:r>
            <a:endParaRPr sz="1600"/>
          </a:p>
          <a:p>
            <a:pPr marL="457200" lvl="0" indent="-330200" algn="l" rtl="0">
              <a:spcBef>
                <a:spcPts val="1000"/>
              </a:spcBef>
              <a:spcAft>
                <a:spcPts val="0"/>
              </a:spcAft>
              <a:buSzPts val="1600"/>
              <a:buAutoNum type="arabicPeriod"/>
            </a:pPr>
            <a:r>
              <a:rPr lang="es" sz="1600"/>
              <a:t>Si N es impar, la mediana es el valor central:</a:t>
            </a:r>
            <a:endParaRPr sz="1600"/>
          </a:p>
          <a:p>
            <a:pPr marL="914400" lvl="0" indent="0" algn="l" rtl="0">
              <a:spcBef>
                <a:spcPts val="1000"/>
              </a:spcBef>
              <a:spcAft>
                <a:spcPts val="0"/>
              </a:spcAft>
              <a:buNone/>
            </a:pPr>
            <a:r>
              <a:rPr lang="es" sz="1600"/>
              <a:t>mediana=</a:t>
            </a:r>
            <a:r>
              <a:rPr lang="es" sz="1800"/>
              <a:t>x</a:t>
            </a:r>
            <a:r>
              <a:rPr lang="es" sz="1800" baseline="-25000"/>
              <a:t>(N+1)/2</a:t>
            </a:r>
            <a:endParaRPr sz="1600"/>
          </a:p>
          <a:p>
            <a:pPr marL="457200" lvl="0" indent="-330200" algn="l" rtl="0">
              <a:spcBef>
                <a:spcPts val="1000"/>
              </a:spcBef>
              <a:spcAft>
                <a:spcPts val="0"/>
              </a:spcAft>
              <a:buSzPts val="1600"/>
              <a:buAutoNum type="arabicPeriod"/>
            </a:pPr>
            <a:r>
              <a:rPr lang="es" sz="1600"/>
              <a:t>Si N es par, la mediana es el promedio de los dos valores centrales:  </a:t>
            </a:r>
            <a:endParaRPr sz="1600"/>
          </a:p>
          <a:p>
            <a:pPr marL="914400" lvl="0" indent="0" algn="l" rtl="0">
              <a:spcBef>
                <a:spcPts val="1000"/>
              </a:spcBef>
              <a:spcAft>
                <a:spcPts val="0"/>
              </a:spcAft>
              <a:buNone/>
            </a:pPr>
            <a:r>
              <a:rPr lang="es" sz="1600"/>
              <a:t>mediana=(</a:t>
            </a:r>
            <a:r>
              <a:rPr lang="es" sz="1800"/>
              <a:t>x</a:t>
            </a:r>
            <a:r>
              <a:rPr lang="es" sz="1800" baseline="-25000"/>
              <a:t>N/2</a:t>
            </a:r>
            <a:r>
              <a:rPr lang="es" sz="1600"/>
              <a:t>+</a:t>
            </a:r>
            <a:r>
              <a:rPr lang="es" sz="1800"/>
              <a:t>x</a:t>
            </a:r>
            <a:r>
              <a:rPr lang="es" sz="1800" baseline="-25000"/>
              <a:t>N/2+1</a:t>
            </a:r>
            <a:r>
              <a:rPr lang="es" sz="1600"/>
              <a:t>)/2</a:t>
            </a:r>
            <a:endParaRPr sz="1600"/>
          </a:p>
          <a:p>
            <a:pPr marL="0" lvl="0" indent="0" algn="l" rtl="0">
              <a:spcBef>
                <a:spcPts val="1000"/>
              </a:spcBef>
              <a:spcAft>
                <a:spcPts val="0"/>
              </a:spcAft>
              <a:buNone/>
            </a:pPr>
            <a:endParaRPr sz="1600"/>
          </a:p>
        </p:txBody>
      </p:sp>
      <p:cxnSp>
        <p:nvCxnSpPr>
          <p:cNvPr id="117" name="Google Shape;117;p19"/>
          <p:cNvCxnSpPr/>
          <p:nvPr/>
        </p:nvCxnSpPr>
        <p:spPr>
          <a:xfrm>
            <a:off x="3461400" y="1304050"/>
            <a:ext cx="0" cy="3558600"/>
          </a:xfrm>
          <a:prstGeom prst="straightConnector1">
            <a:avLst/>
          </a:prstGeom>
          <a:noFill/>
          <a:ln w="28575" cap="flat" cmpd="sng">
            <a:solidFill>
              <a:schemeClr val="dk2"/>
            </a:solidFill>
            <a:prstDash val="dot"/>
            <a:round/>
            <a:headEnd type="none" w="med" len="med"/>
            <a:tailEnd type="none" w="med" len="med"/>
          </a:ln>
        </p:spPr>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20"/>
          <p:cNvSpPr txBox="1">
            <a:spLocks noGrp="1"/>
          </p:cNvSpPr>
          <p:nvPr>
            <p:ph type="title"/>
          </p:nvPr>
        </p:nvSpPr>
        <p:spPr>
          <a:xfrm>
            <a:off x="311700" y="316800"/>
            <a:ext cx="6115500" cy="75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Medidas de tendencia central</a:t>
            </a:r>
            <a:endParaRPr/>
          </a:p>
        </p:txBody>
      </p:sp>
      <p:sp>
        <p:nvSpPr>
          <p:cNvPr id="123" name="Google Shape;123;p20"/>
          <p:cNvSpPr txBox="1">
            <a:spLocks noGrp="1"/>
          </p:cNvSpPr>
          <p:nvPr>
            <p:ph type="body" idx="1"/>
          </p:nvPr>
        </p:nvSpPr>
        <p:spPr>
          <a:xfrm>
            <a:off x="311700" y="1224000"/>
            <a:ext cx="2808000" cy="3439200"/>
          </a:xfrm>
          <a:prstGeom prst="rect">
            <a:avLst/>
          </a:prstGeom>
        </p:spPr>
        <p:txBody>
          <a:bodyPr spcFirstLastPara="1" wrap="square" lIns="91425" tIns="91425" rIns="91425" bIns="91425" anchor="ctr" anchorCtr="0">
            <a:noAutofit/>
          </a:bodyPr>
          <a:lstStyle/>
          <a:p>
            <a:pPr marL="0" lvl="0" indent="0" algn="ctr" rtl="0">
              <a:lnSpc>
                <a:spcPct val="150000"/>
              </a:lnSpc>
              <a:spcBef>
                <a:spcPts val="0"/>
              </a:spcBef>
              <a:spcAft>
                <a:spcPts val="0"/>
              </a:spcAft>
              <a:buNone/>
            </a:pPr>
            <a:r>
              <a:rPr lang="es" sz="1800"/>
              <a:t>Dada X una v.a </a:t>
            </a:r>
            <a:r>
              <a:rPr lang="es" sz="1800" b="1"/>
              <a:t>categórica</a:t>
            </a:r>
            <a:r>
              <a:rPr lang="es" sz="1800"/>
              <a:t> y un conjunto de realizaciones </a:t>
            </a:r>
            <a:endParaRPr sz="1800"/>
          </a:p>
          <a:p>
            <a:pPr marL="0" lvl="0" indent="0" algn="ctr" rtl="0">
              <a:lnSpc>
                <a:spcPct val="150000"/>
              </a:lnSpc>
              <a:spcBef>
                <a:spcPts val="0"/>
              </a:spcBef>
              <a:spcAft>
                <a:spcPts val="0"/>
              </a:spcAft>
              <a:buNone/>
            </a:pPr>
            <a:r>
              <a:rPr lang="es" sz="1800"/>
              <a:t>x = {x</a:t>
            </a:r>
            <a:r>
              <a:rPr lang="es" sz="1800" baseline="-25000"/>
              <a:t>1</a:t>
            </a:r>
            <a:r>
              <a:rPr lang="es" sz="1800"/>
              <a:t>, x</a:t>
            </a:r>
            <a:r>
              <a:rPr lang="es" sz="1800" baseline="-25000"/>
              <a:t>2</a:t>
            </a:r>
            <a:r>
              <a:rPr lang="es" sz="1800"/>
              <a:t>, …,x</a:t>
            </a:r>
            <a:r>
              <a:rPr lang="es" sz="1800" baseline="-25000"/>
              <a:t>N</a:t>
            </a:r>
            <a:r>
              <a:rPr lang="es" sz="1800"/>
              <a:t>} </a:t>
            </a:r>
            <a:endParaRPr sz="1800"/>
          </a:p>
          <a:p>
            <a:pPr marL="0" lvl="0" indent="0" algn="ctr" rtl="0">
              <a:lnSpc>
                <a:spcPct val="150000"/>
              </a:lnSpc>
              <a:spcBef>
                <a:spcPts val="0"/>
              </a:spcBef>
              <a:spcAft>
                <a:spcPts val="0"/>
              </a:spcAft>
              <a:buNone/>
            </a:pPr>
            <a:r>
              <a:rPr lang="es" sz="1800"/>
              <a:t>donde  x</a:t>
            </a:r>
            <a:r>
              <a:rPr lang="es" sz="1800" baseline="-25000"/>
              <a:t>i </a:t>
            </a:r>
            <a:r>
              <a:rPr lang="es" sz="1800"/>
              <a:t>= X(ω)  para algún  ω ∈ Ω , y N =|x|</a:t>
            </a:r>
            <a:endParaRPr sz="1800"/>
          </a:p>
        </p:txBody>
      </p:sp>
      <p:sp>
        <p:nvSpPr>
          <p:cNvPr id="124" name="Google Shape;124;p20"/>
          <p:cNvSpPr txBox="1">
            <a:spLocks noGrp="1"/>
          </p:cNvSpPr>
          <p:nvPr>
            <p:ph type="body" idx="1"/>
          </p:nvPr>
        </p:nvSpPr>
        <p:spPr>
          <a:xfrm>
            <a:off x="3937450" y="1489750"/>
            <a:ext cx="4863600" cy="30348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es" sz="1600"/>
              <a:t>La </a:t>
            </a:r>
            <a:r>
              <a:rPr lang="es" sz="1600" b="1"/>
              <a:t>moda</a:t>
            </a:r>
            <a:r>
              <a:rPr lang="es" sz="1600"/>
              <a:t> son los valores con mayor frecuencia, es decir, los que más se repite.</a:t>
            </a:r>
            <a:endParaRPr sz="1600"/>
          </a:p>
          <a:p>
            <a:pPr marL="0" lvl="0" indent="0" algn="l" rtl="0">
              <a:lnSpc>
                <a:spcPct val="150000"/>
              </a:lnSpc>
              <a:spcBef>
                <a:spcPts val="1000"/>
              </a:spcBef>
              <a:spcAft>
                <a:spcPts val="0"/>
              </a:spcAft>
              <a:buClr>
                <a:schemeClr val="dk1"/>
              </a:buClr>
              <a:buSzPts val="1100"/>
              <a:buFont typeface="Arial"/>
              <a:buNone/>
            </a:pPr>
            <a:r>
              <a:rPr lang="es" sz="1600"/>
              <a:t>Sólo hay más de una moda cuando el conteo de dos valores es igual.</a:t>
            </a:r>
            <a:endParaRPr sz="1600"/>
          </a:p>
          <a:p>
            <a:pPr marL="0" lvl="0" indent="0" algn="l" rtl="0">
              <a:lnSpc>
                <a:spcPct val="150000"/>
              </a:lnSpc>
              <a:spcBef>
                <a:spcPts val="1000"/>
              </a:spcBef>
              <a:spcAft>
                <a:spcPts val="0"/>
              </a:spcAft>
              <a:buClr>
                <a:schemeClr val="dk1"/>
              </a:buClr>
              <a:buSzPts val="1100"/>
              <a:buFont typeface="Arial"/>
              <a:buNone/>
            </a:pPr>
            <a:r>
              <a:rPr lang="es" sz="1600"/>
              <a:t>Se puede definir de forma análoga la </a:t>
            </a:r>
            <a:r>
              <a:rPr lang="es" sz="1600" b="1"/>
              <a:t>moda o intervalo modal</a:t>
            </a:r>
            <a:r>
              <a:rPr lang="es" sz="1600"/>
              <a:t> para datos numéricos pero no es único (como la visualización del histograma).</a:t>
            </a:r>
            <a:endParaRPr sz="1600"/>
          </a:p>
          <a:p>
            <a:pPr marL="0" lvl="0" indent="0" algn="l" rtl="0">
              <a:lnSpc>
                <a:spcPct val="150000"/>
              </a:lnSpc>
              <a:spcBef>
                <a:spcPts val="1000"/>
              </a:spcBef>
              <a:spcAft>
                <a:spcPts val="0"/>
              </a:spcAft>
              <a:buNone/>
            </a:pPr>
            <a:endParaRPr sz="1600"/>
          </a:p>
          <a:p>
            <a:pPr marL="0" lvl="0" indent="0" algn="l" rtl="0">
              <a:spcBef>
                <a:spcPts val="1000"/>
              </a:spcBef>
              <a:spcAft>
                <a:spcPts val="0"/>
              </a:spcAft>
              <a:buNone/>
            </a:pPr>
            <a:endParaRPr sz="1600"/>
          </a:p>
        </p:txBody>
      </p:sp>
      <p:cxnSp>
        <p:nvCxnSpPr>
          <p:cNvPr id="125" name="Google Shape;125;p20"/>
          <p:cNvCxnSpPr/>
          <p:nvPr/>
        </p:nvCxnSpPr>
        <p:spPr>
          <a:xfrm>
            <a:off x="3461400" y="1304050"/>
            <a:ext cx="0" cy="3558600"/>
          </a:xfrm>
          <a:prstGeom prst="straightConnector1">
            <a:avLst/>
          </a:prstGeom>
          <a:noFill/>
          <a:ln w="28575" cap="flat" cmpd="sng">
            <a:solidFill>
              <a:schemeClr val="dk2"/>
            </a:solidFill>
            <a:prstDash val="dot"/>
            <a:round/>
            <a:headEnd type="none" w="med" len="med"/>
            <a:tailEnd type="none" w="med" len="med"/>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1"/>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Medidas de posición</a:t>
            </a:r>
            <a:endParaRPr/>
          </a:p>
        </p:txBody>
      </p:sp>
      <p:sp>
        <p:nvSpPr>
          <p:cNvPr id="131" name="Google Shape;131;p21"/>
          <p:cNvSpPr txBox="1">
            <a:spLocks noGrp="1"/>
          </p:cNvSpPr>
          <p:nvPr>
            <p:ph type="body" idx="1"/>
          </p:nvPr>
        </p:nvSpPr>
        <p:spPr>
          <a:xfrm>
            <a:off x="311700" y="1224000"/>
            <a:ext cx="2808000" cy="3439200"/>
          </a:xfrm>
          <a:prstGeom prst="rect">
            <a:avLst/>
          </a:prstGeom>
        </p:spPr>
        <p:txBody>
          <a:bodyPr spcFirstLastPara="1" wrap="square" lIns="91425" tIns="91425" rIns="91425" bIns="91425" anchor="ctr" anchorCtr="0">
            <a:noAutofit/>
          </a:bodyPr>
          <a:lstStyle/>
          <a:p>
            <a:pPr marL="0" lvl="0" indent="0" algn="ctr" rtl="0">
              <a:lnSpc>
                <a:spcPct val="150000"/>
              </a:lnSpc>
              <a:spcBef>
                <a:spcPts val="0"/>
              </a:spcBef>
              <a:spcAft>
                <a:spcPts val="0"/>
              </a:spcAft>
              <a:buClr>
                <a:schemeClr val="dk1"/>
              </a:buClr>
              <a:buSzPts val="1100"/>
              <a:buFont typeface="Arial"/>
              <a:buNone/>
            </a:pPr>
            <a:r>
              <a:rPr lang="es"/>
              <a:t>Dados datos numéricos</a:t>
            </a:r>
            <a:endParaRPr/>
          </a:p>
          <a:p>
            <a:pPr marL="0" lvl="0" indent="0" algn="ctr" rtl="0">
              <a:lnSpc>
                <a:spcPct val="150000"/>
              </a:lnSpc>
              <a:spcBef>
                <a:spcPts val="0"/>
              </a:spcBef>
              <a:spcAft>
                <a:spcPts val="0"/>
              </a:spcAft>
              <a:buNone/>
            </a:pPr>
            <a:r>
              <a:rPr lang="es"/>
              <a:t>x = {x</a:t>
            </a:r>
            <a:r>
              <a:rPr lang="es" baseline="-25000"/>
              <a:t>1</a:t>
            </a:r>
            <a:r>
              <a:rPr lang="es"/>
              <a:t>, x</a:t>
            </a:r>
            <a:r>
              <a:rPr lang="es" baseline="-25000"/>
              <a:t>2</a:t>
            </a:r>
            <a:r>
              <a:rPr lang="es"/>
              <a:t>, ..x</a:t>
            </a:r>
            <a:r>
              <a:rPr lang="es" baseline="-25000"/>
              <a:t>N</a:t>
            </a:r>
            <a:r>
              <a:rPr lang="es"/>
              <a:t>} </a:t>
            </a:r>
            <a:endParaRPr/>
          </a:p>
          <a:p>
            <a:pPr marL="0" lvl="0" indent="0" algn="ctr" rtl="0">
              <a:lnSpc>
                <a:spcPct val="150000"/>
              </a:lnSpc>
              <a:spcBef>
                <a:spcPts val="0"/>
              </a:spcBef>
              <a:spcAft>
                <a:spcPts val="0"/>
              </a:spcAft>
              <a:buClr>
                <a:schemeClr val="dk1"/>
              </a:buClr>
              <a:buSzPts val="1100"/>
              <a:buFont typeface="Arial"/>
              <a:buNone/>
            </a:pPr>
            <a:r>
              <a:rPr lang="es"/>
              <a:t>(pensados como realizaciones de una v.a)</a:t>
            </a:r>
            <a:endParaRPr/>
          </a:p>
        </p:txBody>
      </p:sp>
      <p:cxnSp>
        <p:nvCxnSpPr>
          <p:cNvPr id="132" name="Google Shape;132;p21"/>
          <p:cNvCxnSpPr/>
          <p:nvPr/>
        </p:nvCxnSpPr>
        <p:spPr>
          <a:xfrm>
            <a:off x="3461400" y="1304050"/>
            <a:ext cx="0" cy="3558600"/>
          </a:xfrm>
          <a:prstGeom prst="straightConnector1">
            <a:avLst/>
          </a:prstGeom>
          <a:noFill/>
          <a:ln w="28575" cap="flat" cmpd="sng">
            <a:solidFill>
              <a:schemeClr val="dk2"/>
            </a:solidFill>
            <a:prstDash val="dot"/>
            <a:round/>
            <a:headEnd type="none" w="med" len="med"/>
            <a:tailEnd type="none" w="med" len="med"/>
          </a:ln>
        </p:spPr>
      </p:cxnSp>
      <p:sp>
        <p:nvSpPr>
          <p:cNvPr id="133" name="Google Shape;133;p21"/>
          <p:cNvSpPr txBox="1">
            <a:spLocks noGrp="1"/>
          </p:cNvSpPr>
          <p:nvPr>
            <p:ph type="body" idx="1"/>
          </p:nvPr>
        </p:nvSpPr>
        <p:spPr>
          <a:xfrm>
            <a:off x="3937450" y="1337350"/>
            <a:ext cx="4894800" cy="303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sz="1600"/>
              <a:t>El </a:t>
            </a:r>
            <a:r>
              <a:rPr lang="es" sz="1600" b="1"/>
              <a:t>percentil-k</a:t>
            </a:r>
            <a:r>
              <a:rPr lang="es" sz="1600"/>
              <a:t> es el valor x</a:t>
            </a:r>
            <a:r>
              <a:rPr lang="es" sz="1600" baseline="-25000"/>
              <a:t>i</a:t>
            </a:r>
            <a:r>
              <a:rPr lang="es" sz="1600"/>
              <a:t> tal que el k% de los valores de la muestra son menores a x</a:t>
            </a:r>
            <a:r>
              <a:rPr lang="es" sz="1600" baseline="-25000"/>
              <a:t>i</a:t>
            </a:r>
            <a:r>
              <a:rPr lang="es" sz="1600"/>
              <a:t>.</a:t>
            </a:r>
            <a:endParaRPr sz="1600"/>
          </a:p>
          <a:p>
            <a:pPr marL="0" lvl="0" indent="0" algn="l" rtl="0">
              <a:spcBef>
                <a:spcPts val="1000"/>
              </a:spcBef>
              <a:spcAft>
                <a:spcPts val="0"/>
              </a:spcAft>
              <a:buNone/>
            </a:pPr>
            <a:r>
              <a:rPr lang="es" sz="1600"/>
              <a:t>No hay una única fórmula para calcular los percentiles, pero en general:</a:t>
            </a:r>
            <a:endParaRPr sz="1600"/>
          </a:p>
          <a:p>
            <a:pPr marL="457200" lvl="0" indent="-330200" algn="l" rtl="0">
              <a:spcBef>
                <a:spcPts val="0"/>
              </a:spcBef>
              <a:spcAft>
                <a:spcPts val="0"/>
              </a:spcAft>
              <a:buSzPts val="1600"/>
              <a:buAutoNum type="arabicPeriod"/>
            </a:pPr>
            <a:r>
              <a:rPr lang="es" sz="1600"/>
              <a:t>Ordenar las realizaciones tal que x</a:t>
            </a:r>
            <a:r>
              <a:rPr lang="es" sz="1600" baseline="-25000"/>
              <a:t>j</a:t>
            </a:r>
            <a:r>
              <a:rPr lang="es" sz="1600"/>
              <a:t>≤x</a:t>
            </a:r>
            <a:r>
              <a:rPr lang="es" sz="1600" baseline="-25000"/>
              <a:t>j+1</a:t>
            </a:r>
            <a:endParaRPr sz="1600" baseline="-25000"/>
          </a:p>
          <a:p>
            <a:pPr marL="457200" lvl="0" indent="-330200" algn="l" rtl="0">
              <a:spcBef>
                <a:spcPts val="0"/>
              </a:spcBef>
              <a:spcAft>
                <a:spcPts val="0"/>
              </a:spcAft>
              <a:buSzPts val="1600"/>
              <a:buAutoNum type="arabicPeriod"/>
            </a:pPr>
            <a:r>
              <a:rPr lang="es" sz="1600"/>
              <a:t>Seleccionar el elemento de la serie en la posición: menor entero mayor o igual a  k*N/100.</a:t>
            </a:r>
            <a:endParaRPr sz="16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2"/>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Medidas de dispersión</a:t>
            </a:r>
            <a:endParaRPr/>
          </a:p>
        </p:txBody>
      </p:sp>
      <p:sp>
        <p:nvSpPr>
          <p:cNvPr id="139" name="Google Shape;139;p22"/>
          <p:cNvSpPr txBox="1">
            <a:spLocks noGrp="1"/>
          </p:cNvSpPr>
          <p:nvPr>
            <p:ph type="body" idx="1"/>
          </p:nvPr>
        </p:nvSpPr>
        <p:spPr>
          <a:xfrm>
            <a:off x="311700" y="1224000"/>
            <a:ext cx="2808000" cy="3439200"/>
          </a:xfrm>
          <a:prstGeom prst="rect">
            <a:avLst/>
          </a:prstGeom>
        </p:spPr>
        <p:txBody>
          <a:bodyPr spcFirstLastPara="1" wrap="square" lIns="91425" tIns="91425" rIns="91425" bIns="91425" anchor="ctr" anchorCtr="0">
            <a:noAutofit/>
          </a:bodyPr>
          <a:lstStyle/>
          <a:p>
            <a:pPr marL="0" lvl="0" indent="0" algn="ctr" rtl="0">
              <a:lnSpc>
                <a:spcPct val="150000"/>
              </a:lnSpc>
              <a:spcBef>
                <a:spcPts val="0"/>
              </a:spcBef>
              <a:spcAft>
                <a:spcPts val="0"/>
              </a:spcAft>
              <a:buClr>
                <a:schemeClr val="dk1"/>
              </a:buClr>
              <a:buSzPts val="1100"/>
              <a:buFont typeface="Arial"/>
              <a:buNone/>
            </a:pPr>
            <a:r>
              <a:rPr lang="es"/>
              <a:t>Dados datos numéricos</a:t>
            </a:r>
            <a:endParaRPr/>
          </a:p>
          <a:p>
            <a:pPr marL="0" lvl="0" indent="0" algn="ctr" rtl="0">
              <a:lnSpc>
                <a:spcPct val="150000"/>
              </a:lnSpc>
              <a:spcBef>
                <a:spcPts val="0"/>
              </a:spcBef>
              <a:spcAft>
                <a:spcPts val="0"/>
              </a:spcAft>
              <a:buNone/>
            </a:pPr>
            <a:r>
              <a:rPr lang="es"/>
              <a:t>x = {x</a:t>
            </a:r>
            <a:r>
              <a:rPr lang="es" baseline="-25000"/>
              <a:t>1</a:t>
            </a:r>
            <a:r>
              <a:rPr lang="es"/>
              <a:t>, x</a:t>
            </a:r>
            <a:r>
              <a:rPr lang="es" baseline="-25000"/>
              <a:t>2</a:t>
            </a:r>
            <a:r>
              <a:rPr lang="es"/>
              <a:t>, ..x</a:t>
            </a:r>
            <a:r>
              <a:rPr lang="es" baseline="-25000"/>
              <a:t>N</a:t>
            </a:r>
            <a:r>
              <a:rPr lang="es"/>
              <a:t>}</a:t>
            </a:r>
            <a:endParaRPr/>
          </a:p>
          <a:p>
            <a:pPr marL="0" lvl="0" indent="0" algn="ctr" rtl="0">
              <a:lnSpc>
                <a:spcPct val="150000"/>
              </a:lnSpc>
              <a:spcBef>
                <a:spcPts val="0"/>
              </a:spcBef>
              <a:spcAft>
                <a:spcPts val="0"/>
              </a:spcAft>
              <a:buClr>
                <a:schemeClr val="dk1"/>
              </a:buClr>
              <a:buSzPts val="1100"/>
              <a:buFont typeface="Arial"/>
              <a:buNone/>
            </a:pPr>
            <a:r>
              <a:rPr lang="es"/>
              <a:t>(pensados como realizaciones de una v.a)</a:t>
            </a:r>
            <a:endParaRPr/>
          </a:p>
        </p:txBody>
      </p:sp>
      <p:cxnSp>
        <p:nvCxnSpPr>
          <p:cNvPr id="140" name="Google Shape;140;p22"/>
          <p:cNvCxnSpPr/>
          <p:nvPr/>
        </p:nvCxnSpPr>
        <p:spPr>
          <a:xfrm>
            <a:off x="3461400" y="1304050"/>
            <a:ext cx="0" cy="3558600"/>
          </a:xfrm>
          <a:prstGeom prst="straightConnector1">
            <a:avLst/>
          </a:prstGeom>
          <a:noFill/>
          <a:ln w="28575" cap="flat" cmpd="sng">
            <a:solidFill>
              <a:schemeClr val="dk2"/>
            </a:solidFill>
            <a:prstDash val="dot"/>
            <a:round/>
            <a:headEnd type="none" w="med" len="med"/>
            <a:tailEnd type="none" w="med" len="med"/>
          </a:ln>
        </p:spPr>
      </p:cxnSp>
      <p:sp>
        <p:nvSpPr>
          <p:cNvPr id="141" name="Google Shape;141;p22"/>
          <p:cNvSpPr txBox="1">
            <a:spLocks noGrp="1"/>
          </p:cNvSpPr>
          <p:nvPr>
            <p:ph type="body" idx="1"/>
          </p:nvPr>
        </p:nvSpPr>
        <p:spPr>
          <a:xfrm>
            <a:off x="3937450" y="1337350"/>
            <a:ext cx="4894800" cy="303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sz="1600"/>
              <a:t>La </a:t>
            </a:r>
            <a:r>
              <a:rPr lang="es" sz="1600" b="1"/>
              <a:t>varianza muestral</a:t>
            </a:r>
            <a:r>
              <a:rPr lang="es" sz="1600"/>
              <a:t> mide la variación de los datos a través de la distancia cuadrada a la media muestral. </a:t>
            </a:r>
            <a:endParaRPr sz="1600"/>
          </a:p>
          <a:p>
            <a:pPr marL="0" lvl="0" indent="0" algn="l" rtl="0">
              <a:spcBef>
                <a:spcPts val="1000"/>
              </a:spcBef>
              <a:spcAft>
                <a:spcPts val="0"/>
              </a:spcAft>
              <a:buNone/>
            </a:pPr>
            <a:endParaRPr sz="1600"/>
          </a:p>
          <a:p>
            <a:pPr marL="0" lvl="0" indent="0" algn="l" rtl="0">
              <a:spcBef>
                <a:spcPts val="1000"/>
              </a:spcBef>
              <a:spcAft>
                <a:spcPts val="0"/>
              </a:spcAft>
              <a:buNone/>
            </a:pPr>
            <a:endParaRPr sz="1600"/>
          </a:p>
          <a:p>
            <a:pPr marL="0" lvl="0" indent="0" algn="l" rtl="0">
              <a:spcBef>
                <a:spcPts val="1000"/>
              </a:spcBef>
              <a:spcAft>
                <a:spcPts val="0"/>
              </a:spcAft>
              <a:buNone/>
            </a:pPr>
            <a:r>
              <a:rPr lang="es" sz="1600"/>
              <a:t>La </a:t>
            </a:r>
            <a:r>
              <a:rPr lang="es" sz="1600" b="1"/>
              <a:t>desviación estándar</a:t>
            </a:r>
            <a:r>
              <a:rPr lang="es" sz="1600"/>
              <a:t> es la raíz cuadrada de la varianza. Está en la misma unidad que los datos.</a:t>
            </a:r>
            <a:endParaRPr sz="1600"/>
          </a:p>
          <a:p>
            <a:pPr marL="0" lvl="0" indent="0" algn="l" rtl="0">
              <a:spcBef>
                <a:spcPts val="1000"/>
              </a:spcBef>
              <a:spcAft>
                <a:spcPts val="0"/>
              </a:spcAft>
              <a:buNone/>
            </a:pPr>
            <a:r>
              <a:rPr lang="es" sz="1600"/>
              <a:t>El </a:t>
            </a:r>
            <a:r>
              <a:rPr lang="es" sz="1600" b="1"/>
              <a:t>coeficiente de variación</a:t>
            </a:r>
            <a:r>
              <a:rPr lang="es" sz="1600"/>
              <a:t> es la desviación estándar dividida la media muestral. Es comparable entre distintas v.a.</a:t>
            </a:r>
            <a:endParaRPr sz="1600"/>
          </a:p>
          <a:p>
            <a:pPr marL="0" lvl="0" indent="0" algn="l" rtl="0">
              <a:spcBef>
                <a:spcPts val="1000"/>
              </a:spcBef>
              <a:spcAft>
                <a:spcPts val="0"/>
              </a:spcAft>
              <a:buNone/>
            </a:pPr>
            <a:endParaRPr sz="1600"/>
          </a:p>
        </p:txBody>
      </p:sp>
      <p:pic>
        <p:nvPicPr>
          <p:cNvPr id="142" name="Google Shape;142;p22"/>
          <p:cNvPicPr preferRelativeResize="0"/>
          <p:nvPr/>
        </p:nvPicPr>
        <p:blipFill>
          <a:blip r:embed="rId3">
            <a:alphaModFix/>
          </a:blip>
          <a:stretch>
            <a:fillRect/>
          </a:stretch>
        </p:blipFill>
        <p:spPr>
          <a:xfrm>
            <a:off x="4833185" y="2271875"/>
            <a:ext cx="2662130" cy="8313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3"/>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Medidas de dispersión</a:t>
            </a:r>
            <a:endParaRPr/>
          </a:p>
        </p:txBody>
      </p:sp>
      <p:sp>
        <p:nvSpPr>
          <p:cNvPr id="148" name="Google Shape;148;p23"/>
          <p:cNvSpPr txBox="1">
            <a:spLocks noGrp="1"/>
          </p:cNvSpPr>
          <p:nvPr>
            <p:ph type="body" idx="1"/>
          </p:nvPr>
        </p:nvSpPr>
        <p:spPr>
          <a:xfrm>
            <a:off x="311700" y="1224000"/>
            <a:ext cx="2808000" cy="3439200"/>
          </a:xfrm>
          <a:prstGeom prst="rect">
            <a:avLst/>
          </a:prstGeom>
        </p:spPr>
        <p:txBody>
          <a:bodyPr spcFirstLastPara="1" wrap="square" lIns="91425" tIns="91425" rIns="91425" bIns="91425" anchor="ctr" anchorCtr="0">
            <a:noAutofit/>
          </a:bodyPr>
          <a:lstStyle/>
          <a:p>
            <a:pPr marL="0" lvl="0" indent="0" algn="ctr" rtl="0">
              <a:lnSpc>
                <a:spcPct val="150000"/>
              </a:lnSpc>
              <a:spcBef>
                <a:spcPts val="0"/>
              </a:spcBef>
              <a:spcAft>
                <a:spcPts val="0"/>
              </a:spcAft>
              <a:buClr>
                <a:schemeClr val="dk1"/>
              </a:buClr>
              <a:buSzPts val="1100"/>
              <a:buFont typeface="Arial"/>
              <a:buNone/>
            </a:pPr>
            <a:r>
              <a:rPr lang="es"/>
              <a:t>Dados datos numéricos</a:t>
            </a:r>
            <a:endParaRPr/>
          </a:p>
          <a:p>
            <a:pPr marL="0" lvl="0" indent="0" algn="ctr" rtl="0">
              <a:lnSpc>
                <a:spcPct val="150000"/>
              </a:lnSpc>
              <a:spcBef>
                <a:spcPts val="0"/>
              </a:spcBef>
              <a:spcAft>
                <a:spcPts val="0"/>
              </a:spcAft>
              <a:buClr>
                <a:schemeClr val="dk1"/>
              </a:buClr>
              <a:buSzPts val="1100"/>
              <a:buFont typeface="Arial"/>
              <a:buNone/>
            </a:pPr>
            <a:r>
              <a:rPr lang="es"/>
              <a:t>x = {x</a:t>
            </a:r>
            <a:r>
              <a:rPr lang="es" baseline="-25000"/>
              <a:t>1</a:t>
            </a:r>
            <a:r>
              <a:rPr lang="es"/>
              <a:t>, x</a:t>
            </a:r>
            <a:r>
              <a:rPr lang="es" baseline="-25000"/>
              <a:t>2</a:t>
            </a:r>
            <a:r>
              <a:rPr lang="es"/>
              <a:t>, ..x</a:t>
            </a:r>
            <a:r>
              <a:rPr lang="es" baseline="-25000"/>
              <a:t>N</a:t>
            </a:r>
            <a:r>
              <a:rPr lang="es"/>
              <a:t>} </a:t>
            </a:r>
            <a:endParaRPr/>
          </a:p>
        </p:txBody>
      </p:sp>
      <p:cxnSp>
        <p:nvCxnSpPr>
          <p:cNvPr id="149" name="Google Shape;149;p23"/>
          <p:cNvCxnSpPr/>
          <p:nvPr/>
        </p:nvCxnSpPr>
        <p:spPr>
          <a:xfrm>
            <a:off x="3461400" y="1304050"/>
            <a:ext cx="0" cy="3558600"/>
          </a:xfrm>
          <a:prstGeom prst="straightConnector1">
            <a:avLst/>
          </a:prstGeom>
          <a:noFill/>
          <a:ln w="28575" cap="flat" cmpd="sng">
            <a:solidFill>
              <a:schemeClr val="dk2"/>
            </a:solidFill>
            <a:prstDash val="dot"/>
            <a:round/>
            <a:headEnd type="none" w="med" len="med"/>
            <a:tailEnd type="none" w="med" len="med"/>
          </a:ln>
        </p:spPr>
      </p:cxnSp>
      <p:sp>
        <p:nvSpPr>
          <p:cNvPr id="150" name="Google Shape;150;p23"/>
          <p:cNvSpPr txBox="1">
            <a:spLocks noGrp="1"/>
          </p:cNvSpPr>
          <p:nvPr>
            <p:ph type="body" idx="1"/>
          </p:nvPr>
        </p:nvSpPr>
        <p:spPr>
          <a:xfrm>
            <a:off x="3937450" y="1337350"/>
            <a:ext cx="4894800" cy="303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sz="1600"/>
              <a:t>El rango y el rango intercuartílico miden en qué intervalo se encuentran un cierto porcentaje de los datos.</a:t>
            </a:r>
            <a:endParaRPr sz="1600"/>
          </a:p>
          <a:p>
            <a:pPr marL="0" lvl="0" indent="0" algn="l" rtl="0">
              <a:spcBef>
                <a:spcPts val="1000"/>
              </a:spcBef>
              <a:spcAft>
                <a:spcPts val="0"/>
              </a:spcAft>
              <a:buNone/>
            </a:pPr>
            <a:r>
              <a:rPr lang="es" sz="1600"/>
              <a:t>Rango: </a:t>
            </a:r>
            <a:endParaRPr sz="1600"/>
          </a:p>
          <a:p>
            <a:pPr marL="0" lvl="0" indent="0" algn="ctr" rtl="0">
              <a:spcBef>
                <a:spcPts val="1000"/>
              </a:spcBef>
              <a:spcAft>
                <a:spcPts val="0"/>
              </a:spcAft>
              <a:buNone/>
            </a:pPr>
            <a:r>
              <a:rPr lang="es" sz="1600"/>
              <a:t>percentil-100 - percentil-0</a:t>
            </a:r>
            <a:endParaRPr sz="1600"/>
          </a:p>
          <a:p>
            <a:pPr marL="0" lvl="0" indent="0" algn="l" rtl="0">
              <a:spcBef>
                <a:spcPts val="1000"/>
              </a:spcBef>
              <a:spcAft>
                <a:spcPts val="0"/>
              </a:spcAft>
              <a:buNone/>
            </a:pPr>
            <a:r>
              <a:rPr lang="es" sz="1600"/>
              <a:t>Rango intercuartílico:</a:t>
            </a:r>
            <a:endParaRPr sz="1600"/>
          </a:p>
          <a:p>
            <a:pPr marL="0" lvl="0" indent="0" algn="ctr" rtl="0">
              <a:spcBef>
                <a:spcPts val="1000"/>
              </a:spcBef>
              <a:spcAft>
                <a:spcPts val="0"/>
              </a:spcAft>
              <a:buNone/>
            </a:pPr>
            <a:r>
              <a:rPr lang="es" sz="1600"/>
              <a:t>percentil-75 - percentil-25</a:t>
            </a:r>
            <a:endParaRPr sz="1600"/>
          </a:p>
          <a:p>
            <a:pPr marL="0" lvl="0" indent="0" algn="ctr" rtl="0">
              <a:spcBef>
                <a:spcPts val="1000"/>
              </a:spcBef>
              <a:spcAft>
                <a:spcPts val="0"/>
              </a:spcAft>
              <a:buNone/>
            </a:pPr>
            <a:r>
              <a:rPr lang="es" sz="1600"/>
              <a:t>Q3 - Q1</a:t>
            </a:r>
            <a:endParaRPr sz="1600"/>
          </a:p>
          <a:p>
            <a:pPr marL="0" lvl="0" indent="0" algn="l" rtl="0">
              <a:spcBef>
                <a:spcPts val="1000"/>
              </a:spcBef>
              <a:spcAft>
                <a:spcPts val="0"/>
              </a:spcAft>
              <a:buNone/>
            </a:pPr>
            <a:endParaRPr sz="16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4"/>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Usos de los percentiles y rangos</a:t>
            </a:r>
            <a:endParaRPr/>
          </a:p>
        </p:txBody>
      </p:sp>
      <p:sp>
        <p:nvSpPr>
          <p:cNvPr id="156" name="Google Shape;156;p24"/>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s"/>
              <a:t>En el caso de la mediana (percentil-50), medir la tendencia central</a:t>
            </a:r>
            <a:endParaRPr/>
          </a:p>
          <a:p>
            <a:pPr marL="457200" lvl="0" indent="-342900" algn="l" rtl="0">
              <a:spcBef>
                <a:spcPts val="0"/>
              </a:spcBef>
              <a:spcAft>
                <a:spcPts val="0"/>
              </a:spcAft>
              <a:buSzPts val="1800"/>
              <a:buChar char="●"/>
            </a:pPr>
            <a:r>
              <a:rPr lang="es"/>
              <a:t>Contextualizar el valor de un dato con respecto a otros</a:t>
            </a:r>
            <a:endParaRPr/>
          </a:p>
          <a:p>
            <a:pPr marL="914400" lvl="0" indent="0" algn="l" rtl="0">
              <a:spcBef>
                <a:spcPts val="1600"/>
              </a:spcBef>
              <a:spcAft>
                <a:spcPts val="0"/>
              </a:spcAft>
              <a:buNone/>
            </a:pPr>
            <a:r>
              <a:rPr lang="es"/>
              <a:t>Una persona de sexo femenino de 6 años mide 95cm</a:t>
            </a:r>
            <a:endParaRPr/>
          </a:p>
          <a:p>
            <a:pPr marL="914400" lvl="0" indent="0" algn="l" rtl="0">
              <a:spcBef>
                <a:spcPts val="1600"/>
              </a:spcBef>
              <a:spcAft>
                <a:spcPts val="0"/>
              </a:spcAft>
              <a:buNone/>
            </a:pPr>
            <a:r>
              <a:rPr lang="es"/>
              <a:t>Está en el 10% de personas con menor estatura del mismo grupo. [</a:t>
            </a:r>
            <a:r>
              <a:rPr lang="es" u="sng">
                <a:solidFill>
                  <a:schemeClr val="hlink"/>
                </a:solidFill>
                <a:hlinkClick r:id="rId3"/>
              </a:rPr>
              <a:t>Curva</a:t>
            </a:r>
            <a:r>
              <a:rPr lang="es"/>
              <a:t>]</a:t>
            </a:r>
            <a:endParaRPr/>
          </a:p>
          <a:p>
            <a:pPr marL="457200" lvl="0" indent="-342900" algn="l" rtl="0">
              <a:spcBef>
                <a:spcPts val="1600"/>
              </a:spcBef>
              <a:spcAft>
                <a:spcPts val="0"/>
              </a:spcAft>
              <a:buSzPts val="1800"/>
              <a:buChar char="●"/>
            </a:pPr>
            <a:r>
              <a:rPr lang="es"/>
              <a:t>Identificación y eliminación de valores extremos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25"/>
          <p:cNvSpPr txBox="1">
            <a:spLocks noGrp="1"/>
          </p:cNvSpPr>
          <p:nvPr>
            <p:ph type="title"/>
          </p:nvPr>
        </p:nvSpPr>
        <p:spPr>
          <a:xfrm>
            <a:off x="490250" y="450150"/>
            <a:ext cx="7988700" cy="4090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s" dirty="0"/>
              <a:t>Demo con Notebook </a:t>
            </a:r>
            <a:endParaRPr dirty="0"/>
          </a:p>
          <a:p>
            <a:pPr marL="0" lvl="0" indent="0" algn="ctr" rtl="0">
              <a:spcBef>
                <a:spcPts val="0"/>
              </a:spcBef>
              <a:spcAft>
                <a:spcPts val="0"/>
              </a:spcAft>
              <a:buNone/>
            </a:pPr>
            <a:r>
              <a:rPr lang="es" sz="3400" u="sng" dirty="0">
                <a:solidFill>
                  <a:schemeClr val="hlink"/>
                </a:solidFill>
              </a:rPr>
              <a:t>EL460_Datos_y_Modelos_2025.ipynb</a:t>
            </a:r>
            <a:endParaRPr sz="3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6"/>
          <p:cNvSpPr txBox="1">
            <a:spLocks noGrp="1"/>
          </p:cNvSpPr>
          <p:nvPr>
            <p:ph type="title"/>
          </p:nvPr>
        </p:nvSpPr>
        <p:spPr>
          <a:xfrm>
            <a:off x="490250" y="450150"/>
            <a:ext cx="5878800" cy="409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s" dirty="0"/>
              <a:t>En </a:t>
            </a:r>
            <a:r>
              <a:rPr lang="es" b="1" dirty="0"/>
              <a:t>una frase</a:t>
            </a:r>
            <a:r>
              <a:rPr lang="es" dirty="0"/>
              <a:t>:</a:t>
            </a:r>
            <a:endParaRPr dirty="0"/>
          </a:p>
          <a:p>
            <a:pPr marL="0" lvl="0" indent="0" algn="l" rtl="0">
              <a:spcBef>
                <a:spcPts val="0"/>
              </a:spcBef>
              <a:spcAft>
                <a:spcPts val="0"/>
              </a:spcAft>
              <a:buNone/>
            </a:pPr>
            <a:r>
              <a:rPr lang="es" dirty="0"/>
              <a:t>¿Cuánto cobran l@s programadores en un país como Argentina o Colombia?</a:t>
            </a: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27"/>
          <p:cNvSpPr txBox="1">
            <a:spLocks noGrp="1"/>
          </p:cNvSpPr>
          <p:nvPr>
            <p:ph type="title"/>
          </p:nvPr>
        </p:nvSpPr>
        <p:spPr>
          <a:xfrm>
            <a:off x="490250" y="450150"/>
            <a:ext cx="5878800" cy="409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s"/>
              <a:t>¿Respuestas?</a:t>
            </a:r>
            <a:endParaRPr/>
          </a:p>
          <a:p>
            <a:pPr marL="0" lvl="0" indent="0" algn="l" rtl="0">
              <a:spcBef>
                <a:spcPts val="0"/>
              </a:spcBef>
              <a:spcAft>
                <a:spcPts val="0"/>
              </a:spcAft>
              <a:buNone/>
            </a:pPr>
            <a:r>
              <a:rPr lang="es"/>
              <a:t>¿Qué pregunta respondimos en realidad?</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8"/>
          <p:cNvSpPr txBox="1">
            <a:spLocks noGrp="1"/>
          </p:cNvSpPr>
          <p:nvPr>
            <p:ph type="title"/>
          </p:nvPr>
        </p:nvSpPr>
        <p:spPr>
          <a:xfrm>
            <a:off x="490250" y="450150"/>
            <a:ext cx="6905700" cy="409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s" dirty="0"/>
              <a:t>¿Cuánto cobran l@s programadores experimentados en un país como Argentina?</a:t>
            </a: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29"/>
          <p:cNvSpPr txBox="1">
            <a:spLocks noGrp="1"/>
          </p:cNvSpPr>
          <p:nvPr>
            <p:ph type="title"/>
          </p:nvPr>
        </p:nvSpPr>
        <p:spPr>
          <a:xfrm>
            <a:off x="540875" y="384075"/>
            <a:ext cx="4995000" cy="409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s" dirty="0"/>
              <a:t>¿Afecta el nivel de estudios en el salario de l@s programador@s en un país como Argentina? ¿Cómo? </a:t>
            </a:r>
            <a:endParaRPr dirty="0"/>
          </a:p>
        </p:txBody>
      </p:sp>
      <p:sp>
        <p:nvSpPr>
          <p:cNvPr id="182" name="Google Shape;182;p29"/>
          <p:cNvSpPr txBox="1">
            <a:spLocks noGrp="1"/>
          </p:cNvSpPr>
          <p:nvPr>
            <p:ph type="body" idx="4294967295"/>
          </p:nvPr>
        </p:nvSpPr>
        <p:spPr>
          <a:xfrm>
            <a:off x="5730550" y="981025"/>
            <a:ext cx="2808000" cy="3439200"/>
          </a:xfrm>
          <a:prstGeom prst="rect">
            <a:avLst/>
          </a:prstGeom>
        </p:spPr>
        <p:txBody>
          <a:bodyPr spcFirstLastPara="1" wrap="square" lIns="91425" tIns="91425" rIns="91425" bIns="91425" anchor="ctr" anchorCtr="0">
            <a:noAutofit/>
          </a:bodyPr>
          <a:lstStyle/>
          <a:p>
            <a:pPr marL="0" lvl="0" indent="0" algn="l" rtl="0">
              <a:lnSpc>
                <a:spcPct val="150000"/>
              </a:lnSpc>
              <a:spcBef>
                <a:spcPts val="0"/>
              </a:spcBef>
              <a:spcAft>
                <a:spcPts val="0"/>
              </a:spcAft>
              <a:buNone/>
            </a:pPr>
            <a:r>
              <a:rPr lang="es" sz="1600"/>
              <a:t>Ejercicio </a:t>
            </a:r>
            <a:endParaRPr sz="1600">
              <a:highlight>
                <a:srgbClr val="FFFF00"/>
              </a:highlight>
            </a:endParaRPr>
          </a:p>
          <a:p>
            <a:pPr marL="0" lvl="0" indent="0" algn="l" rtl="0">
              <a:lnSpc>
                <a:spcPct val="150000"/>
              </a:lnSpc>
              <a:spcBef>
                <a:spcPts val="0"/>
              </a:spcBef>
              <a:spcAft>
                <a:spcPts val="0"/>
              </a:spcAft>
              <a:buNone/>
            </a:pPr>
            <a:r>
              <a:rPr lang="es" sz="1600"/>
              <a:t>Seguir el proceso de análisis propuesto:</a:t>
            </a:r>
            <a:endParaRPr sz="1600"/>
          </a:p>
          <a:p>
            <a:pPr marL="457200" lvl="0" indent="-330200" algn="l" rtl="0">
              <a:lnSpc>
                <a:spcPct val="150000"/>
              </a:lnSpc>
              <a:spcBef>
                <a:spcPts val="0"/>
              </a:spcBef>
              <a:spcAft>
                <a:spcPts val="0"/>
              </a:spcAft>
              <a:buSzPts val="1600"/>
              <a:buAutoNum type="arabicPeriod"/>
            </a:pPr>
            <a:r>
              <a:rPr lang="es" sz="1600"/>
              <a:t>Hipótesis</a:t>
            </a:r>
            <a:endParaRPr sz="1600"/>
          </a:p>
          <a:p>
            <a:pPr marL="457200" lvl="0" indent="-330200" algn="l" rtl="0">
              <a:lnSpc>
                <a:spcPct val="150000"/>
              </a:lnSpc>
              <a:spcBef>
                <a:spcPts val="0"/>
              </a:spcBef>
              <a:spcAft>
                <a:spcPts val="0"/>
              </a:spcAft>
              <a:buSzPts val="1600"/>
              <a:buAutoNum type="arabicPeriod"/>
            </a:pPr>
            <a:r>
              <a:rPr lang="es" sz="1600"/>
              <a:t>Análisis de v.a.</a:t>
            </a:r>
            <a:endParaRPr sz="1600"/>
          </a:p>
          <a:p>
            <a:pPr marL="457200" lvl="0" indent="-330200" algn="l" rtl="0">
              <a:lnSpc>
                <a:spcPct val="150000"/>
              </a:lnSpc>
              <a:spcBef>
                <a:spcPts val="0"/>
              </a:spcBef>
              <a:spcAft>
                <a:spcPts val="0"/>
              </a:spcAft>
              <a:buSzPts val="1600"/>
              <a:buAutoNum type="arabicPeriod"/>
            </a:pPr>
            <a:r>
              <a:rPr lang="es" sz="1600"/>
              <a:t>Experimento</a:t>
            </a:r>
            <a:endParaRPr sz="1600">
              <a:highlight>
                <a:srgbClr val="FFFF00"/>
              </a:highlight>
            </a:endParaRPr>
          </a:p>
        </p:txBody>
      </p:sp>
      <p:cxnSp>
        <p:nvCxnSpPr>
          <p:cNvPr id="183" name="Google Shape;183;p29"/>
          <p:cNvCxnSpPr/>
          <p:nvPr/>
        </p:nvCxnSpPr>
        <p:spPr>
          <a:xfrm>
            <a:off x="5485250" y="792450"/>
            <a:ext cx="0" cy="3558600"/>
          </a:xfrm>
          <a:prstGeom prst="straightConnector1">
            <a:avLst/>
          </a:prstGeom>
          <a:noFill/>
          <a:ln w="28575" cap="flat" cmpd="sng">
            <a:solidFill>
              <a:schemeClr val="dk2"/>
            </a:solidFill>
            <a:prstDash val="dot"/>
            <a:round/>
            <a:headEnd type="none" w="med" len="med"/>
            <a:tailEnd type="none" w="med" len="med"/>
          </a:ln>
        </p:spPr>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30"/>
          <p:cNvSpPr txBox="1">
            <a:spLocks noGrp="1"/>
          </p:cNvSpPr>
          <p:nvPr>
            <p:ph type="title"/>
          </p:nvPr>
        </p:nvSpPr>
        <p:spPr>
          <a:xfrm>
            <a:off x="490250" y="450150"/>
            <a:ext cx="7988700" cy="409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s"/>
              <a:t>Teoría, datos, experimentos, simulación... </a:t>
            </a:r>
            <a:endParaRPr/>
          </a:p>
          <a:p>
            <a:pPr marL="0" lvl="0" indent="0" algn="l" rtl="0">
              <a:spcBef>
                <a:spcPts val="0"/>
              </a:spcBef>
              <a:spcAft>
                <a:spcPts val="0"/>
              </a:spcAft>
              <a:buClr>
                <a:schemeClr val="dk1"/>
              </a:buClr>
              <a:buSzPts val="1100"/>
              <a:buFont typeface="Arial"/>
              <a:buNone/>
            </a:pPr>
            <a:r>
              <a:rPr lang="es"/>
              <a:t>¿Que es todo esto y cómo se combinan?</a:t>
            </a:r>
            <a:endParaRPr/>
          </a:p>
          <a:p>
            <a:pPr marL="0" lvl="0" indent="0" algn="l" rtl="0">
              <a:spcBef>
                <a:spcPts val="0"/>
              </a:spcBef>
              <a:spcAft>
                <a:spcPts val="0"/>
              </a:spcAft>
              <a:buNone/>
            </a:pPr>
            <a:endParaRPr sz="36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31"/>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s"/>
              <a:t>Variable Aleatoria (discreta numérica) </a:t>
            </a:r>
            <a:endParaRPr sz="3800" b="1">
              <a:latin typeface="Open Sans"/>
              <a:ea typeface="Open Sans"/>
              <a:cs typeface="Open Sans"/>
              <a:sym typeface="Open Sans"/>
            </a:endParaRPr>
          </a:p>
        </p:txBody>
      </p:sp>
      <p:sp>
        <p:nvSpPr>
          <p:cNvPr id="194" name="Google Shape;194;p31"/>
          <p:cNvSpPr txBox="1">
            <a:spLocks noGrp="1"/>
          </p:cNvSpPr>
          <p:nvPr>
            <p:ph type="body" idx="1"/>
          </p:nvPr>
        </p:nvSpPr>
        <p:spPr>
          <a:xfrm>
            <a:off x="387500" y="1147225"/>
            <a:ext cx="8817600" cy="822900"/>
          </a:xfrm>
          <a:prstGeom prst="rect">
            <a:avLst/>
          </a:prstGeom>
        </p:spPr>
        <p:txBody>
          <a:bodyPr spcFirstLastPara="1" wrap="square" lIns="91425" tIns="91425" rIns="91425" bIns="91425" anchor="t" anchorCtr="0">
            <a:noAutofit/>
          </a:bodyPr>
          <a:lstStyle/>
          <a:p>
            <a:pPr marL="0" lvl="0" indent="0" algn="l" rtl="0">
              <a:spcBef>
                <a:spcPts val="0"/>
              </a:spcBef>
              <a:spcAft>
                <a:spcPts val="1400"/>
              </a:spcAft>
              <a:buNone/>
            </a:pPr>
            <a:r>
              <a:rPr lang="es" sz="2200"/>
              <a:t>X= cantidad de caras en 3 tiradas de moneda. </a:t>
            </a:r>
            <a:endParaRPr sz="2200"/>
          </a:p>
        </p:txBody>
      </p:sp>
      <p:pic>
        <p:nvPicPr>
          <p:cNvPr id="195" name="Google Shape;195;p31"/>
          <p:cNvPicPr preferRelativeResize="0"/>
          <p:nvPr/>
        </p:nvPicPr>
        <p:blipFill rotWithShape="1">
          <a:blip r:embed="rId3">
            <a:alphaModFix/>
          </a:blip>
          <a:srcRect l="19280" t="83677" r="12103" b="4759"/>
          <a:stretch/>
        </p:blipFill>
        <p:spPr>
          <a:xfrm>
            <a:off x="5689000" y="3030075"/>
            <a:ext cx="2411500" cy="304800"/>
          </a:xfrm>
          <a:prstGeom prst="rect">
            <a:avLst/>
          </a:prstGeom>
          <a:noFill/>
          <a:ln>
            <a:noFill/>
          </a:ln>
        </p:spPr>
      </p:pic>
      <p:sp>
        <p:nvSpPr>
          <p:cNvPr id="196" name="Google Shape;196;p31"/>
          <p:cNvSpPr txBox="1"/>
          <p:nvPr/>
        </p:nvSpPr>
        <p:spPr>
          <a:xfrm>
            <a:off x="6105875" y="3348325"/>
            <a:ext cx="1443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a:latin typeface="Open Sans"/>
                <a:ea typeface="Open Sans"/>
                <a:cs typeface="Open Sans"/>
                <a:sym typeface="Open Sans"/>
              </a:rPr>
              <a:t>R</a:t>
            </a:r>
            <a:r>
              <a:rPr lang="es" baseline="-25000">
                <a:latin typeface="Open Sans"/>
                <a:ea typeface="Open Sans"/>
                <a:cs typeface="Open Sans"/>
                <a:sym typeface="Open Sans"/>
              </a:rPr>
              <a:t>X</a:t>
            </a:r>
            <a:r>
              <a:rPr lang="es">
                <a:latin typeface="Open Sans"/>
                <a:ea typeface="Open Sans"/>
                <a:cs typeface="Open Sans"/>
                <a:sym typeface="Open Sans"/>
              </a:rPr>
              <a:t>={ 0, 1, 2, 3 }</a:t>
            </a:r>
            <a:endParaRPr>
              <a:latin typeface="Open Sans"/>
              <a:ea typeface="Open Sans"/>
              <a:cs typeface="Open Sans"/>
              <a:sym typeface="Open Sans"/>
            </a:endParaRPr>
          </a:p>
        </p:txBody>
      </p:sp>
      <p:graphicFrame>
        <p:nvGraphicFramePr>
          <p:cNvPr id="197" name="Google Shape;197;p31"/>
          <p:cNvGraphicFramePr/>
          <p:nvPr/>
        </p:nvGraphicFramePr>
        <p:xfrm>
          <a:off x="1195450" y="2351075"/>
          <a:ext cx="2470700" cy="2371150"/>
        </p:xfrm>
        <a:graphic>
          <a:graphicData uri="http://schemas.openxmlformats.org/drawingml/2006/table">
            <a:tbl>
              <a:tblPr>
                <a:noFill/>
                <a:tableStyleId>{21B300F3-8315-4C43-94BD-F69CAAB65E06}</a:tableStyleId>
              </a:tblPr>
              <a:tblGrid>
                <a:gridCol w="617675">
                  <a:extLst>
                    <a:ext uri="{9D8B030D-6E8A-4147-A177-3AD203B41FA5}">
                      <a16:colId xmlns:a16="http://schemas.microsoft.com/office/drawing/2014/main" val="20000"/>
                    </a:ext>
                  </a:extLst>
                </a:gridCol>
                <a:gridCol w="617675">
                  <a:extLst>
                    <a:ext uri="{9D8B030D-6E8A-4147-A177-3AD203B41FA5}">
                      <a16:colId xmlns:a16="http://schemas.microsoft.com/office/drawing/2014/main" val="20001"/>
                    </a:ext>
                  </a:extLst>
                </a:gridCol>
                <a:gridCol w="617675">
                  <a:extLst>
                    <a:ext uri="{9D8B030D-6E8A-4147-A177-3AD203B41FA5}">
                      <a16:colId xmlns:a16="http://schemas.microsoft.com/office/drawing/2014/main" val="20002"/>
                    </a:ext>
                  </a:extLst>
                </a:gridCol>
                <a:gridCol w="617675">
                  <a:extLst>
                    <a:ext uri="{9D8B030D-6E8A-4147-A177-3AD203B41FA5}">
                      <a16:colId xmlns:a16="http://schemas.microsoft.com/office/drawing/2014/main" val="20003"/>
                    </a:ext>
                  </a:extLst>
                </a:gridCol>
              </a:tblGrid>
              <a:tr h="1185575">
                <a:tc>
                  <a:txBody>
                    <a:bodyPr/>
                    <a:lstStyle/>
                    <a:p>
                      <a:pPr marL="0" lvl="0" indent="0" algn="ctr" rtl="0">
                        <a:spcBef>
                          <a:spcPts val="0"/>
                        </a:spcBef>
                        <a:spcAft>
                          <a:spcPts val="0"/>
                        </a:spcAft>
                        <a:buNone/>
                      </a:pPr>
                      <a:r>
                        <a:rPr lang="es">
                          <a:highlight>
                            <a:srgbClr val="6AA84F"/>
                          </a:highlight>
                        </a:rPr>
                        <a:t>ccc</a:t>
                      </a:r>
                      <a:endParaRPr>
                        <a:highlight>
                          <a:srgbClr val="6AA84F"/>
                        </a:highlight>
                      </a:endParaRPr>
                    </a:p>
                  </a:txBody>
                  <a:tcPr marL="91425" marR="91425" marT="91425" marB="91425" anchor="ctr">
                    <a:lnL w="9525" cap="flat" cmpd="sng">
                      <a:solidFill>
                        <a:srgbClr val="1B786E"/>
                      </a:solidFill>
                      <a:prstDash val="solid"/>
                      <a:round/>
                      <a:headEnd type="none" w="sm" len="sm"/>
                      <a:tailEnd type="none" w="sm" len="sm"/>
                    </a:lnL>
                    <a:lnR w="9525" cap="flat" cmpd="sng">
                      <a:solidFill>
                        <a:srgbClr val="1B786E"/>
                      </a:solidFill>
                      <a:prstDash val="solid"/>
                      <a:round/>
                      <a:headEnd type="none" w="sm" len="sm"/>
                      <a:tailEnd type="none" w="sm" len="sm"/>
                    </a:lnR>
                    <a:lnT w="9525" cap="flat" cmpd="sng">
                      <a:solidFill>
                        <a:srgbClr val="1B786E"/>
                      </a:solidFill>
                      <a:prstDash val="solid"/>
                      <a:round/>
                      <a:headEnd type="none" w="sm" len="sm"/>
                      <a:tailEnd type="none" w="sm" len="sm"/>
                    </a:lnT>
                    <a:lnB w="9525" cap="flat" cmpd="sng">
                      <a:solidFill>
                        <a:srgbClr val="1B786E"/>
                      </a:solidFill>
                      <a:prstDash val="solid"/>
                      <a:round/>
                      <a:headEnd type="none" w="sm" len="sm"/>
                      <a:tailEnd type="none" w="sm" len="sm"/>
                    </a:lnB>
                  </a:tcPr>
                </a:tc>
                <a:tc>
                  <a:txBody>
                    <a:bodyPr/>
                    <a:lstStyle/>
                    <a:p>
                      <a:pPr marL="0" lvl="0" indent="0" algn="ctr" rtl="0">
                        <a:spcBef>
                          <a:spcPts val="0"/>
                        </a:spcBef>
                        <a:spcAft>
                          <a:spcPts val="0"/>
                        </a:spcAft>
                        <a:buNone/>
                      </a:pPr>
                      <a:r>
                        <a:rPr lang="es">
                          <a:highlight>
                            <a:srgbClr val="6AA84F"/>
                          </a:highlight>
                        </a:rPr>
                        <a:t>ccs</a:t>
                      </a:r>
                      <a:endParaRPr>
                        <a:highlight>
                          <a:srgbClr val="6AA84F"/>
                        </a:highlight>
                      </a:endParaRPr>
                    </a:p>
                  </a:txBody>
                  <a:tcPr marL="91425" marR="91425" marT="91425" marB="91425" anchor="ctr">
                    <a:lnL w="9525" cap="flat" cmpd="sng">
                      <a:solidFill>
                        <a:srgbClr val="1B786E"/>
                      </a:solidFill>
                      <a:prstDash val="solid"/>
                      <a:round/>
                      <a:headEnd type="none" w="sm" len="sm"/>
                      <a:tailEnd type="none" w="sm" len="sm"/>
                    </a:lnL>
                    <a:lnR w="9525" cap="flat" cmpd="sng">
                      <a:solidFill>
                        <a:srgbClr val="1B786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s">
                          <a:highlight>
                            <a:srgbClr val="3C78D8"/>
                          </a:highlight>
                        </a:rPr>
                        <a:t>scc</a:t>
                      </a:r>
                      <a:endParaRPr>
                        <a:highlight>
                          <a:srgbClr val="3C78D8"/>
                        </a:highlight>
                      </a:endParaRPr>
                    </a:p>
                  </a:txBody>
                  <a:tcPr marL="91425" marR="91425" marT="91425" marB="91425" anchor="ctr">
                    <a:lnL w="9525" cap="flat" cmpd="sng">
                      <a:solidFill>
                        <a:srgbClr val="1B786E"/>
                      </a:solidFill>
                      <a:prstDash val="solid"/>
                      <a:round/>
                      <a:headEnd type="none" w="sm" len="sm"/>
                      <a:tailEnd type="none" w="sm" len="sm"/>
                    </a:lnL>
                    <a:lnR w="9525" cap="flat" cmpd="sng">
                      <a:solidFill>
                        <a:srgbClr val="1B786E"/>
                      </a:solidFill>
                      <a:prstDash val="solid"/>
                      <a:round/>
                      <a:headEnd type="none" w="sm" len="sm"/>
                      <a:tailEnd type="none" w="sm" len="sm"/>
                    </a:lnR>
                    <a:lnT w="9525" cap="flat" cmpd="sng">
                      <a:solidFill>
                        <a:srgbClr val="1B786E"/>
                      </a:solidFill>
                      <a:prstDash val="solid"/>
                      <a:round/>
                      <a:headEnd type="none" w="sm" len="sm"/>
                      <a:tailEnd type="none" w="sm" len="sm"/>
                    </a:lnT>
                    <a:lnB w="9525" cap="flat" cmpd="sng">
                      <a:solidFill>
                        <a:srgbClr val="1B786E"/>
                      </a:solidFill>
                      <a:prstDash val="solid"/>
                      <a:round/>
                      <a:headEnd type="none" w="sm" len="sm"/>
                      <a:tailEnd type="none" w="sm" len="sm"/>
                    </a:lnB>
                  </a:tcPr>
                </a:tc>
                <a:tc>
                  <a:txBody>
                    <a:bodyPr/>
                    <a:lstStyle/>
                    <a:p>
                      <a:pPr marL="0" lvl="0" indent="0" algn="ctr" rtl="0">
                        <a:spcBef>
                          <a:spcPts val="0"/>
                        </a:spcBef>
                        <a:spcAft>
                          <a:spcPts val="0"/>
                        </a:spcAft>
                        <a:buNone/>
                      </a:pPr>
                      <a:r>
                        <a:rPr lang="es">
                          <a:highlight>
                            <a:srgbClr val="3C78D8"/>
                          </a:highlight>
                        </a:rPr>
                        <a:t>scs</a:t>
                      </a:r>
                      <a:endParaRPr>
                        <a:highlight>
                          <a:srgbClr val="3C78D8"/>
                        </a:highlight>
                      </a:endParaRPr>
                    </a:p>
                  </a:txBody>
                  <a:tcPr marL="91425" marR="91425" marT="91425" marB="91425" anchor="ctr">
                    <a:lnL w="9525" cap="flat" cmpd="sng">
                      <a:solidFill>
                        <a:srgbClr val="1B786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1185575">
                <a:tc>
                  <a:txBody>
                    <a:bodyPr/>
                    <a:lstStyle/>
                    <a:p>
                      <a:pPr marL="0" lvl="0" indent="0" algn="ctr" rtl="0">
                        <a:spcBef>
                          <a:spcPts val="0"/>
                        </a:spcBef>
                        <a:spcAft>
                          <a:spcPts val="0"/>
                        </a:spcAft>
                        <a:buNone/>
                      </a:pPr>
                      <a:r>
                        <a:rPr lang="es">
                          <a:highlight>
                            <a:srgbClr val="38761D"/>
                          </a:highlight>
                        </a:rPr>
                        <a:t>csc</a:t>
                      </a:r>
                      <a:endParaRPr>
                        <a:highlight>
                          <a:srgbClr val="38761D"/>
                        </a:highlight>
                      </a:endParaRPr>
                    </a:p>
                  </a:txBody>
                  <a:tcPr marL="91425" marR="91425" marT="91425" marB="91425" anchor="ctr">
                    <a:lnL w="9525" cap="flat" cmpd="sng">
                      <a:solidFill>
                        <a:srgbClr val="1B786E"/>
                      </a:solidFill>
                      <a:prstDash val="solid"/>
                      <a:round/>
                      <a:headEnd type="none" w="sm" len="sm"/>
                      <a:tailEnd type="none" w="sm" len="sm"/>
                    </a:lnL>
                    <a:lnR w="9525" cap="flat" cmpd="sng">
                      <a:solidFill>
                        <a:srgbClr val="1B786E"/>
                      </a:solidFill>
                      <a:prstDash val="solid"/>
                      <a:round/>
                      <a:headEnd type="none" w="sm" len="sm"/>
                      <a:tailEnd type="none" w="sm" len="sm"/>
                    </a:lnR>
                    <a:lnT w="9525" cap="flat" cmpd="sng">
                      <a:solidFill>
                        <a:srgbClr val="1B786E"/>
                      </a:solidFill>
                      <a:prstDash val="solid"/>
                      <a:round/>
                      <a:headEnd type="none" w="sm" len="sm"/>
                      <a:tailEnd type="none" w="sm" len="sm"/>
                    </a:lnT>
                    <a:lnB w="9525" cap="flat" cmpd="sng">
                      <a:solidFill>
                        <a:srgbClr val="1B786E"/>
                      </a:solidFill>
                      <a:prstDash val="solid"/>
                      <a:round/>
                      <a:headEnd type="none" w="sm" len="sm"/>
                      <a:tailEnd type="none" w="sm" len="sm"/>
                    </a:lnB>
                  </a:tcPr>
                </a:tc>
                <a:tc>
                  <a:txBody>
                    <a:bodyPr/>
                    <a:lstStyle/>
                    <a:p>
                      <a:pPr marL="0" lvl="0" indent="0" algn="ctr" rtl="0">
                        <a:spcBef>
                          <a:spcPts val="0"/>
                        </a:spcBef>
                        <a:spcAft>
                          <a:spcPts val="0"/>
                        </a:spcAft>
                        <a:buNone/>
                      </a:pPr>
                      <a:r>
                        <a:rPr lang="es">
                          <a:highlight>
                            <a:srgbClr val="38761D"/>
                          </a:highlight>
                        </a:rPr>
                        <a:t>css</a:t>
                      </a:r>
                      <a:endParaRPr>
                        <a:highlight>
                          <a:srgbClr val="38761D"/>
                        </a:highlight>
                      </a:endParaRPr>
                    </a:p>
                  </a:txBody>
                  <a:tcPr marL="91425" marR="91425" marT="91425" marB="91425" anchor="ctr">
                    <a:lnL w="9525" cap="flat" cmpd="sng">
                      <a:solidFill>
                        <a:srgbClr val="1B786E"/>
                      </a:solidFill>
                      <a:prstDash val="solid"/>
                      <a:round/>
                      <a:headEnd type="none" w="sm" len="sm"/>
                      <a:tailEnd type="none" w="sm" len="sm"/>
                    </a:lnL>
                    <a:lnR w="9525" cap="flat" cmpd="sng">
                      <a:solidFill>
                        <a:srgbClr val="1B786E"/>
                      </a:solidFill>
                      <a:prstDash val="solid"/>
                      <a:round/>
                      <a:headEnd type="none" w="sm" len="sm"/>
                      <a:tailEnd type="none" w="sm" len="sm"/>
                    </a:lnR>
                    <a:lnT w="9525" cap="flat" cmpd="sng">
                      <a:solidFill>
                        <a:srgbClr val="9E9E9E"/>
                      </a:solidFill>
                      <a:prstDash val="solid"/>
                      <a:round/>
                      <a:headEnd type="none" w="sm" len="sm"/>
                      <a:tailEnd type="none" w="sm" len="sm"/>
                    </a:lnT>
                  </a:tcPr>
                </a:tc>
                <a:tc>
                  <a:txBody>
                    <a:bodyPr/>
                    <a:lstStyle/>
                    <a:p>
                      <a:pPr marL="0" lvl="0" indent="0" algn="ctr" rtl="0">
                        <a:spcBef>
                          <a:spcPts val="0"/>
                        </a:spcBef>
                        <a:spcAft>
                          <a:spcPts val="0"/>
                        </a:spcAft>
                        <a:buNone/>
                      </a:pPr>
                      <a:r>
                        <a:rPr lang="es">
                          <a:highlight>
                            <a:srgbClr val="1155CC"/>
                          </a:highlight>
                        </a:rPr>
                        <a:t>ssc</a:t>
                      </a:r>
                      <a:endParaRPr>
                        <a:highlight>
                          <a:srgbClr val="1155CC"/>
                        </a:highlight>
                      </a:endParaRPr>
                    </a:p>
                  </a:txBody>
                  <a:tcPr marL="91425" marR="91425" marT="91425" marB="91425" anchor="ctr">
                    <a:lnL w="9525" cap="flat" cmpd="sng">
                      <a:solidFill>
                        <a:srgbClr val="1B786E"/>
                      </a:solidFill>
                      <a:prstDash val="solid"/>
                      <a:round/>
                      <a:headEnd type="none" w="sm" len="sm"/>
                      <a:tailEnd type="none" w="sm" len="sm"/>
                    </a:lnL>
                    <a:lnR w="9525" cap="flat" cmpd="sng">
                      <a:solidFill>
                        <a:srgbClr val="1B786E"/>
                      </a:solidFill>
                      <a:prstDash val="solid"/>
                      <a:round/>
                      <a:headEnd type="none" w="sm" len="sm"/>
                      <a:tailEnd type="none" w="sm" len="sm"/>
                    </a:lnR>
                    <a:lnT w="9525" cap="flat" cmpd="sng">
                      <a:solidFill>
                        <a:srgbClr val="1B786E"/>
                      </a:solidFill>
                      <a:prstDash val="solid"/>
                      <a:round/>
                      <a:headEnd type="none" w="sm" len="sm"/>
                      <a:tailEnd type="none" w="sm" len="sm"/>
                    </a:lnT>
                    <a:lnB w="9525" cap="flat" cmpd="sng">
                      <a:solidFill>
                        <a:srgbClr val="1B786E"/>
                      </a:solidFill>
                      <a:prstDash val="solid"/>
                      <a:round/>
                      <a:headEnd type="none" w="sm" len="sm"/>
                      <a:tailEnd type="none" w="sm" len="sm"/>
                    </a:lnB>
                  </a:tcPr>
                </a:tc>
                <a:tc>
                  <a:txBody>
                    <a:bodyPr/>
                    <a:lstStyle/>
                    <a:p>
                      <a:pPr marL="0" lvl="0" indent="0" algn="ctr" rtl="0">
                        <a:spcBef>
                          <a:spcPts val="0"/>
                        </a:spcBef>
                        <a:spcAft>
                          <a:spcPts val="0"/>
                        </a:spcAft>
                        <a:buNone/>
                      </a:pPr>
                      <a:r>
                        <a:rPr lang="es">
                          <a:highlight>
                            <a:srgbClr val="1155CC"/>
                          </a:highlight>
                        </a:rPr>
                        <a:t>sss</a:t>
                      </a:r>
                      <a:endParaRPr>
                        <a:highlight>
                          <a:srgbClr val="1155CC"/>
                        </a:highlight>
                      </a:endParaRPr>
                    </a:p>
                  </a:txBody>
                  <a:tcPr marL="91425" marR="91425" marT="91425" marB="91425" anchor="ctr">
                    <a:lnL w="9525" cap="flat" cmpd="sng">
                      <a:solidFill>
                        <a:srgbClr val="1B786E"/>
                      </a:solidFill>
                      <a:prstDash val="solid"/>
                      <a:round/>
                      <a:headEnd type="none" w="sm" len="sm"/>
                      <a:tailEnd type="none" w="sm" len="sm"/>
                    </a:lnL>
                    <a:lnT w="9525" cap="flat" cmpd="sng">
                      <a:solidFill>
                        <a:srgbClr val="9E9E9E"/>
                      </a:solidFill>
                      <a:prstDash val="solid"/>
                      <a:round/>
                      <a:headEnd type="none" w="sm" len="sm"/>
                      <a:tailEnd type="none" w="sm" len="sm"/>
                    </a:lnT>
                  </a:tcPr>
                </a:tc>
                <a:extLst>
                  <a:ext uri="{0D108BD9-81ED-4DB2-BD59-A6C34878D82A}">
                    <a16:rowId xmlns:a16="http://schemas.microsoft.com/office/drawing/2014/main" val="10001"/>
                  </a:ext>
                </a:extLst>
              </a:tr>
            </a:tbl>
          </a:graphicData>
        </a:graphic>
      </p:graphicFrame>
      <p:sp>
        <p:nvSpPr>
          <p:cNvPr id="198" name="Google Shape;198;p31"/>
          <p:cNvSpPr txBox="1"/>
          <p:nvPr/>
        </p:nvSpPr>
        <p:spPr>
          <a:xfrm>
            <a:off x="1263389" y="1584916"/>
            <a:ext cx="3541500" cy="5541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1600"/>
              </a:spcAft>
              <a:buNone/>
            </a:pPr>
            <a:r>
              <a:rPr lang="es" sz="2400" dirty="0">
                <a:solidFill>
                  <a:srgbClr val="000000"/>
                </a:solidFill>
                <a:latin typeface="Open Sans"/>
                <a:ea typeface="Open Sans"/>
                <a:cs typeface="Open Sans"/>
                <a:sym typeface="Open Sans"/>
              </a:rPr>
              <a:t>Ω</a:t>
            </a:r>
            <a:r>
              <a:rPr lang="es" dirty="0">
                <a:solidFill>
                  <a:schemeClr val="dk1"/>
                </a:solidFill>
                <a:latin typeface="Open Sans"/>
                <a:ea typeface="Open Sans"/>
                <a:cs typeface="Open Sans"/>
                <a:sym typeface="Open Sans"/>
              </a:rPr>
              <a:t>={ccc,ccs,csc,css,scc,scs,ssc,sss}</a:t>
            </a:r>
            <a:endParaRPr sz="1200" dirty="0"/>
          </a:p>
        </p:txBody>
      </p:sp>
      <p:sp>
        <p:nvSpPr>
          <p:cNvPr id="199" name="Google Shape;199;p31"/>
          <p:cNvSpPr/>
          <p:nvPr/>
        </p:nvSpPr>
        <p:spPr>
          <a:xfrm>
            <a:off x="3557075" y="2427275"/>
            <a:ext cx="2743131" cy="614253"/>
          </a:xfrm>
          <a:custGeom>
            <a:avLst/>
            <a:gdLst/>
            <a:ahLst/>
            <a:cxnLst/>
            <a:rect l="l" t="t" r="r" b="b"/>
            <a:pathLst>
              <a:path w="102108" h="21844" extrusionOk="0">
                <a:moveTo>
                  <a:pt x="0" y="21844"/>
                </a:moveTo>
                <a:cubicBezTo>
                  <a:pt x="9313" y="18203"/>
                  <a:pt x="38862" y="0"/>
                  <a:pt x="55880" y="0"/>
                </a:cubicBezTo>
                <a:cubicBezTo>
                  <a:pt x="72898" y="0"/>
                  <a:pt x="94403" y="18203"/>
                  <a:pt x="102108" y="21844"/>
                </a:cubicBezTo>
              </a:path>
            </a:pathLst>
          </a:custGeom>
          <a:noFill/>
          <a:ln w="9525" cap="flat" cmpd="sng">
            <a:solidFill>
              <a:srgbClr val="5D4037"/>
            </a:solidFill>
            <a:prstDash val="solid"/>
            <a:round/>
            <a:headEnd type="none" w="med" len="med"/>
            <a:tailEnd type="none" w="med" len="med"/>
          </a:ln>
        </p:spPr>
        <p:txBody>
          <a:bodyPr/>
          <a:lstStyle/>
          <a:p>
            <a:endParaRPr lang="es-CO"/>
          </a:p>
        </p:txBody>
      </p:sp>
      <p:cxnSp>
        <p:nvCxnSpPr>
          <p:cNvPr id="200" name="Google Shape;200;p31"/>
          <p:cNvCxnSpPr/>
          <p:nvPr/>
        </p:nvCxnSpPr>
        <p:spPr>
          <a:xfrm>
            <a:off x="6193450" y="2986125"/>
            <a:ext cx="368400" cy="216000"/>
          </a:xfrm>
          <a:prstGeom prst="straightConnector1">
            <a:avLst/>
          </a:prstGeom>
          <a:noFill/>
          <a:ln w="9525" cap="flat" cmpd="sng">
            <a:solidFill>
              <a:srgbClr val="5D4037"/>
            </a:solidFill>
            <a:prstDash val="solid"/>
            <a:round/>
            <a:headEnd type="none" w="med" len="med"/>
            <a:tailEnd type="triangle" w="med" len="med"/>
          </a:ln>
        </p:spPr>
      </p:cxnSp>
      <p:sp>
        <p:nvSpPr>
          <p:cNvPr id="201" name="Google Shape;201;p31"/>
          <p:cNvSpPr txBox="1"/>
          <p:nvPr/>
        </p:nvSpPr>
        <p:spPr>
          <a:xfrm>
            <a:off x="4270771" y="2046325"/>
            <a:ext cx="1922700" cy="461700"/>
          </a:xfrm>
          <a:prstGeom prst="rect">
            <a:avLst/>
          </a:prstGeom>
          <a:noFill/>
          <a:ln>
            <a:noFill/>
          </a:ln>
        </p:spPr>
        <p:txBody>
          <a:bodyPr spcFirstLastPara="1" wrap="square" lIns="91425" tIns="91425" rIns="91425" bIns="91425" anchor="t" anchorCtr="0">
            <a:spAutoFit/>
          </a:bodyPr>
          <a:lstStyle/>
          <a:p>
            <a:pPr marL="0" lvl="0" indent="0" algn="ctr" rtl="0">
              <a:lnSpc>
                <a:spcPct val="150000"/>
              </a:lnSpc>
              <a:spcBef>
                <a:spcPts val="0"/>
              </a:spcBef>
              <a:spcAft>
                <a:spcPts val="0"/>
              </a:spcAft>
              <a:buNone/>
            </a:pPr>
            <a:r>
              <a:rPr lang="es" sz="1800">
                <a:solidFill>
                  <a:srgbClr val="000000"/>
                </a:solidFill>
                <a:latin typeface="Open Sans"/>
                <a:ea typeface="Open Sans"/>
                <a:cs typeface="Open Sans"/>
                <a:sym typeface="Open Sans"/>
              </a:rPr>
              <a:t>X</a:t>
            </a:r>
            <a:endParaRPr/>
          </a:p>
        </p:txBody>
      </p:sp>
      <p:sp>
        <p:nvSpPr>
          <p:cNvPr id="202" name="Google Shape;202;p31"/>
          <p:cNvSpPr/>
          <p:nvPr/>
        </p:nvSpPr>
        <p:spPr>
          <a:xfrm rot="-984998">
            <a:off x="3210409" y="2513489"/>
            <a:ext cx="2528132" cy="1024234"/>
          </a:xfrm>
          <a:custGeom>
            <a:avLst/>
            <a:gdLst/>
            <a:ahLst/>
            <a:cxnLst/>
            <a:rect l="l" t="t" r="r" b="b"/>
            <a:pathLst>
              <a:path w="102108" h="21844" extrusionOk="0">
                <a:moveTo>
                  <a:pt x="0" y="21844"/>
                </a:moveTo>
                <a:cubicBezTo>
                  <a:pt x="9313" y="18203"/>
                  <a:pt x="38862" y="0"/>
                  <a:pt x="55880" y="0"/>
                </a:cubicBezTo>
                <a:cubicBezTo>
                  <a:pt x="72898" y="0"/>
                  <a:pt x="94403" y="18203"/>
                  <a:pt x="102108" y="21844"/>
                </a:cubicBezTo>
              </a:path>
            </a:pathLst>
          </a:custGeom>
          <a:noFill/>
          <a:ln w="9525" cap="flat" cmpd="sng">
            <a:solidFill>
              <a:srgbClr val="5D4037"/>
            </a:solidFill>
            <a:prstDash val="solid"/>
            <a:round/>
            <a:headEnd type="none" w="med" len="med"/>
            <a:tailEnd type="none" w="med" len="med"/>
          </a:ln>
        </p:spPr>
        <p:txBody>
          <a:bodyPr/>
          <a:lstStyle/>
          <a:p>
            <a:endParaRPr lang="es-CO"/>
          </a:p>
        </p:txBody>
      </p:sp>
      <p:cxnSp>
        <p:nvCxnSpPr>
          <p:cNvPr id="203" name="Google Shape;203;p31"/>
          <p:cNvCxnSpPr/>
          <p:nvPr/>
        </p:nvCxnSpPr>
        <p:spPr>
          <a:xfrm>
            <a:off x="5463325" y="2917600"/>
            <a:ext cx="368400" cy="216000"/>
          </a:xfrm>
          <a:prstGeom prst="straightConnector1">
            <a:avLst/>
          </a:prstGeom>
          <a:noFill/>
          <a:ln w="9525" cap="flat" cmpd="sng">
            <a:solidFill>
              <a:srgbClr val="5D4037"/>
            </a:solidFill>
            <a:prstDash val="solid"/>
            <a:round/>
            <a:headEnd type="none" w="med" len="med"/>
            <a:tailEnd type="triangle" w="med" len="med"/>
          </a:ln>
        </p:spPr>
      </p:cxnSp>
      <p:sp>
        <p:nvSpPr>
          <p:cNvPr id="204" name="Google Shape;204;p31"/>
          <p:cNvSpPr txBox="1"/>
          <p:nvPr/>
        </p:nvSpPr>
        <p:spPr>
          <a:xfrm>
            <a:off x="4285125" y="3860325"/>
            <a:ext cx="3000000" cy="861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2200">
                <a:solidFill>
                  <a:schemeClr val="dk1"/>
                </a:solidFill>
                <a:latin typeface="Open Sans"/>
                <a:ea typeface="Open Sans"/>
                <a:cs typeface="Open Sans"/>
                <a:sym typeface="Open Sans"/>
              </a:rPr>
              <a:t>P(X=0)=⅛,  </a:t>
            </a:r>
            <a:endParaRPr sz="2200">
              <a:solidFill>
                <a:schemeClr val="dk1"/>
              </a:solidFill>
              <a:latin typeface="Open Sans"/>
              <a:ea typeface="Open Sans"/>
              <a:cs typeface="Open Sans"/>
              <a:sym typeface="Open Sans"/>
            </a:endParaRPr>
          </a:p>
          <a:p>
            <a:pPr marL="0" lvl="0" indent="0" algn="l" rtl="0">
              <a:spcBef>
                <a:spcPts val="0"/>
              </a:spcBef>
              <a:spcAft>
                <a:spcPts val="0"/>
              </a:spcAft>
              <a:buNone/>
            </a:pPr>
            <a:r>
              <a:rPr lang="es" sz="2200">
                <a:solidFill>
                  <a:schemeClr val="dk1"/>
                </a:solidFill>
                <a:latin typeface="Open Sans"/>
                <a:ea typeface="Open Sans"/>
                <a:cs typeface="Open Sans"/>
                <a:sym typeface="Open Sans"/>
              </a:rPr>
              <a:t>P(X=1)=⅜...</a:t>
            </a:r>
            <a:endParaRPr/>
          </a:p>
        </p:txBody>
      </p:sp>
      <p:sp>
        <p:nvSpPr>
          <p:cNvPr id="3" name="CuadroTexto 2">
            <a:extLst>
              <a:ext uri="{FF2B5EF4-FFF2-40B4-BE49-F238E27FC236}">
                <a16:creationId xmlns:a16="http://schemas.microsoft.com/office/drawing/2014/main" id="{21ACDAB3-FDEF-495D-AA33-6F54528AF7BB}"/>
              </a:ext>
            </a:extLst>
          </p:cNvPr>
          <p:cNvSpPr txBox="1"/>
          <p:nvPr/>
        </p:nvSpPr>
        <p:spPr>
          <a:xfrm>
            <a:off x="6603320" y="24500"/>
            <a:ext cx="2411500" cy="2893100"/>
          </a:xfrm>
          <a:prstGeom prst="rect">
            <a:avLst/>
          </a:prstGeom>
          <a:noFill/>
        </p:spPr>
        <p:txBody>
          <a:bodyPr wrap="square">
            <a:spAutoFit/>
          </a:bodyPr>
          <a:lstStyle/>
          <a:p>
            <a:r>
              <a:rPr lang="es-MX" b="1" i="1" dirty="0">
                <a:effectLst/>
                <a:latin typeface="system-ui"/>
              </a:rPr>
              <a:t>Variable aleatoria, :</a:t>
            </a:r>
            <a:r>
              <a:rPr lang="es-MX" b="0" i="0" dirty="0">
                <a:effectLst/>
                <a:latin typeface="system-ui"/>
              </a:rPr>
              <a:t> Una variable aleatoria es una función que asigna valores numéricos a los resultados posibles de un experimento aleatorio. Es una representación matemática de los resultados de un evento incierto. Toma valores de un espacio muestral; las probabilidades describen cuáles valores y conjunto de valores son más probables.</a:t>
            </a:r>
            <a:endParaRPr lang="es-CO"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32"/>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s"/>
              <a:t>Variable Aleatoria </a:t>
            </a:r>
            <a:r>
              <a:rPr lang="es" sz="3800"/>
              <a:t>(repetición del experimento)</a:t>
            </a:r>
            <a:endParaRPr sz="3800" b="1">
              <a:latin typeface="Open Sans"/>
              <a:ea typeface="Open Sans"/>
              <a:cs typeface="Open Sans"/>
              <a:sym typeface="Open Sans"/>
            </a:endParaRPr>
          </a:p>
        </p:txBody>
      </p:sp>
      <p:sp>
        <p:nvSpPr>
          <p:cNvPr id="210" name="Google Shape;210;p32"/>
          <p:cNvSpPr txBox="1">
            <a:spLocks noGrp="1"/>
          </p:cNvSpPr>
          <p:nvPr>
            <p:ph type="body" idx="1"/>
          </p:nvPr>
        </p:nvSpPr>
        <p:spPr>
          <a:xfrm>
            <a:off x="118550" y="1223425"/>
            <a:ext cx="8817600" cy="822900"/>
          </a:xfrm>
          <a:prstGeom prst="rect">
            <a:avLst/>
          </a:prstGeom>
        </p:spPr>
        <p:txBody>
          <a:bodyPr spcFirstLastPara="1" wrap="square" lIns="91425" tIns="91425" rIns="91425" bIns="91425" anchor="t" anchorCtr="0">
            <a:noAutofit/>
          </a:bodyPr>
          <a:lstStyle/>
          <a:p>
            <a:pPr marL="0" lvl="0" indent="0" algn="l" rtl="0">
              <a:spcBef>
                <a:spcPts val="0"/>
              </a:spcBef>
              <a:spcAft>
                <a:spcPts val="1400"/>
              </a:spcAft>
              <a:buNone/>
            </a:pPr>
            <a:r>
              <a:rPr lang="es" sz="2200"/>
              <a:t>X= cantidad de caras en 3 tiradas de moneda. </a:t>
            </a:r>
            <a:endParaRPr sz="2200"/>
          </a:p>
        </p:txBody>
      </p:sp>
      <p:pic>
        <p:nvPicPr>
          <p:cNvPr id="211" name="Google Shape;211;p32"/>
          <p:cNvPicPr preferRelativeResize="0"/>
          <p:nvPr/>
        </p:nvPicPr>
        <p:blipFill>
          <a:blip r:embed="rId3">
            <a:alphaModFix/>
          </a:blip>
          <a:stretch>
            <a:fillRect/>
          </a:stretch>
        </p:blipFill>
        <p:spPr>
          <a:xfrm>
            <a:off x="457200" y="1756450"/>
            <a:ext cx="7764638" cy="1844056"/>
          </a:xfrm>
          <a:prstGeom prst="rect">
            <a:avLst/>
          </a:prstGeom>
          <a:noFill/>
          <a:ln>
            <a:noFill/>
          </a:ln>
        </p:spPr>
      </p:pic>
      <p:pic>
        <p:nvPicPr>
          <p:cNvPr id="212" name="Google Shape;212;p32"/>
          <p:cNvPicPr preferRelativeResize="0"/>
          <p:nvPr/>
        </p:nvPicPr>
        <p:blipFill>
          <a:blip r:embed="rId4">
            <a:alphaModFix/>
          </a:blip>
          <a:stretch>
            <a:fillRect/>
          </a:stretch>
        </p:blipFill>
        <p:spPr>
          <a:xfrm>
            <a:off x="492583" y="4167845"/>
            <a:ext cx="7729266" cy="822881"/>
          </a:xfrm>
          <a:prstGeom prst="rect">
            <a:avLst/>
          </a:prstGeom>
          <a:noFill/>
          <a:ln>
            <a:noFill/>
          </a:ln>
        </p:spPr>
      </p:pic>
      <p:sp>
        <p:nvSpPr>
          <p:cNvPr id="213" name="Google Shape;213;p32"/>
          <p:cNvSpPr txBox="1">
            <a:spLocks noGrp="1"/>
          </p:cNvSpPr>
          <p:nvPr>
            <p:ph type="body" idx="1"/>
          </p:nvPr>
        </p:nvSpPr>
        <p:spPr>
          <a:xfrm>
            <a:off x="65925" y="3585625"/>
            <a:ext cx="9011100" cy="822900"/>
          </a:xfrm>
          <a:prstGeom prst="rect">
            <a:avLst/>
          </a:prstGeom>
        </p:spPr>
        <p:txBody>
          <a:bodyPr spcFirstLastPara="1" wrap="square" lIns="91425" tIns="91425" rIns="91425" bIns="91425" anchor="t" anchorCtr="0">
            <a:noAutofit/>
          </a:bodyPr>
          <a:lstStyle/>
          <a:p>
            <a:pPr marL="0" lvl="0" indent="0" algn="l" rtl="0">
              <a:spcBef>
                <a:spcPts val="0"/>
              </a:spcBef>
              <a:spcAft>
                <a:spcPts val="1400"/>
              </a:spcAft>
              <a:buNone/>
            </a:pPr>
            <a:r>
              <a:rPr lang="es" sz="2200">
                <a:solidFill>
                  <a:srgbClr val="660000"/>
                </a:solidFill>
              </a:rPr>
              <a:t>Proporción</a:t>
            </a:r>
            <a:r>
              <a:rPr lang="es" sz="2200"/>
              <a:t> de resultados tal que X=k :</a:t>
            </a:r>
            <a:endParaRPr sz="22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33"/>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s"/>
              <a:t>Variable Aleatoria </a:t>
            </a:r>
            <a:r>
              <a:rPr lang="es" sz="3800"/>
              <a:t>(repetición del experimento)</a:t>
            </a:r>
            <a:endParaRPr sz="3000" b="1">
              <a:latin typeface="Open Sans"/>
              <a:ea typeface="Open Sans"/>
              <a:cs typeface="Open Sans"/>
              <a:sym typeface="Open Sans"/>
            </a:endParaRPr>
          </a:p>
        </p:txBody>
      </p:sp>
      <p:pic>
        <p:nvPicPr>
          <p:cNvPr id="219" name="Google Shape;219;p33"/>
          <p:cNvPicPr preferRelativeResize="0"/>
          <p:nvPr/>
        </p:nvPicPr>
        <p:blipFill>
          <a:blip r:embed="rId3">
            <a:alphaModFix/>
          </a:blip>
          <a:stretch>
            <a:fillRect/>
          </a:stretch>
        </p:blipFill>
        <p:spPr>
          <a:xfrm>
            <a:off x="492583" y="1424645"/>
            <a:ext cx="7729266" cy="822881"/>
          </a:xfrm>
          <a:prstGeom prst="rect">
            <a:avLst/>
          </a:prstGeom>
          <a:noFill/>
          <a:ln>
            <a:noFill/>
          </a:ln>
        </p:spPr>
      </p:pic>
      <p:sp>
        <p:nvSpPr>
          <p:cNvPr id="220" name="Google Shape;220;p33"/>
          <p:cNvSpPr txBox="1">
            <a:spLocks noGrp="1"/>
          </p:cNvSpPr>
          <p:nvPr>
            <p:ph type="body" idx="1"/>
          </p:nvPr>
        </p:nvSpPr>
        <p:spPr>
          <a:xfrm>
            <a:off x="261600" y="2704725"/>
            <a:ext cx="4506000" cy="822900"/>
          </a:xfrm>
          <a:prstGeom prst="rect">
            <a:avLst/>
          </a:prstGeom>
        </p:spPr>
        <p:txBody>
          <a:bodyPr spcFirstLastPara="1" wrap="square" lIns="91425" tIns="91425" rIns="91425" bIns="91425" anchor="t" anchorCtr="0">
            <a:noAutofit/>
          </a:bodyPr>
          <a:lstStyle/>
          <a:p>
            <a:pPr marL="0" lvl="0" indent="0" algn="l" rtl="0">
              <a:spcBef>
                <a:spcPts val="0"/>
              </a:spcBef>
              <a:spcAft>
                <a:spcPts val="1400"/>
              </a:spcAft>
              <a:buNone/>
            </a:pPr>
            <a:r>
              <a:rPr lang="es" sz="2200"/>
              <a:t> la Proporción de la muestra tal que X=k, estima la probabilidad P(X=k), p/ k=0,1,2,3 </a:t>
            </a:r>
            <a:endParaRPr sz="2200">
              <a:highlight>
                <a:srgbClr val="FF9900"/>
              </a:highlight>
            </a:endParaRPr>
          </a:p>
        </p:txBody>
      </p:sp>
      <p:pic>
        <p:nvPicPr>
          <p:cNvPr id="221" name="Google Shape;221;p33"/>
          <p:cNvPicPr preferRelativeResize="0"/>
          <p:nvPr/>
        </p:nvPicPr>
        <p:blipFill>
          <a:blip r:embed="rId4">
            <a:alphaModFix/>
          </a:blip>
          <a:stretch>
            <a:fillRect/>
          </a:stretch>
        </p:blipFill>
        <p:spPr>
          <a:xfrm>
            <a:off x="4568775" y="2474000"/>
            <a:ext cx="4122450" cy="26501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0"/>
                                        </p:tgtEl>
                                        <p:attrNameLst>
                                          <p:attrName>style.visibility</p:attrName>
                                        </p:attrNameLst>
                                      </p:cBhvr>
                                      <p:to>
                                        <p:strVal val="visible"/>
                                      </p:to>
                                    </p:set>
                                    <p:animEffect transition="in" filter="fade">
                                      <p:cBhvr>
                                        <p:cTn id="7" dur="1000"/>
                                        <p:tgtEl>
                                          <p:spTgt spid="2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pic>
        <p:nvPicPr>
          <p:cNvPr id="226" name="Google Shape;226;p34"/>
          <p:cNvPicPr preferRelativeResize="0"/>
          <p:nvPr/>
        </p:nvPicPr>
        <p:blipFill>
          <a:blip r:embed="rId3">
            <a:alphaModFix/>
          </a:blip>
          <a:stretch>
            <a:fillRect/>
          </a:stretch>
        </p:blipFill>
        <p:spPr>
          <a:xfrm>
            <a:off x="5791200" y="2088450"/>
            <a:ext cx="3514601" cy="2635950"/>
          </a:xfrm>
          <a:prstGeom prst="rect">
            <a:avLst/>
          </a:prstGeom>
          <a:noFill/>
          <a:ln>
            <a:noFill/>
          </a:ln>
        </p:spPr>
      </p:pic>
      <p:sp>
        <p:nvSpPr>
          <p:cNvPr id="227" name="Google Shape;227;p34"/>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s"/>
              <a:t>Variable Aleatoria (modelo matemático)</a:t>
            </a:r>
            <a:endParaRPr sz="3000" b="1">
              <a:latin typeface="Open Sans"/>
              <a:ea typeface="Open Sans"/>
              <a:cs typeface="Open Sans"/>
              <a:sym typeface="Open Sans"/>
            </a:endParaRPr>
          </a:p>
        </p:txBody>
      </p:sp>
      <p:sp>
        <p:nvSpPr>
          <p:cNvPr id="228" name="Google Shape;228;p34"/>
          <p:cNvSpPr txBox="1">
            <a:spLocks noGrp="1"/>
          </p:cNvSpPr>
          <p:nvPr>
            <p:ph type="body" idx="1"/>
          </p:nvPr>
        </p:nvSpPr>
        <p:spPr>
          <a:xfrm>
            <a:off x="118550" y="1299625"/>
            <a:ext cx="8817600" cy="822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sz="2100"/>
              <a:t>X= cantidad de caras en 3 tiradas de moneda. p(k)=P(X=k)? </a:t>
            </a:r>
            <a:endParaRPr sz="2100">
              <a:highlight>
                <a:srgbClr val="FF9900"/>
              </a:highlight>
            </a:endParaRPr>
          </a:p>
          <a:p>
            <a:pPr marL="0" lvl="0" indent="0" algn="l" rtl="0">
              <a:spcBef>
                <a:spcPts val="1400"/>
              </a:spcBef>
              <a:spcAft>
                <a:spcPts val="1400"/>
              </a:spcAft>
              <a:buNone/>
            </a:pPr>
            <a:endParaRPr sz="2100">
              <a:highlight>
                <a:srgbClr val="FF9900"/>
              </a:highlight>
            </a:endParaRPr>
          </a:p>
        </p:txBody>
      </p:sp>
      <p:sp>
        <p:nvSpPr>
          <p:cNvPr id="229" name="Google Shape;229;p34"/>
          <p:cNvSpPr txBox="1"/>
          <p:nvPr/>
        </p:nvSpPr>
        <p:spPr>
          <a:xfrm>
            <a:off x="440650" y="1887525"/>
            <a:ext cx="7893600" cy="273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2200">
                <a:latin typeface="Open Sans"/>
                <a:ea typeface="Open Sans"/>
                <a:cs typeface="Open Sans"/>
                <a:sym typeface="Open Sans"/>
              </a:rPr>
              <a:t>Ω={ccc,ccs,csc,css,scc,scs,ssc,sss},    #</a:t>
            </a:r>
            <a:r>
              <a:rPr lang="es" sz="2200">
                <a:solidFill>
                  <a:schemeClr val="dk1"/>
                </a:solidFill>
                <a:latin typeface="Open Sans"/>
                <a:ea typeface="Open Sans"/>
                <a:cs typeface="Open Sans"/>
                <a:sym typeface="Open Sans"/>
              </a:rPr>
              <a:t>Ω=8=2</a:t>
            </a:r>
            <a:r>
              <a:rPr lang="es" sz="2200" baseline="30000">
                <a:solidFill>
                  <a:schemeClr val="dk1"/>
                </a:solidFill>
                <a:latin typeface="Open Sans"/>
                <a:ea typeface="Open Sans"/>
                <a:cs typeface="Open Sans"/>
                <a:sym typeface="Open Sans"/>
              </a:rPr>
              <a:t>3</a:t>
            </a:r>
            <a:endParaRPr sz="2200" baseline="30000">
              <a:solidFill>
                <a:schemeClr val="dk1"/>
              </a:solidFill>
              <a:latin typeface="Open Sans"/>
              <a:ea typeface="Open Sans"/>
              <a:cs typeface="Open Sans"/>
              <a:sym typeface="Open Sans"/>
            </a:endParaRPr>
          </a:p>
          <a:p>
            <a:pPr marL="0" lvl="0" indent="0" algn="l" rtl="0">
              <a:spcBef>
                <a:spcPts val="0"/>
              </a:spcBef>
              <a:spcAft>
                <a:spcPts val="0"/>
              </a:spcAft>
              <a:buNone/>
            </a:pPr>
            <a:endParaRPr sz="2200" baseline="30000">
              <a:solidFill>
                <a:schemeClr val="dk1"/>
              </a:solidFill>
              <a:latin typeface="Open Sans"/>
              <a:ea typeface="Open Sans"/>
              <a:cs typeface="Open Sans"/>
              <a:sym typeface="Open Sans"/>
            </a:endParaRPr>
          </a:p>
          <a:p>
            <a:pPr marL="0" lvl="0" indent="0" algn="l" rtl="0">
              <a:spcBef>
                <a:spcPts val="0"/>
              </a:spcBef>
              <a:spcAft>
                <a:spcPts val="0"/>
              </a:spcAft>
              <a:buNone/>
            </a:pPr>
            <a:r>
              <a:rPr lang="es" sz="2200">
                <a:solidFill>
                  <a:schemeClr val="dk1"/>
                </a:solidFill>
                <a:latin typeface="Open Sans"/>
                <a:ea typeface="Open Sans"/>
                <a:cs typeface="Open Sans"/>
                <a:sym typeface="Open Sans"/>
              </a:rPr>
              <a:t>p(0)=P(X=0)=1/8 </a:t>
            </a:r>
            <a:endParaRPr sz="2200">
              <a:solidFill>
                <a:schemeClr val="dk1"/>
              </a:solidFill>
              <a:latin typeface="Open Sans"/>
              <a:ea typeface="Open Sans"/>
              <a:cs typeface="Open Sans"/>
              <a:sym typeface="Open Sans"/>
            </a:endParaRPr>
          </a:p>
          <a:p>
            <a:pPr marL="0" lvl="0" indent="0" algn="l" rtl="0">
              <a:spcBef>
                <a:spcPts val="0"/>
              </a:spcBef>
              <a:spcAft>
                <a:spcPts val="0"/>
              </a:spcAft>
              <a:buClr>
                <a:schemeClr val="dk1"/>
              </a:buClr>
              <a:buSzPts val="1100"/>
              <a:buFont typeface="Arial"/>
              <a:buNone/>
            </a:pPr>
            <a:r>
              <a:rPr lang="es" sz="2200">
                <a:solidFill>
                  <a:schemeClr val="dk1"/>
                </a:solidFill>
                <a:latin typeface="Open Sans"/>
                <a:ea typeface="Open Sans"/>
                <a:cs typeface="Open Sans"/>
                <a:sym typeface="Open Sans"/>
              </a:rPr>
              <a:t>p(1)=P(X=1)=3/8</a:t>
            </a:r>
            <a:endParaRPr sz="2200">
              <a:solidFill>
                <a:schemeClr val="dk1"/>
              </a:solidFill>
              <a:latin typeface="Open Sans"/>
              <a:ea typeface="Open Sans"/>
              <a:cs typeface="Open Sans"/>
              <a:sym typeface="Open Sans"/>
            </a:endParaRPr>
          </a:p>
          <a:p>
            <a:pPr marL="0" lvl="0" indent="0" algn="l" rtl="0">
              <a:spcBef>
                <a:spcPts val="0"/>
              </a:spcBef>
              <a:spcAft>
                <a:spcPts val="0"/>
              </a:spcAft>
              <a:buClr>
                <a:schemeClr val="dk1"/>
              </a:buClr>
              <a:buSzPts val="1100"/>
              <a:buFont typeface="Arial"/>
              <a:buNone/>
            </a:pPr>
            <a:r>
              <a:rPr lang="es" sz="2200">
                <a:solidFill>
                  <a:schemeClr val="dk1"/>
                </a:solidFill>
                <a:latin typeface="Open Sans"/>
                <a:ea typeface="Open Sans"/>
                <a:cs typeface="Open Sans"/>
                <a:sym typeface="Open Sans"/>
              </a:rPr>
              <a:t>p(2)=P(X=2)=3/8</a:t>
            </a:r>
            <a:endParaRPr sz="2200">
              <a:solidFill>
                <a:schemeClr val="dk1"/>
              </a:solidFill>
              <a:latin typeface="Open Sans"/>
              <a:ea typeface="Open Sans"/>
              <a:cs typeface="Open Sans"/>
              <a:sym typeface="Open Sans"/>
            </a:endParaRPr>
          </a:p>
          <a:p>
            <a:pPr marL="0" lvl="0" indent="0" algn="l" rtl="0">
              <a:spcBef>
                <a:spcPts val="0"/>
              </a:spcBef>
              <a:spcAft>
                <a:spcPts val="0"/>
              </a:spcAft>
              <a:buClr>
                <a:schemeClr val="dk1"/>
              </a:buClr>
              <a:buSzPts val="1100"/>
              <a:buFont typeface="Arial"/>
              <a:buNone/>
            </a:pPr>
            <a:r>
              <a:rPr lang="es" sz="2200">
                <a:solidFill>
                  <a:schemeClr val="dk1"/>
                </a:solidFill>
                <a:latin typeface="Open Sans"/>
                <a:ea typeface="Open Sans"/>
                <a:cs typeface="Open Sans"/>
                <a:sym typeface="Open Sans"/>
              </a:rPr>
              <a:t>p(3)=P(X=3)=1/8</a:t>
            </a:r>
            <a:endParaRPr sz="2200">
              <a:solidFill>
                <a:schemeClr val="dk1"/>
              </a:solidFill>
              <a:latin typeface="Open Sans"/>
              <a:ea typeface="Open Sans"/>
              <a:cs typeface="Open Sans"/>
              <a:sym typeface="Open Sans"/>
            </a:endParaRPr>
          </a:p>
          <a:p>
            <a:pPr marL="0" lvl="0" indent="0" algn="l" rtl="0">
              <a:spcBef>
                <a:spcPts val="0"/>
              </a:spcBef>
              <a:spcAft>
                <a:spcPts val="0"/>
              </a:spcAft>
              <a:buNone/>
            </a:pPr>
            <a:endParaRPr sz="2200">
              <a:solidFill>
                <a:schemeClr val="dk1"/>
              </a:solidFill>
              <a:latin typeface="Open Sans"/>
              <a:ea typeface="Open Sans"/>
              <a:cs typeface="Open Sans"/>
              <a:sym typeface="Open Sans"/>
            </a:endParaRPr>
          </a:p>
          <a:p>
            <a:pPr marL="0" lvl="0" indent="0" algn="l" rtl="0">
              <a:spcBef>
                <a:spcPts val="0"/>
              </a:spcBef>
              <a:spcAft>
                <a:spcPts val="0"/>
              </a:spcAft>
              <a:buNone/>
            </a:pPr>
            <a:r>
              <a:rPr lang="es" sz="2200">
                <a:solidFill>
                  <a:srgbClr val="D9D9D9"/>
                </a:solidFill>
                <a:latin typeface="Open Sans"/>
                <a:ea typeface="Open Sans"/>
                <a:cs typeface="Open Sans"/>
                <a:sym typeface="Open Sans"/>
              </a:rPr>
              <a:t>Notar que  la suma da 1,  ∑</a:t>
            </a:r>
            <a:r>
              <a:rPr lang="es" sz="2200" baseline="-25000">
                <a:solidFill>
                  <a:srgbClr val="D9D9D9"/>
                </a:solidFill>
                <a:latin typeface="Open Sans"/>
                <a:ea typeface="Open Sans"/>
                <a:cs typeface="Open Sans"/>
                <a:sym typeface="Open Sans"/>
              </a:rPr>
              <a:t>k</a:t>
            </a:r>
            <a:r>
              <a:rPr lang="es" sz="2200">
                <a:solidFill>
                  <a:srgbClr val="D9D9D9"/>
                </a:solidFill>
                <a:latin typeface="Open Sans"/>
                <a:ea typeface="Open Sans"/>
                <a:cs typeface="Open Sans"/>
                <a:sym typeface="Open Sans"/>
              </a:rPr>
              <a:t>p(k)=1=∑</a:t>
            </a:r>
            <a:r>
              <a:rPr lang="es" sz="2200" baseline="-25000">
                <a:solidFill>
                  <a:srgbClr val="D9D9D9"/>
                </a:solidFill>
                <a:latin typeface="Open Sans"/>
                <a:ea typeface="Open Sans"/>
                <a:cs typeface="Open Sans"/>
                <a:sym typeface="Open Sans"/>
              </a:rPr>
              <a:t>k</a:t>
            </a:r>
            <a:r>
              <a:rPr lang="es" sz="2200">
                <a:solidFill>
                  <a:srgbClr val="D9D9D9"/>
                </a:solidFill>
                <a:latin typeface="Open Sans"/>
                <a:ea typeface="Open Sans"/>
                <a:cs typeface="Open Sans"/>
                <a:sym typeface="Open Sans"/>
              </a:rPr>
              <a:t>P(X=k)</a:t>
            </a:r>
            <a:endParaRPr sz="2200">
              <a:solidFill>
                <a:srgbClr val="D9D9D9"/>
              </a:solidFill>
              <a:latin typeface="Open Sans"/>
              <a:ea typeface="Open Sans"/>
              <a:cs typeface="Open Sans"/>
              <a:sym typeface="Open Sa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9"/>
                                        </p:tgtEl>
                                        <p:attrNameLst>
                                          <p:attrName>style.visibility</p:attrName>
                                        </p:attrNameLst>
                                      </p:cBhvr>
                                      <p:to>
                                        <p:strVal val="visible"/>
                                      </p:to>
                                    </p:set>
                                    <p:animEffect transition="in" filter="fade">
                                      <p:cBhvr>
                                        <p:cTn id="7" dur="1000"/>
                                        <p:tgtEl>
                                          <p:spTgt spid="22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6"/>
                                        </p:tgtEl>
                                        <p:attrNameLst>
                                          <p:attrName>style.visibility</p:attrName>
                                        </p:attrNameLst>
                                      </p:cBhvr>
                                      <p:to>
                                        <p:strVal val="visible"/>
                                      </p:to>
                                    </p:set>
                                    <p:animEffect transition="in" filter="fade">
                                      <p:cBhvr>
                                        <p:cTn id="12" dur="1000"/>
                                        <p:tgtEl>
                                          <p:spTgt spid="2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pic>
        <p:nvPicPr>
          <p:cNvPr id="234" name="Google Shape;234;p35"/>
          <p:cNvPicPr preferRelativeResize="0"/>
          <p:nvPr/>
        </p:nvPicPr>
        <p:blipFill>
          <a:blip r:embed="rId3">
            <a:alphaModFix/>
          </a:blip>
          <a:stretch>
            <a:fillRect/>
          </a:stretch>
        </p:blipFill>
        <p:spPr>
          <a:xfrm>
            <a:off x="3991158" y="2033675"/>
            <a:ext cx="5152843" cy="3000000"/>
          </a:xfrm>
          <a:prstGeom prst="rect">
            <a:avLst/>
          </a:prstGeom>
          <a:noFill/>
          <a:ln>
            <a:noFill/>
          </a:ln>
        </p:spPr>
      </p:pic>
      <p:sp>
        <p:nvSpPr>
          <p:cNvPr id="235" name="Google Shape;235;p35"/>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s"/>
              <a:t>Variable binomial </a:t>
            </a:r>
            <a:endParaRPr sz="3000" b="1">
              <a:latin typeface="Open Sans"/>
              <a:ea typeface="Open Sans"/>
              <a:cs typeface="Open Sans"/>
              <a:sym typeface="Open Sans"/>
            </a:endParaRPr>
          </a:p>
        </p:txBody>
      </p:sp>
      <p:sp>
        <p:nvSpPr>
          <p:cNvPr id="236" name="Google Shape;236;p35"/>
          <p:cNvSpPr txBox="1">
            <a:spLocks noGrp="1"/>
          </p:cNvSpPr>
          <p:nvPr>
            <p:ph type="body" idx="1"/>
          </p:nvPr>
        </p:nvSpPr>
        <p:spPr>
          <a:xfrm>
            <a:off x="263575" y="1285150"/>
            <a:ext cx="9265200" cy="2704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sz="2400" dirty="0"/>
              <a:t>Sea X la v. a. discreta modela: cantidad de “éxitos” en una n-upla </a:t>
            </a:r>
            <a:endParaRPr sz="2400" dirty="0"/>
          </a:p>
          <a:p>
            <a:pPr marL="0" lvl="0" indent="0" algn="l" rtl="0">
              <a:spcBef>
                <a:spcPts val="1400"/>
              </a:spcBef>
              <a:spcAft>
                <a:spcPts val="0"/>
              </a:spcAft>
              <a:buNone/>
            </a:pPr>
            <a:r>
              <a:rPr lang="es" sz="2200" dirty="0"/>
              <a:t>P(X=k)= n!/(n-k)! k! p</a:t>
            </a:r>
            <a:r>
              <a:rPr lang="es" sz="2200" baseline="30000" dirty="0"/>
              <a:t>k</a:t>
            </a:r>
            <a:r>
              <a:rPr lang="es" sz="2200" dirty="0"/>
              <a:t> (1-p)</a:t>
            </a:r>
            <a:r>
              <a:rPr lang="es" sz="2200" baseline="30000" dirty="0"/>
              <a:t>(n-k</a:t>
            </a:r>
            <a:r>
              <a:rPr lang="es" sz="2400" baseline="30000" dirty="0"/>
              <a:t>)   </a:t>
            </a:r>
            <a:r>
              <a:rPr lang="es" sz="2400" dirty="0"/>
              <a:t> </a:t>
            </a:r>
            <a:endParaRPr sz="2400" dirty="0"/>
          </a:p>
          <a:p>
            <a:pPr marL="0" lvl="0" indent="0" algn="l" rtl="0">
              <a:spcBef>
                <a:spcPts val="1400"/>
              </a:spcBef>
              <a:spcAft>
                <a:spcPts val="0"/>
              </a:spcAft>
              <a:buNone/>
            </a:pPr>
            <a:r>
              <a:rPr lang="es" sz="1700" dirty="0">
                <a:solidFill>
                  <a:srgbClr val="155B54"/>
                </a:solidFill>
              </a:rPr>
              <a:t>k=0,1,...,n</a:t>
            </a:r>
            <a:endParaRPr sz="2100" dirty="0"/>
          </a:p>
          <a:p>
            <a:pPr marL="0" lvl="0" indent="0" algn="l" rtl="0">
              <a:spcBef>
                <a:spcPts val="1400"/>
              </a:spcBef>
              <a:spcAft>
                <a:spcPts val="0"/>
              </a:spcAft>
              <a:buNone/>
            </a:pPr>
            <a:r>
              <a:rPr lang="es" sz="2000" dirty="0">
                <a:solidFill>
                  <a:srgbClr val="155B54"/>
                </a:solidFill>
              </a:rPr>
              <a:t>p=probabilidad de “éxito”. </a:t>
            </a:r>
            <a:endParaRPr sz="2000" dirty="0">
              <a:solidFill>
                <a:srgbClr val="155B54"/>
              </a:solidFill>
            </a:endParaRPr>
          </a:p>
          <a:p>
            <a:pPr marL="0" lvl="0" indent="0" algn="l" rtl="0">
              <a:spcBef>
                <a:spcPts val="1400"/>
              </a:spcBef>
              <a:spcAft>
                <a:spcPts val="0"/>
              </a:spcAft>
              <a:buNone/>
            </a:pPr>
            <a:endParaRPr sz="2000" dirty="0">
              <a:solidFill>
                <a:srgbClr val="155B54"/>
              </a:solidFill>
            </a:endParaRPr>
          </a:p>
          <a:p>
            <a:pPr marL="0" lvl="0" indent="0" algn="l" rtl="0">
              <a:spcBef>
                <a:spcPts val="1400"/>
              </a:spcBef>
              <a:spcAft>
                <a:spcPts val="0"/>
              </a:spcAft>
              <a:buClr>
                <a:schemeClr val="dk1"/>
              </a:buClr>
              <a:buSzPts val="1100"/>
              <a:buFont typeface="Arial"/>
              <a:buNone/>
            </a:pPr>
            <a:r>
              <a:rPr lang="es" sz="2400" dirty="0"/>
              <a:t>X∼B(n,p)</a:t>
            </a:r>
            <a:r>
              <a:rPr lang="es" sz="2400" dirty="0">
                <a:solidFill>
                  <a:srgbClr val="999999"/>
                </a:solidFill>
              </a:rPr>
              <a:t>, ejemplos?</a:t>
            </a:r>
            <a:endParaRPr sz="2000" dirty="0">
              <a:solidFill>
                <a:srgbClr val="999999"/>
              </a:solidFill>
            </a:endParaRPr>
          </a:p>
          <a:p>
            <a:pPr marL="0" lvl="0" indent="0" algn="l" rtl="0">
              <a:spcBef>
                <a:spcPts val="1400"/>
              </a:spcBef>
              <a:spcAft>
                <a:spcPts val="1400"/>
              </a:spcAft>
              <a:buNone/>
            </a:pPr>
            <a:endParaRPr sz="2000" dirty="0"/>
          </a:p>
        </p:txBody>
      </p:sp>
      <p:sp>
        <p:nvSpPr>
          <p:cNvPr id="5" name="CuadroTexto 4">
            <a:extLst>
              <a:ext uri="{FF2B5EF4-FFF2-40B4-BE49-F238E27FC236}">
                <a16:creationId xmlns:a16="http://schemas.microsoft.com/office/drawing/2014/main" id="{6FC31C99-7EC6-CE43-B487-07330827E08E}"/>
              </a:ext>
            </a:extLst>
          </p:cNvPr>
          <p:cNvSpPr txBox="1"/>
          <p:nvPr/>
        </p:nvSpPr>
        <p:spPr>
          <a:xfrm>
            <a:off x="3693696" y="469965"/>
            <a:ext cx="4764504" cy="523220"/>
          </a:xfrm>
          <a:prstGeom prst="rect">
            <a:avLst/>
          </a:prstGeom>
          <a:noFill/>
        </p:spPr>
        <p:txBody>
          <a:bodyPr wrap="square">
            <a:spAutoFit/>
          </a:bodyPr>
          <a:lstStyle/>
          <a:p>
            <a:r>
              <a:rPr lang="es" dirty="0"/>
              <a:t>Distribución binomial modela la probabilidad de la cantidad de éxitos o  situación de interés</a:t>
            </a:r>
            <a:endParaRPr lang="es-CO" dirty="0"/>
          </a:p>
        </p:txBody>
      </p:sp>
      <p:sp>
        <p:nvSpPr>
          <p:cNvPr id="7" name="CuadroTexto 6">
            <a:extLst>
              <a:ext uri="{FF2B5EF4-FFF2-40B4-BE49-F238E27FC236}">
                <a16:creationId xmlns:a16="http://schemas.microsoft.com/office/drawing/2014/main" id="{9861D34D-BB15-6048-4064-A449CFAAEB01}"/>
              </a:ext>
            </a:extLst>
          </p:cNvPr>
          <p:cNvSpPr txBox="1"/>
          <p:nvPr/>
        </p:nvSpPr>
        <p:spPr>
          <a:xfrm>
            <a:off x="1106905" y="1741710"/>
            <a:ext cx="4764504" cy="523220"/>
          </a:xfrm>
          <a:prstGeom prst="rect">
            <a:avLst/>
          </a:prstGeom>
          <a:noFill/>
        </p:spPr>
        <p:txBody>
          <a:bodyPr wrap="square">
            <a:spAutoFit/>
          </a:bodyPr>
          <a:lstStyle/>
          <a:p>
            <a:r>
              <a:rPr lang="es" dirty="0"/>
              <a:t>En una n-upla donde p es la probabilidad de éxito o que se de la situación de interés.</a:t>
            </a:r>
            <a:endParaRPr lang="es-CO"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6"/>
          <p:cNvSpPr txBox="1">
            <a:spLocks noGrp="1"/>
          </p:cNvSpPr>
          <p:nvPr>
            <p:ph type="title"/>
          </p:nvPr>
        </p:nvSpPr>
        <p:spPr>
          <a:xfrm>
            <a:off x="311700" y="316800"/>
            <a:ext cx="7240200" cy="75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Función de Distribución Acumulada </a:t>
            </a:r>
            <a:endParaRPr/>
          </a:p>
        </p:txBody>
      </p:sp>
      <p:pic>
        <p:nvPicPr>
          <p:cNvPr id="242" name="Google Shape;242;p36"/>
          <p:cNvPicPr preferRelativeResize="0"/>
          <p:nvPr/>
        </p:nvPicPr>
        <p:blipFill>
          <a:blip r:embed="rId3">
            <a:alphaModFix/>
          </a:blip>
          <a:stretch>
            <a:fillRect/>
          </a:stretch>
        </p:blipFill>
        <p:spPr>
          <a:xfrm>
            <a:off x="493175" y="1072500"/>
            <a:ext cx="7891276" cy="1979400"/>
          </a:xfrm>
          <a:prstGeom prst="rect">
            <a:avLst/>
          </a:prstGeom>
          <a:noFill/>
          <a:ln>
            <a:noFill/>
          </a:ln>
        </p:spPr>
      </p:pic>
      <p:pic>
        <p:nvPicPr>
          <p:cNvPr id="243" name="Google Shape;243;p36"/>
          <p:cNvPicPr preferRelativeResize="0"/>
          <p:nvPr/>
        </p:nvPicPr>
        <p:blipFill>
          <a:blip r:embed="rId4">
            <a:alphaModFix/>
          </a:blip>
          <a:stretch>
            <a:fillRect/>
          </a:stretch>
        </p:blipFill>
        <p:spPr>
          <a:xfrm>
            <a:off x="1295400" y="2578450"/>
            <a:ext cx="6220621" cy="2031650"/>
          </a:xfrm>
          <a:prstGeom prst="rect">
            <a:avLst/>
          </a:prstGeom>
          <a:noFill/>
          <a:ln>
            <a:noFill/>
          </a:ln>
        </p:spPr>
      </p:pic>
      <p:sp>
        <p:nvSpPr>
          <p:cNvPr id="244" name="Google Shape;244;p36"/>
          <p:cNvSpPr txBox="1"/>
          <p:nvPr/>
        </p:nvSpPr>
        <p:spPr>
          <a:xfrm>
            <a:off x="2127950" y="4568025"/>
            <a:ext cx="5040000" cy="444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a:latin typeface="Open Sans"/>
                <a:ea typeface="Open Sans"/>
                <a:cs typeface="Open Sans"/>
                <a:sym typeface="Open Sans"/>
              </a:rPr>
              <a:t>X discreta						X continua</a:t>
            </a:r>
            <a:endParaRPr>
              <a:latin typeface="Open Sans"/>
              <a:ea typeface="Open Sans"/>
              <a:cs typeface="Open Sans"/>
              <a:sym typeface="Open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37"/>
          <p:cNvSpPr txBox="1">
            <a:spLocks noGrp="1"/>
          </p:cNvSpPr>
          <p:nvPr>
            <p:ph type="title"/>
          </p:nvPr>
        </p:nvSpPr>
        <p:spPr>
          <a:xfrm>
            <a:off x="311700" y="316800"/>
            <a:ext cx="8533800" cy="75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Función de densidad</a:t>
            </a:r>
            <a:endParaRPr/>
          </a:p>
        </p:txBody>
      </p:sp>
      <p:pic>
        <p:nvPicPr>
          <p:cNvPr id="250" name="Google Shape;250;p37"/>
          <p:cNvPicPr preferRelativeResize="0"/>
          <p:nvPr/>
        </p:nvPicPr>
        <p:blipFill>
          <a:blip r:embed="rId3">
            <a:alphaModFix/>
          </a:blip>
          <a:stretch>
            <a:fillRect/>
          </a:stretch>
        </p:blipFill>
        <p:spPr>
          <a:xfrm>
            <a:off x="2006833" y="1359250"/>
            <a:ext cx="4899591" cy="1600200"/>
          </a:xfrm>
          <a:prstGeom prst="rect">
            <a:avLst/>
          </a:prstGeom>
          <a:noFill/>
          <a:ln>
            <a:noFill/>
          </a:ln>
        </p:spPr>
      </p:pic>
      <p:sp>
        <p:nvSpPr>
          <p:cNvPr id="251" name="Google Shape;251;p37"/>
          <p:cNvSpPr txBox="1"/>
          <p:nvPr/>
        </p:nvSpPr>
        <p:spPr>
          <a:xfrm>
            <a:off x="159750" y="2667250"/>
            <a:ext cx="1059900" cy="444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a:highlight>
                  <a:srgbClr val="FCE5CD"/>
                </a:highlight>
                <a:latin typeface="Open Sans"/>
                <a:ea typeface="Open Sans"/>
                <a:cs typeface="Open Sans"/>
                <a:sym typeface="Open Sans"/>
              </a:rPr>
              <a:t>X discreta	</a:t>
            </a:r>
            <a:endParaRPr>
              <a:highlight>
                <a:srgbClr val="FCE5CD"/>
              </a:highlight>
              <a:latin typeface="Open Sans"/>
              <a:ea typeface="Open Sans"/>
              <a:cs typeface="Open Sans"/>
              <a:sym typeface="Open Sans"/>
            </a:endParaRPr>
          </a:p>
        </p:txBody>
      </p:sp>
      <p:sp>
        <p:nvSpPr>
          <p:cNvPr id="252" name="Google Shape;252;p37"/>
          <p:cNvSpPr txBox="1"/>
          <p:nvPr/>
        </p:nvSpPr>
        <p:spPr>
          <a:xfrm>
            <a:off x="7508600" y="2743450"/>
            <a:ext cx="1369500" cy="444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a:highlight>
                  <a:srgbClr val="FCE5CD"/>
                </a:highlight>
                <a:latin typeface="Open Sans"/>
                <a:ea typeface="Open Sans"/>
                <a:cs typeface="Open Sans"/>
                <a:sym typeface="Open Sans"/>
              </a:rPr>
              <a:t>X continua</a:t>
            </a:r>
            <a:endParaRPr>
              <a:highlight>
                <a:srgbClr val="FCE5CD"/>
              </a:highlight>
              <a:latin typeface="Open Sans"/>
              <a:ea typeface="Open Sans"/>
              <a:cs typeface="Open Sans"/>
              <a:sym typeface="Open Sans"/>
            </a:endParaRPr>
          </a:p>
        </p:txBody>
      </p:sp>
      <p:pic>
        <p:nvPicPr>
          <p:cNvPr id="253" name="Google Shape;253;p37"/>
          <p:cNvPicPr preferRelativeResize="0"/>
          <p:nvPr/>
        </p:nvPicPr>
        <p:blipFill>
          <a:blip r:embed="rId4">
            <a:alphaModFix/>
          </a:blip>
          <a:stretch>
            <a:fillRect/>
          </a:stretch>
        </p:blipFill>
        <p:spPr>
          <a:xfrm>
            <a:off x="1557750" y="3111850"/>
            <a:ext cx="3116057" cy="2029725"/>
          </a:xfrm>
          <a:prstGeom prst="rect">
            <a:avLst/>
          </a:prstGeom>
          <a:noFill/>
          <a:ln>
            <a:noFill/>
          </a:ln>
        </p:spPr>
      </p:pic>
      <p:sp>
        <p:nvSpPr>
          <p:cNvPr id="254" name="Google Shape;254;p37"/>
          <p:cNvSpPr txBox="1">
            <a:spLocks noGrp="1"/>
          </p:cNvSpPr>
          <p:nvPr>
            <p:ph type="body" idx="1"/>
          </p:nvPr>
        </p:nvSpPr>
        <p:spPr>
          <a:xfrm>
            <a:off x="2025" y="3433225"/>
            <a:ext cx="2096400" cy="822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sz="1400" u="sng"/>
              <a:t>densidad discreta </a:t>
            </a:r>
            <a:r>
              <a:rPr lang="es" sz="1400">
                <a:solidFill>
                  <a:srgbClr val="999999"/>
                </a:solidFill>
              </a:rPr>
              <a:t>(probabilidad puntual)</a:t>
            </a:r>
            <a:endParaRPr sz="1400">
              <a:solidFill>
                <a:srgbClr val="999999"/>
              </a:solidFill>
            </a:endParaRPr>
          </a:p>
          <a:p>
            <a:pPr marL="0" lvl="0" indent="0" algn="l" rtl="0">
              <a:spcBef>
                <a:spcPts val="1400"/>
              </a:spcBef>
              <a:spcAft>
                <a:spcPts val="1400"/>
              </a:spcAft>
              <a:buNone/>
            </a:pPr>
            <a:r>
              <a:rPr lang="es" sz="1400"/>
              <a:t>f(t)=P(X=t)</a:t>
            </a:r>
            <a:endParaRPr sz="1400"/>
          </a:p>
        </p:txBody>
      </p:sp>
      <p:sp>
        <p:nvSpPr>
          <p:cNvPr id="255" name="Google Shape;255;p37"/>
          <p:cNvSpPr txBox="1">
            <a:spLocks noGrp="1"/>
          </p:cNvSpPr>
          <p:nvPr>
            <p:ph type="body" idx="1"/>
          </p:nvPr>
        </p:nvSpPr>
        <p:spPr>
          <a:xfrm>
            <a:off x="326975" y="1763225"/>
            <a:ext cx="1704900" cy="822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sz="1600"/>
              <a:t>FDA: F(t)</a:t>
            </a:r>
            <a:r>
              <a:rPr lang="es" sz="1600">
                <a:solidFill>
                  <a:srgbClr val="999999"/>
                </a:solidFill>
              </a:rPr>
              <a:t>=P(X≤t)</a:t>
            </a:r>
            <a:endParaRPr sz="1600">
              <a:solidFill>
                <a:srgbClr val="999999"/>
              </a:solidFill>
            </a:endParaRPr>
          </a:p>
          <a:p>
            <a:pPr marL="0" lvl="0" indent="0" algn="l" rtl="0">
              <a:spcBef>
                <a:spcPts val="1400"/>
              </a:spcBef>
              <a:spcAft>
                <a:spcPts val="1400"/>
              </a:spcAft>
              <a:buNone/>
            </a:pPr>
            <a:endParaRPr sz="1600"/>
          </a:p>
        </p:txBody>
      </p:sp>
      <p:sp>
        <p:nvSpPr>
          <p:cNvPr id="256" name="Google Shape;256;p37"/>
          <p:cNvSpPr txBox="1">
            <a:spLocks noGrp="1"/>
          </p:cNvSpPr>
          <p:nvPr>
            <p:ph type="body" idx="1"/>
          </p:nvPr>
        </p:nvSpPr>
        <p:spPr>
          <a:xfrm>
            <a:off x="7478100" y="3322400"/>
            <a:ext cx="1492200" cy="822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sz="1400" u="sng"/>
              <a:t>densidad:</a:t>
            </a:r>
            <a:endParaRPr sz="1400" u="sng"/>
          </a:p>
          <a:p>
            <a:pPr marL="0" lvl="0" indent="0" algn="l" rtl="0">
              <a:spcBef>
                <a:spcPts val="1400"/>
              </a:spcBef>
              <a:spcAft>
                <a:spcPts val="0"/>
              </a:spcAft>
              <a:buNone/>
            </a:pPr>
            <a:r>
              <a:rPr lang="es" sz="1600"/>
              <a:t>f</a:t>
            </a:r>
            <a:r>
              <a:rPr lang="es" sz="1800"/>
              <a:t>(t)=F’(t)</a:t>
            </a:r>
            <a:endParaRPr sz="1800"/>
          </a:p>
          <a:p>
            <a:pPr marL="0" lvl="0" indent="0" algn="l" rtl="0">
              <a:spcBef>
                <a:spcPts val="1400"/>
              </a:spcBef>
              <a:spcAft>
                <a:spcPts val="0"/>
              </a:spcAft>
              <a:buNone/>
            </a:pPr>
            <a:r>
              <a:rPr lang="es" sz="1800"/>
              <a:t>F(t)=∫</a:t>
            </a:r>
            <a:r>
              <a:rPr lang="es" sz="1800" baseline="30000"/>
              <a:t>t</a:t>
            </a:r>
            <a:r>
              <a:rPr lang="es" sz="1800"/>
              <a:t>f(x) dx</a:t>
            </a:r>
            <a:endParaRPr sz="1800"/>
          </a:p>
          <a:p>
            <a:pPr marL="0" lvl="0" indent="0" algn="l" rtl="0">
              <a:spcBef>
                <a:spcPts val="1400"/>
              </a:spcBef>
              <a:spcAft>
                <a:spcPts val="1400"/>
              </a:spcAft>
              <a:buNone/>
            </a:pPr>
            <a:endParaRPr sz="1600"/>
          </a:p>
        </p:txBody>
      </p:sp>
      <p:sp>
        <p:nvSpPr>
          <p:cNvPr id="257" name="Google Shape;257;p37"/>
          <p:cNvSpPr txBox="1">
            <a:spLocks noGrp="1"/>
          </p:cNvSpPr>
          <p:nvPr>
            <p:ph type="body" idx="1"/>
          </p:nvPr>
        </p:nvSpPr>
        <p:spPr>
          <a:xfrm>
            <a:off x="7265300" y="1839425"/>
            <a:ext cx="1704900" cy="822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sz="1600"/>
              <a:t>FDA: F(t)</a:t>
            </a:r>
            <a:r>
              <a:rPr lang="es" sz="1600">
                <a:solidFill>
                  <a:srgbClr val="999999"/>
                </a:solidFill>
              </a:rPr>
              <a:t>=P(X≤t)</a:t>
            </a:r>
            <a:endParaRPr sz="1600">
              <a:solidFill>
                <a:srgbClr val="999999"/>
              </a:solidFill>
            </a:endParaRPr>
          </a:p>
          <a:p>
            <a:pPr marL="0" lvl="0" indent="0" algn="l" rtl="0">
              <a:spcBef>
                <a:spcPts val="1400"/>
              </a:spcBef>
              <a:spcAft>
                <a:spcPts val="1400"/>
              </a:spcAft>
              <a:buNone/>
            </a:pPr>
            <a:endParaRPr sz="1600">
              <a:solidFill>
                <a:srgbClr val="999999"/>
              </a:solidFill>
            </a:endParaRPr>
          </a:p>
        </p:txBody>
      </p:sp>
      <p:pic>
        <p:nvPicPr>
          <p:cNvPr id="258" name="Google Shape;258;p37"/>
          <p:cNvPicPr preferRelativeResize="0"/>
          <p:nvPr/>
        </p:nvPicPr>
        <p:blipFill>
          <a:blip r:embed="rId5">
            <a:alphaModFix/>
          </a:blip>
          <a:stretch>
            <a:fillRect/>
          </a:stretch>
        </p:blipFill>
        <p:spPr>
          <a:xfrm>
            <a:off x="4750000" y="3188050"/>
            <a:ext cx="2423935" cy="18030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Shape 262"/>
        <p:cNvGrpSpPr/>
        <p:nvPr/>
      </p:nvGrpSpPr>
      <p:grpSpPr>
        <a:xfrm>
          <a:off x="0" y="0"/>
          <a:ext cx="0" cy="0"/>
          <a:chOff x="0" y="0"/>
          <a:chExt cx="0" cy="0"/>
        </a:xfrm>
      </p:grpSpPr>
      <p:sp>
        <p:nvSpPr>
          <p:cNvPr id="263" name="Google Shape;263;p38"/>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Propiedades de función de densidad</a:t>
            </a:r>
            <a:endParaRPr/>
          </a:p>
        </p:txBody>
      </p:sp>
      <p:sp>
        <p:nvSpPr>
          <p:cNvPr id="264" name="Google Shape;264;p38"/>
          <p:cNvSpPr txBox="1">
            <a:spLocks noGrp="1"/>
          </p:cNvSpPr>
          <p:nvPr>
            <p:ph type="body" idx="1"/>
          </p:nvPr>
        </p:nvSpPr>
        <p:spPr>
          <a:xfrm>
            <a:off x="83100" y="1377625"/>
            <a:ext cx="8520600" cy="33540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arenR"/>
            </a:pPr>
            <a:r>
              <a:rPr lang="es" sz="2400"/>
              <a:t>f(t)≥0 para todo t</a:t>
            </a:r>
            <a:endParaRPr sz="2400"/>
          </a:p>
          <a:p>
            <a:pPr marL="0" lvl="0" indent="0" algn="l" rtl="0">
              <a:spcBef>
                <a:spcPts val="1600"/>
              </a:spcBef>
              <a:spcAft>
                <a:spcPts val="0"/>
              </a:spcAft>
              <a:buNone/>
            </a:pPr>
            <a:r>
              <a:rPr lang="es" sz="2400"/>
              <a:t>2) </a:t>
            </a:r>
            <a:r>
              <a:rPr lang="es" sz="3000"/>
              <a:t>∫</a:t>
            </a:r>
            <a:r>
              <a:rPr lang="es" sz="2400"/>
              <a:t>f(t) dt = 1 para variables continuas y (entre -∞ y +∞)</a:t>
            </a:r>
            <a:endParaRPr sz="2400"/>
          </a:p>
          <a:p>
            <a:pPr marL="0" lvl="0" indent="0" algn="l" rtl="0">
              <a:spcBef>
                <a:spcPts val="1600"/>
              </a:spcBef>
              <a:spcAft>
                <a:spcPts val="0"/>
              </a:spcAft>
              <a:buNone/>
            </a:pPr>
            <a:r>
              <a:rPr lang="es" sz="2400"/>
              <a:t>2)</a:t>
            </a:r>
            <a:r>
              <a:rPr lang="es" sz="3000"/>
              <a:t> ∑</a:t>
            </a:r>
            <a:r>
              <a:rPr lang="es" sz="2400"/>
              <a:t>f(t)=1 para variables discretas (para todos los valores)</a:t>
            </a:r>
            <a:endParaRPr sz="2400"/>
          </a:p>
          <a:p>
            <a:pPr marL="457200" lvl="0" indent="0" algn="l" rtl="0">
              <a:spcBef>
                <a:spcPts val="1600"/>
              </a:spcBef>
              <a:spcAft>
                <a:spcPts val="0"/>
              </a:spcAft>
              <a:buNone/>
            </a:pPr>
            <a:endParaRPr sz="2400"/>
          </a:p>
          <a:p>
            <a:pPr marL="457200" lvl="0" indent="0" algn="l" rtl="0">
              <a:spcBef>
                <a:spcPts val="1600"/>
              </a:spcBef>
              <a:spcAft>
                <a:spcPts val="0"/>
              </a:spcAft>
              <a:buNone/>
            </a:pPr>
            <a:r>
              <a:rPr lang="es" sz="2400"/>
              <a:t>cualquier función que cumple con 1 y 2 es una función de densidad de alguna v. a.</a:t>
            </a:r>
            <a:endParaRPr sz="2400"/>
          </a:p>
          <a:p>
            <a:pPr marL="0" lvl="0" indent="0" algn="l" rtl="0">
              <a:spcBef>
                <a:spcPts val="1600"/>
              </a:spcBef>
              <a:spcAft>
                <a:spcPts val="1600"/>
              </a:spcAft>
              <a:buNone/>
            </a:pPr>
            <a:endParaRPr sz="24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39"/>
          <p:cNvSpPr txBox="1">
            <a:spLocks noGrp="1"/>
          </p:cNvSpPr>
          <p:nvPr>
            <p:ph type="title"/>
          </p:nvPr>
        </p:nvSpPr>
        <p:spPr>
          <a:xfrm>
            <a:off x="311700" y="315925"/>
            <a:ext cx="86535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Distribución Uniforme</a:t>
            </a:r>
            <a:endParaRPr/>
          </a:p>
        </p:txBody>
      </p:sp>
      <p:sp>
        <p:nvSpPr>
          <p:cNvPr id="270" name="Google Shape;270;p39"/>
          <p:cNvSpPr txBox="1">
            <a:spLocks noGrp="1"/>
          </p:cNvSpPr>
          <p:nvPr>
            <p:ph type="body" idx="1"/>
          </p:nvPr>
        </p:nvSpPr>
        <p:spPr>
          <a:xfrm>
            <a:off x="311700" y="1225225"/>
            <a:ext cx="8520600" cy="1389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X v.a. tiene </a:t>
            </a:r>
            <a:r>
              <a:rPr lang="es" b="1">
                <a:solidFill>
                  <a:srgbClr val="155B54"/>
                </a:solidFill>
              </a:rPr>
              <a:t>distribución uniforme</a:t>
            </a:r>
            <a:r>
              <a:rPr lang="es"/>
              <a:t> si su función </a:t>
            </a:r>
            <a:r>
              <a:rPr lang="es" b="1">
                <a:solidFill>
                  <a:srgbClr val="155B54"/>
                </a:solidFill>
              </a:rPr>
              <a:t>densidad</a:t>
            </a:r>
            <a:r>
              <a:rPr lang="es"/>
              <a:t> es</a:t>
            </a:r>
            <a:endParaRPr/>
          </a:p>
          <a:p>
            <a:pPr marL="0" lvl="0" indent="0" algn="l" rtl="0">
              <a:spcBef>
                <a:spcPts val="1600"/>
              </a:spcBef>
              <a:spcAft>
                <a:spcPts val="1600"/>
              </a:spcAft>
              <a:buNone/>
            </a:pPr>
            <a:r>
              <a:rPr lang="es"/>
              <a:t> f(t)=1/(b-a) si a ≤ t ≤ b, 0 c.c.</a:t>
            </a:r>
            <a:endParaRPr/>
          </a:p>
        </p:txBody>
      </p:sp>
      <p:sp>
        <p:nvSpPr>
          <p:cNvPr id="271" name="Google Shape;271;p39"/>
          <p:cNvSpPr txBox="1"/>
          <p:nvPr/>
        </p:nvSpPr>
        <p:spPr>
          <a:xfrm>
            <a:off x="4193975" y="3479450"/>
            <a:ext cx="4999800" cy="1087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2000">
                <a:solidFill>
                  <a:schemeClr val="dk1"/>
                </a:solidFill>
                <a:latin typeface="Open Sans"/>
                <a:ea typeface="Open Sans"/>
                <a:cs typeface="Open Sans"/>
                <a:sym typeface="Open Sans"/>
              </a:rPr>
              <a:t>Notación X~U(a,b),  a&lt;b parámetros</a:t>
            </a:r>
            <a:endParaRPr sz="2000">
              <a:solidFill>
                <a:schemeClr val="dk1"/>
              </a:solidFill>
              <a:latin typeface="Open Sans"/>
              <a:ea typeface="Open Sans"/>
              <a:cs typeface="Open Sans"/>
              <a:sym typeface="Open Sans"/>
            </a:endParaRPr>
          </a:p>
          <a:p>
            <a:pPr marL="0" lvl="0" indent="0" algn="l" rtl="0">
              <a:lnSpc>
                <a:spcPct val="115000"/>
              </a:lnSpc>
              <a:spcBef>
                <a:spcPts val="1600"/>
              </a:spcBef>
              <a:spcAft>
                <a:spcPts val="1600"/>
              </a:spcAft>
              <a:buNone/>
            </a:pPr>
            <a:endParaRPr sz="2000">
              <a:solidFill>
                <a:srgbClr val="249C90"/>
              </a:solidFill>
              <a:latin typeface="Open Sans"/>
              <a:ea typeface="Open Sans"/>
              <a:cs typeface="Open Sans"/>
              <a:sym typeface="Open Sans"/>
            </a:endParaRPr>
          </a:p>
        </p:txBody>
      </p:sp>
      <p:pic>
        <p:nvPicPr>
          <p:cNvPr id="272" name="Google Shape;272;p39"/>
          <p:cNvPicPr preferRelativeResize="0"/>
          <p:nvPr/>
        </p:nvPicPr>
        <p:blipFill>
          <a:blip r:embed="rId3">
            <a:alphaModFix/>
          </a:blip>
          <a:stretch>
            <a:fillRect/>
          </a:stretch>
        </p:blipFill>
        <p:spPr>
          <a:xfrm>
            <a:off x="381000" y="2188525"/>
            <a:ext cx="3700375" cy="277527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40"/>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Distribución Normal o Gaussiana</a:t>
            </a:r>
            <a:endParaRPr/>
          </a:p>
        </p:txBody>
      </p:sp>
      <p:sp>
        <p:nvSpPr>
          <p:cNvPr id="278" name="Google Shape;278;p40"/>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X v.a. continua tiene distribución normal (Gaussiana) si su función de densidad es la siguiente: </a:t>
            </a:r>
            <a:endParaRPr/>
          </a:p>
          <a:p>
            <a:pPr marL="0" lvl="0" indent="0" algn="l" rtl="0">
              <a:spcBef>
                <a:spcPts val="1600"/>
              </a:spcBef>
              <a:spcAft>
                <a:spcPts val="0"/>
              </a:spcAft>
              <a:buNone/>
            </a:pPr>
            <a:endParaRPr/>
          </a:p>
          <a:p>
            <a:pPr marL="0" lvl="0" indent="0" algn="l" rtl="0">
              <a:spcBef>
                <a:spcPts val="1600"/>
              </a:spcBef>
              <a:spcAft>
                <a:spcPts val="0"/>
              </a:spcAft>
              <a:buNone/>
            </a:pPr>
            <a:r>
              <a:rPr lang="es"/>
              <a:t>Con μ∊R y σ</a:t>
            </a:r>
            <a:r>
              <a:rPr lang="es" baseline="30000"/>
              <a:t>2</a:t>
            </a:r>
            <a:r>
              <a:rPr lang="es"/>
              <a:t> ∊(0,∞)</a:t>
            </a:r>
            <a:endParaRPr/>
          </a:p>
          <a:p>
            <a:pPr marL="0" lvl="0" indent="0" algn="l" rtl="0">
              <a:spcBef>
                <a:spcPts val="1600"/>
              </a:spcBef>
              <a:spcAft>
                <a:spcPts val="0"/>
              </a:spcAft>
              <a:buNone/>
            </a:pPr>
            <a:r>
              <a:rPr lang="es"/>
              <a:t>parámetros</a:t>
            </a:r>
            <a:endParaRPr/>
          </a:p>
          <a:p>
            <a:pPr marL="0" lvl="0" indent="0" algn="l" rtl="0">
              <a:spcBef>
                <a:spcPts val="1600"/>
              </a:spcBef>
              <a:spcAft>
                <a:spcPts val="1600"/>
              </a:spcAft>
              <a:buNone/>
            </a:pPr>
            <a:r>
              <a:rPr lang="es"/>
              <a:t>Notación X~N(μ,σ</a:t>
            </a:r>
            <a:r>
              <a:rPr lang="es" baseline="30000"/>
              <a:t>2</a:t>
            </a:r>
            <a:r>
              <a:rPr lang="es"/>
              <a:t>)</a:t>
            </a:r>
            <a:endParaRPr/>
          </a:p>
        </p:txBody>
      </p:sp>
      <p:sp>
        <p:nvSpPr>
          <p:cNvPr id="279" name="Google Shape;279;p40"/>
          <p:cNvSpPr txBox="1"/>
          <p:nvPr/>
        </p:nvSpPr>
        <p:spPr>
          <a:xfrm>
            <a:off x="5798750" y="3744225"/>
            <a:ext cx="350400" cy="566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s" sz="1800">
                <a:solidFill>
                  <a:srgbClr val="020202"/>
                </a:solidFill>
                <a:latin typeface="Open Sans"/>
                <a:ea typeface="Open Sans"/>
                <a:cs typeface="Open Sans"/>
                <a:sym typeface="Open Sans"/>
              </a:rPr>
              <a:t>μ</a:t>
            </a:r>
            <a:endParaRPr>
              <a:solidFill>
                <a:srgbClr val="020202"/>
              </a:solidFill>
            </a:endParaRPr>
          </a:p>
        </p:txBody>
      </p:sp>
      <p:pic>
        <p:nvPicPr>
          <p:cNvPr id="280" name="Google Shape;280;p40"/>
          <p:cNvPicPr preferRelativeResize="0"/>
          <p:nvPr/>
        </p:nvPicPr>
        <p:blipFill>
          <a:blip r:embed="rId3">
            <a:alphaModFix/>
          </a:blip>
          <a:stretch>
            <a:fillRect/>
          </a:stretch>
        </p:blipFill>
        <p:spPr>
          <a:xfrm>
            <a:off x="3201052" y="1694250"/>
            <a:ext cx="5742923" cy="33540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41"/>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Distribución Normal o Gaussiana</a:t>
            </a:r>
            <a:endParaRPr/>
          </a:p>
        </p:txBody>
      </p:sp>
      <p:sp>
        <p:nvSpPr>
          <p:cNvPr id="286" name="Google Shape;286;p41"/>
          <p:cNvSpPr txBox="1">
            <a:spLocks noGrp="1"/>
          </p:cNvSpPr>
          <p:nvPr>
            <p:ph type="body" idx="1"/>
          </p:nvPr>
        </p:nvSpPr>
        <p:spPr>
          <a:xfrm>
            <a:off x="498475" y="1459263"/>
            <a:ext cx="8520600" cy="335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sz="2200"/>
              <a:t>X~N(0,σ</a:t>
            </a:r>
            <a:r>
              <a:rPr lang="es" sz="2200" baseline="30000"/>
              <a:t>2</a:t>
            </a:r>
            <a:r>
              <a:rPr lang="es" sz="2200"/>
              <a:t>)</a:t>
            </a:r>
            <a:endParaRPr sz="2200"/>
          </a:p>
          <a:p>
            <a:pPr marL="0" lvl="0" indent="0" algn="l" rtl="0">
              <a:spcBef>
                <a:spcPts val="1600"/>
              </a:spcBef>
              <a:spcAft>
                <a:spcPts val="0"/>
              </a:spcAft>
              <a:buNone/>
            </a:pPr>
            <a:endParaRPr sz="2200"/>
          </a:p>
          <a:p>
            <a:pPr marL="0" lvl="0" indent="0" algn="l" rtl="0">
              <a:spcBef>
                <a:spcPts val="1600"/>
              </a:spcBef>
              <a:spcAft>
                <a:spcPts val="0"/>
              </a:spcAft>
              <a:buNone/>
            </a:pPr>
            <a:r>
              <a:rPr lang="es" sz="2200"/>
              <a:t>si además σ</a:t>
            </a:r>
            <a:r>
              <a:rPr lang="es" sz="2200" baseline="30000"/>
              <a:t>2</a:t>
            </a:r>
            <a:r>
              <a:rPr lang="es" sz="2200"/>
              <a:t>=1</a:t>
            </a:r>
            <a:endParaRPr sz="2200"/>
          </a:p>
          <a:p>
            <a:pPr marL="0" lvl="0" indent="0" algn="l" rtl="0">
              <a:spcBef>
                <a:spcPts val="1600"/>
              </a:spcBef>
              <a:spcAft>
                <a:spcPts val="0"/>
              </a:spcAft>
              <a:buNone/>
            </a:pPr>
            <a:r>
              <a:rPr lang="es" sz="2200"/>
              <a:t>X~N(0,1), se dice </a:t>
            </a:r>
            <a:endParaRPr sz="2200"/>
          </a:p>
          <a:p>
            <a:pPr marL="0" lvl="0" indent="0" algn="l" rtl="0">
              <a:spcBef>
                <a:spcPts val="1600"/>
              </a:spcBef>
              <a:spcAft>
                <a:spcPts val="1600"/>
              </a:spcAft>
              <a:buClr>
                <a:schemeClr val="dk1"/>
              </a:buClr>
              <a:buSzPts val="1100"/>
              <a:buFont typeface="Arial"/>
              <a:buNone/>
            </a:pPr>
            <a:r>
              <a:rPr lang="es" sz="2200"/>
              <a:t>Normal Estándar</a:t>
            </a:r>
            <a:endParaRPr sz="2200"/>
          </a:p>
        </p:txBody>
      </p:sp>
      <p:pic>
        <p:nvPicPr>
          <p:cNvPr id="287" name="Google Shape;287;p41"/>
          <p:cNvPicPr preferRelativeResize="0"/>
          <p:nvPr/>
        </p:nvPicPr>
        <p:blipFill>
          <a:blip r:embed="rId3">
            <a:alphaModFix/>
          </a:blip>
          <a:stretch>
            <a:fillRect/>
          </a:stretch>
        </p:blipFill>
        <p:spPr>
          <a:xfrm>
            <a:off x="3036950" y="1301425"/>
            <a:ext cx="5647299" cy="36696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42"/>
          <p:cNvSpPr txBox="1">
            <a:spLocks noGrp="1"/>
          </p:cNvSpPr>
          <p:nvPr>
            <p:ph type="title"/>
          </p:nvPr>
        </p:nvSpPr>
        <p:spPr>
          <a:xfrm>
            <a:off x="311700" y="315925"/>
            <a:ext cx="86535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Distribución Exponencial (caso especial de Gamma)</a:t>
            </a:r>
            <a:endParaRPr/>
          </a:p>
        </p:txBody>
      </p:sp>
      <p:sp>
        <p:nvSpPr>
          <p:cNvPr id="293" name="Google Shape;293;p42"/>
          <p:cNvSpPr txBox="1">
            <a:spLocks noGrp="1"/>
          </p:cNvSpPr>
          <p:nvPr>
            <p:ph type="body" idx="1"/>
          </p:nvPr>
        </p:nvSpPr>
        <p:spPr>
          <a:xfrm>
            <a:off x="311700" y="1225225"/>
            <a:ext cx="8520600" cy="1389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X v.a. tiene distribución </a:t>
            </a:r>
            <a:endParaRPr/>
          </a:p>
          <a:p>
            <a:pPr marL="0" lvl="0" indent="0" algn="l" rtl="0">
              <a:spcBef>
                <a:spcPts val="1600"/>
              </a:spcBef>
              <a:spcAft>
                <a:spcPts val="1600"/>
              </a:spcAft>
              <a:buNone/>
            </a:pPr>
            <a:r>
              <a:rPr lang="es"/>
              <a:t>exponencial si su densidad es:</a:t>
            </a:r>
            <a:endParaRPr/>
          </a:p>
        </p:txBody>
      </p:sp>
      <p:pic>
        <p:nvPicPr>
          <p:cNvPr id="294" name="Google Shape;294;p42"/>
          <p:cNvPicPr preferRelativeResize="0"/>
          <p:nvPr/>
        </p:nvPicPr>
        <p:blipFill>
          <a:blip r:embed="rId3">
            <a:alphaModFix/>
          </a:blip>
          <a:stretch>
            <a:fillRect/>
          </a:stretch>
        </p:blipFill>
        <p:spPr>
          <a:xfrm>
            <a:off x="4101060" y="1233499"/>
            <a:ext cx="4766715" cy="1597875"/>
          </a:xfrm>
          <a:prstGeom prst="rect">
            <a:avLst/>
          </a:prstGeom>
          <a:noFill/>
          <a:ln>
            <a:noFill/>
          </a:ln>
        </p:spPr>
      </p:pic>
      <p:pic>
        <p:nvPicPr>
          <p:cNvPr id="295" name="Google Shape;295;p42"/>
          <p:cNvPicPr preferRelativeResize="0"/>
          <p:nvPr/>
        </p:nvPicPr>
        <p:blipFill>
          <a:blip r:embed="rId4">
            <a:alphaModFix/>
          </a:blip>
          <a:stretch>
            <a:fillRect/>
          </a:stretch>
        </p:blipFill>
        <p:spPr>
          <a:xfrm>
            <a:off x="584900" y="2386775"/>
            <a:ext cx="2873250" cy="2637676"/>
          </a:xfrm>
          <a:prstGeom prst="rect">
            <a:avLst/>
          </a:prstGeom>
          <a:noFill/>
          <a:ln>
            <a:noFill/>
          </a:ln>
        </p:spPr>
      </p:pic>
      <p:sp>
        <p:nvSpPr>
          <p:cNvPr id="296" name="Google Shape;296;p42"/>
          <p:cNvSpPr txBox="1"/>
          <p:nvPr/>
        </p:nvSpPr>
        <p:spPr>
          <a:xfrm>
            <a:off x="3965375" y="3479450"/>
            <a:ext cx="4999800" cy="1087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2000">
                <a:solidFill>
                  <a:schemeClr val="dk1"/>
                </a:solidFill>
                <a:latin typeface="Open Sans"/>
                <a:ea typeface="Open Sans"/>
                <a:cs typeface="Open Sans"/>
                <a:sym typeface="Open Sans"/>
              </a:rPr>
              <a:t>Notación X~Exp(λ),  λ&gt;0 parámetro</a:t>
            </a:r>
            <a:endParaRPr sz="2000">
              <a:solidFill>
                <a:schemeClr val="dk1"/>
              </a:solidFill>
              <a:latin typeface="Open Sans"/>
              <a:ea typeface="Open Sans"/>
              <a:cs typeface="Open Sans"/>
              <a:sym typeface="Open Sans"/>
            </a:endParaRPr>
          </a:p>
          <a:p>
            <a:pPr marL="0" lvl="0" indent="0" algn="l" rtl="0">
              <a:lnSpc>
                <a:spcPct val="115000"/>
              </a:lnSpc>
              <a:spcBef>
                <a:spcPts val="1600"/>
              </a:spcBef>
              <a:spcAft>
                <a:spcPts val="1600"/>
              </a:spcAft>
              <a:buNone/>
            </a:pPr>
            <a:r>
              <a:rPr lang="es" sz="2000">
                <a:solidFill>
                  <a:srgbClr val="249C90"/>
                </a:solidFill>
                <a:latin typeface="Open Sans"/>
                <a:ea typeface="Open Sans"/>
                <a:cs typeface="Open Sans"/>
                <a:sym typeface="Open Sans"/>
              </a:rPr>
              <a:t>suele utilizarse para modelar tiempo de espera</a:t>
            </a:r>
            <a:endParaRPr sz="2000">
              <a:solidFill>
                <a:srgbClr val="249C90"/>
              </a:solidFill>
              <a:latin typeface="Open Sans"/>
              <a:ea typeface="Open Sans"/>
              <a:cs typeface="Open Sans"/>
              <a:sym typeface="Open San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43"/>
          <p:cNvSpPr txBox="1">
            <a:spLocks noGrp="1"/>
          </p:cNvSpPr>
          <p:nvPr>
            <p:ph type="title"/>
          </p:nvPr>
        </p:nvSpPr>
        <p:spPr>
          <a:xfrm>
            <a:off x="311700" y="315925"/>
            <a:ext cx="88323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Distribución Chi Cuadrado </a:t>
            </a:r>
            <a:endParaRPr/>
          </a:p>
        </p:txBody>
      </p:sp>
      <p:sp>
        <p:nvSpPr>
          <p:cNvPr id="302" name="Google Shape;302;p43"/>
          <p:cNvSpPr txBox="1">
            <a:spLocks noGrp="1"/>
          </p:cNvSpPr>
          <p:nvPr>
            <p:ph type="body" idx="1"/>
          </p:nvPr>
        </p:nvSpPr>
        <p:spPr>
          <a:xfrm>
            <a:off x="311700" y="1225225"/>
            <a:ext cx="8520600" cy="1389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sz="2000">
                <a:solidFill>
                  <a:srgbClr val="000000"/>
                </a:solidFill>
              </a:rPr>
              <a:t>Diremos la v.a. X tiene </a:t>
            </a:r>
            <a:r>
              <a:rPr lang="es" sz="2000" u="sng">
                <a:solidFill>
                  <a:srgbClr val="000000"/>
                </a:solidFill>
              </a:rPr>
              <a:t>distribució</a:t>
            </a:r>
            <a:r>
              <a:rPr lang="es" sz="2000">
                <a:solidFill>
                  <a:srgbClr val="000000"/>
                </a:solidFill>
              </a:rPr>
              <a:t>n </a:t>
            </a:r>
            <a:r>
              <a:rPr lang="es" sz="2000" u="sng">
                <a:solidFill>
                  <a:srgbClr val="000000"/>
                </a:solidFill>
              </a:rPr>
              <a:t>Chi</a:t>
            </a:r>
            <a:r>
              <a:rPr lang="es" sz="2000">
                <a:solidFill>
                  <a:srgbClr val="000000"/>
                </a:solidFill>
              </a:rPr>
              <a:t>- cuadrado con k grados de libertad. </a:t>
            </a:r>
            <a:r>
              <a:rPr lang="es" sz="2000"/>
              <a:t>Notación X~ </a:t>
            </a:r>
            <a:r>
              <a:rPr lang="es" sz="2400"/>
              <a:t>𝝌</a:t>
            </a:r>
            <a:r>
              <a:rPr lang="es" sz="2400" baseline="-25000"/>
              <a:t>k</a:t>
            </a:r>
            <a:r>
              <a:rPr lang="es" sz="2400" baseline="30000"/>
              <a:t>2</a:t>
            </a:r>
            <a:r>
              <a:rPr lang="es" sz="2000"/>
              <a:t> si su función de densidad está dada por:</a:t>
            </a:r>
            <a:endParaRPr sz="2000"/>
          </a:p>
          <a:p>
            <a:pPr marL="0" lvl="0" indent="0" algn="l" rtl="0">
              <a:spcBef>
                <a:spcPts val="0"/>
              </a:spcBef>
              <a:spcAft>
                <a:spcPts val="0"/>
              </a:spcAft>
              <a:buClr>
                <a:schemeClr val="dk1"/>
              </a:buClr>
              <a:buSzPts val="1100"/>
              <a:buFont typeface="Arial"/>
              <a:buNone/>
            </a:pPr>
            <a:endParaRPr sz="2000" u="sng">
              <a:solidFill>
                <a:srgbClr val="000000"/>
              </a:solidFill>
            </a:endParaRPr>
          </a:p>
          <a:p>
            <a:pPr marL="0" lvl="0" indent="0" algn="l" rtl="0">
              <a:spcBef>
                <a:spcPts val="0"/>
              </a:spcBef>
              <a:spcAft>
                <a:spcPts val="1600"/>
              </a:spcAft>
              <a:buNone/>
            </a:pPr>
            <a:endParaRPr sz="2000">
              <a:solidFill>
                <a:srgbClr val="000000"/>
              </a:solidFill>
            </a:endParaRPr>
          </a:p>
        </p:txBody>
      </p:sp>
      <p:sp>
        <p:nvSpPr>
          <p:cNvPr id="303" name="Google Shape;303;p43"/>
          <p:cNvSpPr txBox="1"/>
          <p:nvPr/>
        </p:nvSpPr>
        <p:spPr>
          <a:xfrm>
            <a:off x="3965375" y="3479450"/>
            <a:ext cx="4999800" cy="1087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endParaRPr sz="2000">
              <a:solidFill>
                <a:srgbClr val="249C90"/>
              </a:solidFill>
              <a:latin typeface="Open Sans"/>
              <a:ea typeface="Open Sans"/>
              <a:cs typeface="Open Sans"/>
              <a:sym typeface="Open Sans"/>
            </a:endParaRPr>
          </a:p>
        </p:txBody>
      </p:sp>
      <p:pic>
        <p:nvPicPr>
          <p:cNvPr id="304" name="Google Shape;304;p43"/>
          <p:cNvPicPr preferRelativeResize="0"/>
          <p:nvPr/>
        </p:nvPicPr>
        <p:blipFill>
          <a:blip r:embed="rId3">
            <a:alphaModFix/>
          </a:blip>
          <a:stretch>
            <a:fillRect/>
          </a:stretch>
        </p:blipFill>
        <p:spPr>
          <a:xfrm>
            <a:off x="1219200" y="2147442"/>
            <a:ext cx="6602975" cy="2723733"/>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44"/>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Medidas estadísticas de una v.a. o de una densidad</a:t>
            </a:r>
            <a:endParaRPr/>
          </a:p>
        </p:txBody>
      </p:sp>
      <p:sp>
        <p:nvSpPr>
          <p:cNvPr id="310" name="Google Shape;310;p44"/>
          <p:cNvSpPr txBox="1">
            <a:spLocks noGrp="1"/>
          </p:cNvSpPr>
          <p:nvPr>
            <p:ph type="body" idx="1"/>
          </p:nvPr>
        </p:nvSpPr>
        <p:spPr>
          <a:xfrm>
            <a:off x="311700" y="1206250"/>
            <a:ext cx="8832300" cy="335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X v.a. numérica con densidad f </a:t>
            </a:r>
            <a:endParaRPr/>
          </a:p>
          <a:p>
            <a:pPr marL="457200" lvl="0" indent="-342900" algn="l" rtl="0">
              <a:spcBef>
                <a:spcPts val="1600"/>
              </a:spcBef>
              <a:spcAft>
                <a:spcPts val="0"/>
              </a:spcAft>
              <a:buSzPts val="1800"/>
              <a:buChar char="●"/>
            </a:pPr>
            <a:r>
              <a:rPr lang="es" b="1" u="sng">
                <a:solidFill>
                  <a:srgbClr val="155B54"/>
                </a:solidFill>
              </a:rPr>
              <a:t>Media o Esperanza</a:t>
            </a:r>
            <a:r>
              <a:rPr lang="es"/>
              <a:t> de X </a:t>
            </a:r>
            <a:r>
              <a:rPr lang="es">
                <a:solidFill>
                  <a:srgbClr val="249C90"/>
                </a:solidFill>
              </a:rPr>
              <a:t>(Medida de posición)</a:t>
            </a:r>
            <a:r>
              <a:rPr lang="es"/>
              <a:t>: </a:t>
            </a:r>
            <a:endParaRPr/>
          </a:p>
          <a:p>
            <a:pPr marL="0" lvl="0" indent="0" algn="l" rtl="0">
              <a:spcBef>
                <a:spcPts val="1600"/>
              </a:spcBef>
              <a:spcAft>
                <a:spcPts val="0"/>
              </a:spcAft>
              <a:buNone/>
            </a:pPr>
            <a:r>
              <a:rPr lang="es"/>
              <a:t>μ=E(X)= </a:t>
            </a:r>
            <a:r>
              <a:rPr lang="es" sz="2400"/>
              <a:t>∫</a:t>
            </a:r>
            <a:r>
              <a:rPr lang="es"/>
              <a:t>t f(t) dt</a:t>
            </a:r>
            <a:r>
              <a:rPr lang="es" sz="2400"/>
              <a:t> </a:t>
            </a:r>
            <a:r>
              <a:rPr lang="es"/>
              <a:t>ó  μ=E(X)=∑t f(t) ,</a:t>
            </a:r>
            <a:r>
              <a:rPr lang="es">
                <a:solidFill>
                  <a:srgbClr val="155B54"/>
                </a:solidFill>
              </a:rPr>
              <a:t>promedio ponderado por la densidad (μ∈R)</a:t>
            </a:r>
            <a:endParaRPr>
              <a:solidFill>
                <a:srgbClr val="155B54"/>
              </a:solidFill>
            </a:endParaRPr>
          </a:p>
          <a:p>
            <a:pPr marL="457200" lvl="0" indent="-342900" algn="l" rtl="0">
              <a:spcBef>
                <a:spcPts val="1600"/>
              </a:spcBef>
              <a:spcAft>
                <a:spcPts val="0"/>
              </a:spcAft>
              <a:buSzPts val="1800"/>
              <a:buChar char="●"/>
            </a:pPr>
            <a:r>
              <a:rPr lang="es" b="1">
                <a:solidFill>
                  <a:srgbClr val="155B54"/>
                </a:solidFill>
              </a:rPr>
              <a:t>Varianza</a:t>
            </a:r>
            <a:r>
              <a:rPr lang="es"/>
              <a:t> </a:t>
            </a:r>
            <a:r>
              <a:rPr lang="es">
                <a:solidFill>
                  <a:srgbClr val="249C90"/>
                </a:solidFill>
              </a:rPr>
              <a:t>(Medidas de dispersión)</a:t>
            </a:r>
            <a:r>
              <a:rPr lang="es"/>
              <a:t>: </a:t>
            </a:r>
            <a:endParaRPr/>
          </a:p>
          <a:p>
            <a:pPr marL="0" lvl="0" indent="0" algn="l" rtl="0">
              <a:spcBef>
                <a:spcPts val="1600"/>
              </a:spcBef>
              <a:spcAft>
                <a:spcPts val="0"/>
              </a:spcAft>
              <a:buNone/>
            </a:pPr>
            <a:r>
              <a:rPr lang="es"/>
              <a:t>σ</a:t>
            </a:r>
            <a:r>
              <a:rPr lang="es" baseline="30000"/>
              <a:t>2</a:t>
            </a:r>
            <a:r>
              <a:rPr lang="es"/>
              <a:t> =Var(X)= E((X-μ)</a:t>
            </a:r>
            <a:r>
              <a:rPr lang="es" baseline="30000"/>
              <a:t>2</a:t>
            </a:r>
            <a:r>
              <a:rPr lang="es"/>
              <a:t>)=</a:t>
            </a:r>
            <a:r>
              <a:rPr lang="es" sz="2400"/>
              <a:t>∫</a:t>
            </a:r>
            <a:r>
              <a:rPr lang="es"/>
              <a:t>(t-μ)</a:t>
            </a:r>
            <a:r>
              <a:rPr lang="es" baseline="30000"/>
              <a:t>2</a:t>
            </a:r>
            <a:r>
              <a:rPr lang="es"/>
              <a:t> f(t) dt</a:t>
            </a:r>
            <a:r>
              <a:rPr lang="es" sz="2400"/>
              <a:t> </a:t>
            </a:r>
            <a:r>
              <a:rPr lang="es"/>
              <a:t>ó  σ</a:t>
            </a:r>
            <a:r>
              <a:rPr lang="es" baseline="30000"/>
              <a:t>2</a:t>
            </a:r>
            <a:r>
              <a:rPr lang="es"/>
              <a:t>=E((X-μ)</a:t>
            </a:r>
            <a:r>
              <a:rPr lang="es" baseline="30000"/>
              <a:t>2</a:t>
            </a:r>
            <a:r>
              <a:rPr lang="es"/>
              <a:t>)=∑(t-μ)</a:t>
            </a:r>
            <a:r>
              <a:rPr lang="es" baseline="30000"/>
              <a:t>2</a:t>
            </a:r>
            <a:r>
              <a:rPr lang="es"/>
              <a:t> f(t) </a:t>
            </a:r>
            <a:r>
              <a:rPr lang="es">
                <a:solidFill>
                  <a:srgbClr val="155B54"/>
                </a:solidFill>
              </a:rPr>
              <a:t>(σ</a:t>
            </a:r>
            <a:r>
              <a:rPr lang="es" baseline="30000">
                <a:solidFill>
                  <a:srgbClr val="155B54"/>
                </a:solidFill>
              </a:rPr>
              <a:t>2</a:t>
            </a:r>
            <a:r>
              <a:rPr lang="es">
                <a:solidFill>
                  <a:srgbClr val="155B54"/>
                </a:solidFill>
              </a:rPr>
              <a:t>∈R</a:t>
            </a:r>
            <a:r>
              <a:rPr lang="es" baseline="30000">
                <a:solidFill>
                  <a:srgbClr val="155B54"/>
                </a:solidFill>
              </a:rPr>
              <a:t>+</a:t>
            </a:r>
            <a:r>
              <a:rPr lang="es">
                <a:solidFill>
                  <a:srgbClr val="155B54"/>
                </a:solidFill>
              </a:rPr>
              <a:t>)</a:t>
            </a:r>
            <a:endParaRPr/>
          </a:p>
          <a:p>
            <a:pPr marL="0" lvl="0" indent="0" algn="l" rtl="0">
              <a:spcBef>
                <a:spcPts val="1600"/>
              </a:spcBef>
              <a:spcAft>
                <a:spcPts val="1600"/>
              </a:spcAft>
              <a:buClr>
                <a:schemeClr val="dk1"/>
              </a:buClr>
              <a:buSzPts val="1100"/>
              <a:buFont typeface="Arial"/>
              <a:buNone/>
            </a:pPr>
            <a:r>
              <a:rPr lang="es" sz="1700">
                <a:solidFill>
                  <a:srgbClr val="1F887E"/>
                </a:solidFill>
              </a:rPr>
              <a:t>En una va con densidad normal coinciden con los parámetros </a:t>
            </a:r>
            <a:r>
              <a:rPr lang="es" sz="1700"/>
              <a:t>μ</a:t>
            </a:r>
            <a:r>
              <a:rPr lang="es" sz="1700">
                <a:solidFill>
                  <a:srgbClr val="1F887E"/>
                </a:solidFill>
              </a:rPr>
              <a:t>y </a:t>
            </a:r>
            <a:r>
              <a:rPr lang="es" sz="1700"/>
              <a:t>σ</a:t>
            </a:r>
            <a:r>
              <a:rPr lang="es" sz="1700" baseline="30000"/>
              <a:t>2</a:t>
            </a:r>
            <a:r>
              <a:rPr lang="es" sz="1700"/>
              <a:t> </a:t>
            </a:r>
            <a:r>
              <a:rPr lang="es" sz="1700">
                <a:solidFill>
                  <a:srgbClr val="1F887E"/>
                </a:solidFill>
              </a:rPr>
              <a:t>respectivamente</a:t>
            </a:r>
            <a:endParaRPr sz="1700">
              <a:solidFill>
                <a:srgbClr val="1F887E"/>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45"/>
          <p:cNvSpPr txBox="1">
            <a:spLocks noGrp="1"/>
          </p:cNvSpPr>
          <p:nvPr>
            <p:ph type="title"/>
          </p:nvPr>
        </p:nvSpPr>
        <p:spPr>
          <a:xfrm>
            <a:off x="311700" y="316800"/>
            <a:ext cx="3390600" cy="75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Media</a:t>
            </a:r>
            <a:endParaRPr/>
          </a:p>
        </p:txBody>
      </p:sp>
      <p:sp>
        <p:nvSpPr>
          <p:cNvPr id="316" name="Google Shape;316;p45"/>
          <p:cNvSpPr txBox="1">
            <a:spLocks noGrp="1"/>
          </p:cNvSpPr>
          <p:nvPr>
            <p:ph type="body" idx="1"/>
          </p:nvPr>
        </p:nvSpPr>
        <p:spPr>
          <a:xfrm>
            <a:off x="197375" y="1071600"/>
            <a:ext cx="8946600" cy="343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2000"/>
          </a:p>
          <a:p>
            <a:pPr marL="0" lvl="0" indent="0" algn="l" rtl="0">
              <a:spcBef>
                <a:spcPts val="1600"/>
              </a:spcBef>
              <a:spcAft>
                <a:spcPts val="0"/>
              </a:spcAft>
              <a:buNone/>
            </a:pPr>
            <a:r>
              <a:rPr lang="es" sz="2000" b="1">
                <a:solidFill>
                  <a:srgbClr val="1B786E"/>
                </a:solidFill>
              </a:rPr>
              <a:t>Media Muestral</a:t>
            </a:r>
            <a:r>
              <a:rPr lang="es" sz="2000"/>
              <a:t>   </a:t>
            </a:r>
            <a:r>
              <a:rPr lang="es" sz="1800"/>
              <a:t>∑</a:t>
            </a:r>
            <a:r>
              <a:rPr lang="es" sz="1800" baseline="-25000"/>
              <a:t>i=1</a:t>
            </a:r>
            <a:r>
              <a:rPr lang="es" sz="1800" baseline="30000"/>
              <a:t>n</a:t>
            </a:r>
            <a:r>
              <a:rPr lang="es" sz="1800"/>
              <a:t> x</a:t>
            </a:r>
            <a:r>
              <a:rPr lang="es" sz="1800" baseline="-25000"/>
              <a:t>i</a:t>
            </a:r>
            <a:r>
              <a:rPr lang="es" sz="1800"/>
              <a:t> /n, (promedio)  </a:t>
            </a:r>
            <a:r>
              <a:rPr lang="es" sz="2000"/>
              <a:t>vs</a:t>
            </a:r>
            <a:endParaRPr sz="2000"/>
          </a:p>
          <a:p>
            <a:pPr marL="0" lvl="0" indent="0" algn="l" rtl="0">
              <a:spcBef>
                <a:spcPts val="1600"/>
              </a:spcBef>
              <a:spcAft>
                <a:spcPts val="0"/>
              </a:spcAft>
              <a:buClr>
                <a:schemeClr val="dk1"/>
              </a:buClr>
              <a:buSzPts val="1100"/>
              <a:buFont typeface="Arial"/>
              <a:buNone/>
            </a:pPr>
            <a:r>
              <a:rPr lang="es" sz="2000" b="1">
                <a:solidFill>
                  <a:srgbClr val="1B786E"/>
                </a:solidFill>
              </a:rPr>
              <a:t>Media o Esperanza de una v.a. X</a:t>
            </a:r>
            <a:r>
              <a:rPr lang="es" sz="2000"/>
              <a:t>, </a:t>
            </a:r>
            <a:r>
              <a:rPr lang="es" sz="1800"/>
              <a:t>μ=E(X)= </a:t>
            </a:r>
            <a:r>
              <a:rPr lang="es" sz="2400"/>
              <a:t>∫</a:t>
            </a:r>
            <a:r>
              <a:rPr lang="es" sz="1800"/>
              <a:t>t f(t) dt</a:t>
            </a:r>
            <a:r>
              <a:rPr lang="es" sz="2400"/>
              <a:t> </a:t>
            </a:r>
            <a:r>
              <a:rPr lang="es" sz="1800"/>
              <a:t>ó  μ=E(X)=∑t f(t)</a:t>
            </a:r>
            <a:endParaRPr sz="2000"/>
          </a:p>
          <a:p>
            <a:pPr marL="0" lvl="0" indent="0" algn="l" rtl="0">
              <a:spcBef>
                <a:spcPts val="1600"/>
              </a:spcBef>
              <a:spcAft>
                <a:spcPts val="0"/>
              </a:spcAft>
              <a:buClr>
                <a:schemeClr val="dk1"/>
              </a:buClr>
              <a:buSzPts val="1100"/>
              <a:buFont typeface="Arial"/>
              <a:buNone/>
            </a:pPr>
            <a:endParaRPr sz="2000">
              <a:solidFill>
                <a:srgbClr val="999999"/>
              </a:solidFill>
            </a:endParaRPr>
          </a:p>
          <a:p>
            <a:pPr marL="0" lvl="0" indent="0" algn="l" rtl="0">
              <a:spcBef>
                <a:spcPts val="1600"/>
              </a:spcBef>
              <a:spcAft>
                <a:spcPts val="1600"/>
              </a:spcAft>
              <a:buClr>
                <a:schemeClr val="dk1"/>
              </a:buClr>
              <a:buSzPts val="1100"/>
              <a:buFont typeface="Arial"/>
              <a:buNone/>
            </a:pPr>
            <a:endParaRPr sz="2000">
              <a:solidFill>
                <a:srgbClr val="999999"/>
              </a:solidFill>
            </a:endParaRPr>
          </a:p>
        </p:txBody>
      </p:sp>
      <p:pic>
        <p:nvPicPr>
          <p:cNvPr id="317" name="Google Shape;317;p45"/>
          <p:cNvPicPr preferRelativeResize="0"/>
          <p:nvPr/>
        </p:nvPicPr>
        <p:blipFill rotWithShape="1">
          <a:blip r:embed="rId3">
            <a:alphaModFix/>
          </a:blip>
          <a:srcRect t="64180"/>
          <a:stretch/>
        </p:blipFill>
        <p:spPr>
          <a:xfrm>
            <a:off x="4811000" y="3151125"/>
            <a:ext cx="2606700" cy="1601176"/>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46"/>
          <p:cNvSpPr txBox="1">
            <a:spLocks noGrp="1"/>
          </p:cNvSpPr>
          <p:nvPr>
            <p:ph type="title"/>
          </p:nvPr>
        </p:nvSpPr>
        <p:spPr>
          <a:xfrm>
            <a:off x="311700" y="316800"/>
            <a:ext cx="3390600" cy="75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Mediana</a:t>
            </a:r>
            <a:endParaRPr/>
          </a:p>
        </p:txBody>
      </p:sp>
      <p:sp>
        <p:nvSpPr>
          <p:cNvPr id="323" name="Google Shape;323;p46"/>
          <p:cNvSpPr txBox="1">
            <a:spLocks noGrp="1"/>
          </p:cNvSpPr>
          <p:nvPr>
            <p:ph type="body" idx="1"/>
          </p:nvPr>
        </p:nvSpPr>
        <p:spPr>
          <a:xfrm>
            <a:off x="197375" y="1071600"/>
            <a:ext cx="8946600" cy="343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sz="2000"/>
              <a:t>Se ordena la muestra de menor a mayor: x</a:t>
            </a:r>
            <a:r>
              <a:rPr lang="es" sz="2000" baseline="-25000"/>
              <a:t>(1)</a:t>
            </a:r>
            <a:r>
              <a:rPr lang="es" sz="2000"/>
              <a:t>,...x</a:t>
            </a:r>
            <a:r>
              <a:rPr lang="es" sz="2000" baseline="-25000"/>
              <a:t>(n)</a:t>
            </a:r>
            <a:r>
              <a:rPr lang="es" sz="2000"/>
              <a:t> y se calcula...</a:t>
            </a:r>
            <a:endParaRPr sz="2000"/>
          </a:p>
          <a:p>
            <a:pPr marL="0" lvl="0" indent="0" algn="l" rtl="0">
              <a:spcBef>
                <a:spcPts val="1600"/>
              </a:spcBef>
              <a:spcAft>
                <a:spcPts val="0"/>
              </a:spcAft>
              <a:buNone/>
            </a:pPr>
            <a:r>
              <a:rPr lang="es" sz="2000" b="1">
                <a:solidFill>
                  <a:srgbClr val="1B786E"/>
                </a:solidFill>
              </a:rPr>
              <a:t>Mediana Muestral</a:t>
            </a:r>
            <a:r>
              <a:rPr lang="es" sz="2000"/>
              <a:t>   vs</a:t>
            </a:r>
            <a:endParaRPr sz="2000"/>
          </a:p>
          <a:p>
            <a:pPr marL="0" lvl="0" indent="0" algn="l" rtl="0">
              <a:spcBef>
                <a:spcPts val="1600"/>
              </a:spcBef>
              <a:spcAft>
                <a:spcPts val="0"/>
              </a:spcAft>
              <a:buClr>
                <a:schemeClr val="dk1"/>
              </a:buClr>
              <a:buSzPts val="1100"/>
              <a:buFont typeface="Arial"/>
              <a:buNone/>
            </a:pPr>
            <a:r>
              <a:rPr lang="es" sz="2000" b="1">
                <a:solidFill>
                  <a:srgbClr val="1B786E"/>
                </a:solidFill>
              </a:rPr>
              <a:t>Mediana de una v.a. X</a:t>
            </a:r>
            <a:r>
              <a:rPr lang="es" sz="2000"/>
              <a:t>, o de su densidad es x</a:t>
            </a:r>
            <a:r>
              <a:rPr lang="es" sz="2000" baseline="-25000"/>
              <a:t>e</a:t>
            </a:r>
            <a:r>
              <a:rPr lang="es" sz="2000"/>
              <a:t> tal que P(X≤x</a:t>
            </a:r>
            <a:r>
              <a:rPr lang="es" sz="2000" baseline="-25000"/>
              <a:t>e</a:t>
            </a:r>
            <a:r>
              <a:rPr lang="es" sz="2000"/>
              <a:t>)=P(X≥x</a:t>
            </a:r>
            <a:r>
              <a:rPr lang="es" sz="2000" baseline="-25000"/>
              <a:t>e</a:t>
            </a:r>
            <a:r>
              <a:rPr lang="es" sz="2000"/>
              <a:t>)</a:t>
            </a:r>
            <a:endParaRPr sz="2000"/>
          </a:p>
          <a:p>
            <a:pPr marL="0" lvl="0" indent="0" algn="l" rtl="0">
              <a:spcBef>
                <a:spcPts val="1600"/>
              </a:spcBef>
              <a:spcAft>
                <a:spcPts val="0"/>
              </a:spcAft>
              <a:buClr>
                <a:schemeClr val="dk1"/>
              </a:buClr>
              <a:buSzPts val="1100"/>
              <a:buFont typeface="Arial"/>
              <a:buNone/>
            </a:pPr>
            <a:endParaRPr sz="2000">
              <a:solidFill>
                <a:srgbClr val="999999"/>
              </a:solidFill>
            </a:endParaRPr>
          </a:p>
          <a:p>
            <a:pPr marL="0" lvl="0" indent="0" algn="l" rtl="0">
              <a:spcBef>
                <a:spcPts val="1600"/>
              </a:spcBef>
              <a:spcAft>
                <a:spcPts val="1600"/>
              </a:spcAft>
              <a:buClr>
                <a:schemeClr val="dk1"/>
              </a:buClr>
              <a:buSzPts val="1100"/>
              <a:buFont typeface="Arial"/>
              <a:buNone/>
            </a:pPr>
            <a:endParaRPr sz="2000">
              <a:solidFill>
                <a:srgbClr val="999999"/>
              </a:solidFill>
            </a:endParaRPr>
          </a:p>
        </p:txBody>
      </p:sp>
      <p:pic>
        <p:nvPicPr>
          <p:cNvPr id="324" name="Google Shape;324;p46"/>
          <p:cNvPicPr preferRelativeResize="0"/>
          <p:nvPr/>
        </p:nvPicPr>
        <p:blipFill rotWithShape="1">
          <a:blip r:embed="rId3">
            <a:alphaModFix/>
          </a:blip>
          <a:srcRect t="32884" b="34873"/>
          <a:stretch/>
        </p:blipFill>
        <p:spPr>
          <a:xfrm>
            <a:off x="4952250" y="3069500"/>
            <a:ext cx="2606749" cy="1441301"/>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47"/>
          <p:cNvSpPr txBox="1">
            <a:spLocks noGrp="1"/>
          </p:cNvSpPr>
          <p:nvPr>
            <p:ph type="title"/>
          </p:nvPr>
        </p:nvSpPr>
        <p:spPr>
          <a:xfrm>
            <a:off x="311700" y="316800"/>
            <a:ext cx="3390600" cy="75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Moda</a:t>
            </a:r>
            <a:endParaRPr/>
          </a:p>
        </p:txBody>
      </p:sp>
      <p:sp>
        <p:nvSpPr>
          <p:cNvPr id="330" name="Google Shape;330;p47"/>
          <p:cNvSpPr txBox="1">
            <a:spLocks noGrp="1"/>
          </p:cNvSpPr>
          <p:nvPr>
            <p:ph type="body" idx="1"/>
          </p:nvPr>
        </p:nvSpPr>
        <p:spPr>
          <a:xfrm>
            <a:off x="311700" y="1224188"/>
            <a:ext cx="8491500" cy="3362700"/>
          </a:xfrm>
          <a:prstGeom prst="rect">
            <a:avLst/>
          </a:prstGeom>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s" sz="1900"/>
              <a:t>Resultado (o intervalo) con mayor frecuencia en la</a:t>
            </a:r>
            <a:r>
              <a:rPr lang="es" sz="1900" b="1"/>
              <a:t> muestra</a:t>
            </a:r>
            <a:r>
              <a:rPr lang="es" sz="1900"/>
              <a:t>. vs</a:t>
            </a:r>
            <a:endParaRPr sz="1900"/>
          </a:p>
          <a:p>
            <a:pPr marL="0" lvl="0" indent="0" algn="l" rtl="0">
              <a:lnSpc>
                <a:spcPct val="200000"/>
              </a:lnSpc>
              <a:spcBef>
                <a:spcPts val="1600"/>
              </a:spcBef>
              <a:spcAft>
                <a:spcPts val="1600"/>
              </a:spcAft>
              <a:buNone/>
            </a:pPr>
            <a:r>
              <a:rPr lang="es" sz="1900"/>
              <a:t>Valor con </a:t>
            </a:r>
            <a:r>
              <a:rPr lang="es" sz="1900" b="1"/>
              <a:t>mayor probabilidad</a:t>
            </a:r>
            <a:r>
              <a:rPr lang="es" sz="1900"/>
              <a:t> o </a:t>
            </a:r>
            <a:r>
              <a:rPr lang="es" sz="1900" b="1"/>
              <a:t>densidad </a:t>
            </a:r>
            <a:r>
              <a:rPr lang="es" sz="1800"/>
              <a:t>x</a:t>
            </a:r>
            <a:r>
              <a:rPr lang="es" sz="1800" baseline="-25000"/>
              <a:t>o</a:t>
            </a:r>
            <a:r>
              <a:rPr lang="es" sz="1800"/>
              <a:t> tal que f(x</a:t>
            </a:r>
            <a:r>
              <a:rPr lang="es" sz="1800" baseline="-25000"/>
              <a:t>o</a:t>
            </a:r>
            <a:r>
              <a:rPr lang="es" sz="1800"/>
              <a:t>)≥f(x), p/ todo x</a:t>
            </a:r>
            <a:endParaRPr sz="1900" b="1"/>
          </a:p>
        </p:txBody>
      </p:sp>
      <p:pic>
        <p:nvPicPr>
          <p:cNvPr id="331" name="Google Shape;331;p47"/>
          <p:cNvPicPr preferRelativeResize="0"/>
          <p:nvPr/>
        </p:nvPicPr>
        <p:blipFill>
          <a:blip r:embed="rId3">
            <a:alphaModFix amt="70000"/>
          </a:blip>
          <a:stretch>
            <a:fillRect/>
          </a:stretch>
        </p:blipFill>
        <p:spPr>
          <a:xfrm>
            <a:off x="310550" y="2860513"/>
            <a:ext cx="3086100" cy="1476375"/>
          </a:xfrm>
          <a:prstGeom prst="rect">
            <a:avLst/>
          </a:prstGeom>
          <a:noFill/>
          <a:ln>
            <a:noFill/>
          </a:ln>
        </p:spPr>
      </p:pic>
      <p:pic>
        <p:nvPicPr>
          <p:cNvPr id="332" name="Google Shape;332;p47"/>
          <p:cNvPicPr preferRelativeResize="0"/>
          <p:nvPr/>
        </p:nvPicPr>
        <p:blipFill>
          <a:blip r:embed="rId4">
            <a:alphaModFix/>
          </a:blip>
          <a:stretch>
            <a:fillRect/>
          </a:stretch>
        </p:blipFill>
        <p:spPr>
          <a:xfrm>
            <a:off x="6053550" y="2807050"/>
            <a:ext cx="3116057" cy="2029725"/>
          </a:xfrm>
          <a:prstGeom prst="rect">
            <a:avLst/>
          </a:prstGeom>
          <a:noFill/>
          <a:ln>
            <a:noFill/>
          </a:ln>
        </p:spPr>
      </p:pic>
      <p:sp>
        <p:nvSpPr>
          <p:cNvPr id="333" name="Google Shape;333;p47"/>
          <p:cNvSpPr/>
          <p:nvPr/>
        </p:nvSpPr>
        <p:spPr>
          <a:xfrm>
            <a:off x="7446960" y="4505698"/>
            <a:ext cx="461025" cy="302575"/>
          </a:xfrm>
          <a:prstGeom prst="flowChartOffpageConnector">
            <a:avLst/>
          </a:prstGeom>
          <a:noFill/>
          <a:ln w="28575" cap="flat" cmpd="sng">
            <a:solidFill>
              <a:srgbClr val="249C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47"/>
          <p:cNvSpPr txBox="1"/>
          <p:nvPr/>
        </p:nvSpPr>
        <p:spPr>
          <a:xfrm>
            <a:off x="7389650" y="4775925"/>
            <a:ext cx="849900" cy="215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a:solidFill>
                  <a:srgbClr val="249C90"/>
                </a:solidFill>
                <a:latin typeface="Open Sans"/>
                <a:ea typeface="Open Sans"/>
                <a:cs typeface="Open Sans"/>
                <a:sym typeface="Open Sans"/>
              </a:rPr>
              <a:t>Moda</a:t>
            </a:r>
            <a:endParaRPr>
              <a:solidFill>
                <a:srgbClr val="249C90"/>
              </a:solidFill>
              <a:latin typeface="Open Sans"/>
              <a:ea typeface="Open Sans"/>
              <a:cs typeface="Open Sans"/>
              <a:sym typeface="Open Sans"/>
            </a:endParaRPr>
          </a:p>
        </p:txBody>
      </p:sp>
      <p:pic>
        <p:nvPicPr>
          <p:cNvPr id="335" name="Google Shape;335;p47"/>
          <p:cNvPicPr preferRelativeResize="0"/>
          <p:nvPr/>
        </p:nvPicPr>
        <p:blipFill rotWithShape="1">
          <a:blip r:embed="rId5">
            <a:alphaModFix/>
          </a:blip>
          <a:srcRect r="3222" b="66972"/>
          <a:stretch/>
        </p:blipFill>
        <p:spPr>
          <a:xfrm>
            <a:off x="3702300" y="3433200"/>
            <a:ext cx="2522749" cy="147637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48"/>
          <p:cNvSpPr txBox="1">
            <a:spLocks noGrp="1"/>
          </p:cNvSpPr>
          <p:nvPr>
            <p:ph type="title"/>
          </p:nvPr>
        </p:nvSpPr>
        <p:spPr>
          <a:xfrm>
            <a:off x="311700" y="316800"/>
            <a:ext cx="5421900" cy="75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Comparación de Medidas</a:t>
            </a:r>
            <a:endParaRPr/>
          </a:p>
        </p:txBody>
      </p:sp>
      <p:pic>
        <p:nvPicPr>
          <p:cNvPr id="341" name="Google Shape;341;p48"/>
          <p:cNvPicPr preferRelativeResize="0"/>
          <p:nvPr/>
        </p:nvPicPr>
        <p:blipFill>
          <a:blip r:embed="rId3">
            <a:alphaModFix/>
          </a:blip>
          <a:stretch>
            <a:fillRect/>
          </a:stretch>
        </p:blipFill>
        <p:spPr>
          <a:xfrm>
            <a:off x="5150100" y="381000"/>
            <a:ext cx="2606762" cy="4470201"/>
          </a:xfrm>
          <a:prstGeom prst="rect">
            <a:avLst/>
          </a:prstGeom>
          <a:noFill/>
          <a:ln>
            <a:noFill/>
          </a:ln>
        </p:spPr>
      </p:pic>
      <p:sp>
        <p:nvSpPr>
          <p:cNvPr id="342" name="Google Shape;342;p48"/>
          <p:cNvSpPr txBox="1"/>
          <p:nvPr/>
        </p:nvSpPr>
        <p:spPr>
          <a:xfrm>
            <a:off x="439400" y="4851200"/>
            <a:ext cx="8933100" cy="1475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000" u="sng">
                <a:solidFill>
                  <a:schemeClr val="hlink"/>
                </a:solidFill>
                <a:hlinkClick r:id="rId4"/>
              </a:rPr>
              <a:t>https://upload.wikimedia.org/wikipedia/commons/thumb/3/33/Visualisation_mode_median_mean.svg/512px-Visualisation_mode_median_mean.svg.png</a:t>
            </a:r>
            <a:endParaRPr sz="1000">
              <a:latin typeface="Open Sans"/>
              <a:ea typeface="Open Sans"/>
              <a:cs typeface="Open Sans"/>
              <a:sym typeface="Open Sans"/>
            </a:endParaRPr>
          </a:p>
        </p:txBody>
      </p:sp>
      <p:sp>
        <p:nvSpPr>
          <p:cNvPr id="343" name="Google Shape;343;p48"/>
          <p:cNvSpPr txBox="1"/>
          <p:nvPr/>
        </p:nvSpPr>
        <p:spPr>
          <a:xfrm>
            <a:off x="2216700" y="1258650"/>
            <a:ext cx="2941500" cy="3169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2800">
                <a:latin typeface="Open Sans"/>
                <a:ea typeface="Open Sans"/>
                <a:cs typeface="Open Sans"/>
                <a:sym typeface="Open Sans"/>
              </a:rPr>
              <a:t>Moda:</a:t>
            </a:r>
            <a:endParaRPr sz="2800">
              <a:latin typeface="Open Sans"/>
              <a:ea typeface="Open Sans"/>
              <a:cs typeface="Open Sans"/>
              <a:sym typeface="Open Sans"/>
            </a:endParaRPr>
          </a:p>
          <a:p>
            <a:pPr marL="0" lvl="0" indent="0" algn="l" rtl="0">
              <a:spcBef>
                <a:spcPts val="0"/>
              </a:spcBef>
              <a:spcAft>
                <a:spcPts val="0"/>
              </a:spcAft>
              <a:buNone/>
            </a:pPr>
            <a:endParaRPr sz="2800">
              <a:latin typeface="Open Sans"/>
              <a:ea typeface="Open Sans"/>
              <a:cs typeface="Open Sans"/>
              <a:sym typeface="Open Sans"/>
            </a:endParaRPr>
          </a:p>
          <a:p>
            <a:pPr marL="0" lvl="0" indent="0" algn="l" rtl="0">
              <a:spcBef>
                <a:spcPts val="0"/>
              </a:spcBef>
              <a:spcAft>
                <a:spcPts val="0"/>
              </a:spcAft>
              <a:buNone/>
            </a:pPr>
            <a:endParaRPr sz="2800">
              <a:latin typeface="Open Sans"/>
              <a:ea typeface="Open Sans"/>
              <a:cs typeface="Open Sans"/>
              <a:sym typeface="Open Sans"/>
            </a:endParaRPr>
          </a:p>
          <a:p>
            <a:pPr marL="0" lvl="0" indent="0" algn="l" rtl="0">
              <a:spcBef>
                <a:spcPts val="0"/>
              </a:spcBef>
              <a:spcAft>
                <a:spcPts val="0"/>
              </a:spcAft>
              <a:buNone/>
            </a:pPr>
            <a:r>
              <a:rPr lang="es" sz="2800">
                <a:latin typeface="Open Sans"/>
                <a:ea typeface="Open Sans"/>
                <a:cs typeface="Open Sans"/>
                <a:sym typeface="Open Sans"/>
              </a:rPr>
              <a:t>Mediana:</a:t>
            </a:r>
            <a:endParaRPr sz="2800">
              <a:latin typeface="Open Sans"/>
              <a:ea typeface="Open Sans"/>
              <a:cs typeface="Open Sans"/>
              <a:sym typeface="Open Sans"/>
            </a:endParaRPr>
          </a:p>
          <a:p>
            <a:pPr marL="0" lvl="0" indent="0" algn="l" rtl="0">
              <a:spcBef>
                <a:spcPts val="0"/>
              </a:spcBef>
              <a:spcAft>
                <a:spcPts val="0"/>
              </a:spcAft>
              <a:buNone/>
            </a:pPr>
            <a:endParaRPr sz="2800">
              <a:latin typeface="Open Sans"/>
              <a:ea typeface="Open Sans"/>
              <a:cs typeface="Open Sans"/>
              <a:sym typeface="Open Sans"/>
            </a:endParaRPr>
          </a:p>
          <a:p>
            <a:pPr marL="0" lvl="0" indent="0" algn="l" rtl="0">
              <a:spcBef>
                <a:spcPts val="0"/>
              </a:spcBef>
              <a:spcAft>
                <a:spcPts val="0"/>
              </a:spcAft>
              <a:buNone/>
            </a:pPr>
            <a:endParaRPr sz="2800">
              <a:latin typeface="Open Sans"/>
              <a:ea typeface="Open Sans"/>
              <a:cs typeface="Open Sans"/>
              <a:sym typeface="Open Sans"/>
            </a:endParaRPr>
          </a:p>
          <a:p>
            <a:pPr marL="0" lvl="0" indent="0" algn="l" rtl="0">
              <a:spcBef>
                <a:spcPts val="0"/>
              </a:spcBef>
              <a:spcAft>
                <a:spcPts val="0"/>
              </a:spcAft>
              <a:buNone/>
            </a:pPr>
            <a:r>
              <a:rPr lang="es" sz="2800">
                <a:latin typeface="Open Sans"/>
                <a:ea typeface="Open Sans"/>
                <a:cs typeface="Open Sans"/>
                <a:sym typeface="Open Sans"/>
              </a:rPr>
              <a:t>Media:</a:t>
            </a:r>
            <a:endParaRPr sz="2800">
              <a:latin typeface="Open Sans"/>
              <a:ea typeface="Open Sans"/>
              <a:cs typeface="Open Sans"/>
              <a:sym typeface="Open Sans"/>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49"/>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Otras Medidas, del </a:t>
            </a:r>
            <a:r>
              <a:rPr lang="es" u="sng"/>
              <a:t>modelo</a:t>
            </a:r>
            <a:r>
              <a:rPr lang="es"/>
              <a:t> (de una v.a.)</a:t>
            </a:r>
            <a:endParaRPr/>
          </a:p>
        </p:txBody>
      </p:sp>
      <p:sp>
        <p:nvSpPr>
          <p:cNvPr id="349" name="Google Shape;349;p49"/>
          <p:cNvSpPr txBox="1">
            <a:spLocks noGrp="1"/>
          </p:cNvSpPr>
          <p:nvPr>
            <p:ph type="body" idx="1"/>
          </p:nvPr>
        </p:nvSpPr>
        <p:spPr>
          <a:xfrm>
            <a:off x="311700" y="1225225"/>
            <a:ext cx="8832300" cy="335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Dada una </a:t>
            </a:r>
            <a:r>
              <a:rPr lang="es" b="1" u="sng"/>
              <a:t>función de densidad f</a:t>
            </a:r>
            <a:r>
              <a:rPr lang="es"/>
              <a:t> (de una v.a. X) se define:</a:t>
            </a:r>
            <a:endParaRPr/>
          </a:p>
          <a:p>
            <a:pPr marL="0" lvl="0" indent="0" algn="l" rtl="0">
              <a:spcBef>
                <a:spcPts val="1600"/>
              </a:spcBef>
              <a:spcAft>
                <a:spcPts val="1600"/>
              </a:spcAft>
              <a:buNone/>
            </a:pPr>
            <a:r>
              <a:rPr lang="es" b="1">
                <a:solidFill>
                  <a:srgbClr val="155B54"/>
                </a:solidFill>
              </a:rPr>
              <a:t>Desvío</a:t>
            </a:r>
            <a:r>
              <a:rPr lang="es"/>
              <a:t>:  </a:t>
            </a:r>
            <a:r>
              <a:rPr lang="es" sz="2200"/>
              <a:t>σ</a:t>
            </a:r>
            <a:r>
              <a:rPr lang="es"/>
              <a:t> =(</a:t>
            </a:r>
            <a:r>
              <a:rPr lang="es" sz="2200"/>
              <a:t>σ</a:t>
            </a:r>
            <a:r>
              <a:rPr lang="es" sz="2200" baseline="30000"/>
              <a:t>2</a:t>
            </a:r>
            <a:r>
              <a:rPr lang="es"/>
              <a:t>)</a:t>
            </a:r>
            <a:r>
              <a:rPr lang="es" baseline="30000"/>
              <a:t>½</a:t>
            </a:r>
            <a:r>
              <a:rPr lang="es"/>
              <a:t>=(Var(X))</a:t>
            </a:r>
            <a:r>
              <a:rPr lang="es" baseline="30000"/>
              <a:t>½    -</a:t>
            </a:r>
            <a:r>
              <a:rPr lang="es" b="1">
                <a:solidFill>
                  <a:srgbClr val="155B54"/>
                </a:solidFill>
              </a:rPr>
              <a:t>Kurtosis</a:t>
            </a:r>
            <a:r>
              <a:rPr lang="es"/>
              <a:t>: E((X-μ)</a:t>
            </a:r>
            <a:r>
              <a:rPr lang="es" baseline="30000"/>
              <a:t>4</a:t>
            </a:r>
            <a:r>
              <a:rPr lang="es"/>
              <a:t>)/σ</a:t>
            </a:r>
            <a:r>
              <a:rPr lang="es" baseline="30000"/>
              <a:t>4</a:t>
            </a:r>
            <a:r>
              <a:rPr lang="es"/>
              <a:t>  -</a:t>
            </a:r>
            <a:r>
              <a:rPr lang="es" b="1">
                <a:solidFill>
                  <a:srgbClr val="155B54"/>
                </a:solidFill>
              </a:rPr>
              <a:t>Sesgo/Asimetría</a:t>
            </a:r>
            <a:r>
              <a:rPr lang="es"/>
              <a:t>: E(X-μ)</a:t>
            </a:r>
            <a:r>
              <a:rPr lang="es" baseline="30000"/>
              <a:t>3</a:t>
            </a:r>
            <a:r>
              <a:rPr lang="es"/>
              <a:t>/σ</a:t>
            </a:r>
            <a:r>
              <a:rPr lang="es" baseline="30000"/>
              <a:t>3</a:t>
            </a:r>
            <a:endParaRPr/>
          </a:p>
        </p:txBody>
      </p:sp>
      <p:pic>
        <p:nvPicPr>
          <p:cNvPr id="350" name="Google Shape;350;p49"/>
          <p:cNvPicPr preferRelativeResize="0"/>
          <p:nvPr/>
        </p:nvPicPr>
        <p:blipFill>
          <a:blip r:embed="rId3">
            <a:alphaModFix/>
          </a:blip>
          <a:stretch>
            <a:fillRect/>
          </a:stretch>
        </p:blipFill>
        <p:spPr>
          <a:xfrm>
            <a:off x="4349425" y="2527800"/>
            <a:ext cx="5037999" cy="2471050"/>
          </a:xfrm>
          <a:prstGeom prst="rect">
            <a:avLst/>
          </a:prstGeom>
          <a:noFill/>
          <a:ln>
            <a:noFill/>
          </a:ln>
        </p:spPr>
      </p:pic>
      <p:pic>
        <p:nvPicPr>
          <p:cNvPr id="351" name="Google Shape;351;p49"/>
          <p:cNvPicPr preferRelativeResize="0"/>
          <p:nvPr/>
        </p:nvPicPr>
        <p:blipFill>
          <a:blip r:embed="rId4">
            <a:alphaModFix/>
          </a:blip>
          <a:stretch>
            <a:fillRect/>
          </a:stretch>
        </p:blipFill>
        <p:spPr>
          <a:xfrm>
            <a:off x="-94052" y="2564500"/>
            <a:ext cx="4744702" cy="238207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50"/>
          <p:cNvSpPr txBox="1">
            <a:spLocks noGrp="1"/>
          </p:cNvSpPr>
          <p:nvPr>
            <p:ph type="title"/>
          </p:nvPr>
        </p:nvSpPr>
        <p:spPr>
          <a:xfrm>
            <a:off x="311700" y="316800"/>
            <a:ext cx="3390600" cy="75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Percentiles</a:t>
            </a:r>
            <a:endParaRPr/>
          </a:p>
        </p:txBody>
      </p:sp>
      <p:pic>
        <p:nvPicPr>
          <p:cNvPr id="357" name="Google Shape;357;p50"/>
          <p:cNvPicPr preferRelativeResize="0"/>
          <p:nvPr/>
        </p:nvPicPr>
        <p:blipFill>
          <a:blip r:embed="rId3">
            <a:alphaModFix/>
          </a:blip>
          <a:stretch>
            <a:fillRect/>
          </a:stretch>
        </p:blipFill>
        <p:spPr>
          <a:xfrm>
            <a:off x="335825" y="1611500"/>
            <a:ext cx="7285427" cy="3475526"/>
          </a:xfrm>
          <a:prstGeom prst="rect">
            <a:avLst/>
          </a:prstGeom>
          <a:noFill/>
          <a:ln>
            <a:noFill/>
          </a:ln>
        </p:spPr>
      </p:pic>
      <p:sp>
        <p:nvSpPr>
          <p:cNvPr id="358" name="Google Shape;358;p50"/>
          <p:cNvSpPr txBox="1">
            <a:spLocks noGrp="1"/>
          </p:cNvSpPr>
          <p:nvPr>
            <p:ph type="body" idx="1"/>
          </p:nvPr>
        </p:nvSpPr>
        <p:spPr>
          <a:xfrm>
            <a:off x="323650" y="1074600"/>
            <a:ext cx="8520600" cy="2115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sz="1800"/>
              <a:t>El percentil es una medida de posición. El p-ésimo percentil o percentil p</a:t>
            </a:r>
            <a:r>
              <a:rPr lang="es" sz="1300"/>
              <a:t>х</a:t>
            </a:r>
            <a:r>
              <a:rPr lang="es" sz="1800"/>
              <a:t>100% , es el x</a:t>
            </a:r>
            <a:r>
              <a:rPr lang="es" sz="1800" baseline="-25000"/>
              <a:t>p</a:t>
            </a:r>
            <a:r>
              <a:rPr lang="es" sz="1800"/>
              <a:t> tal que P(X≤x</a:t>
            </a:r>
            <a:r>
              <a:rPr lang="es" sz="1800" baseline="-25000"/>
              <a:t>p</a:t>
            </a:r>
            <a:r>
              <a:rPr lang="es" sz="1800"/>
              <a:t>)=p </a:t>
            </a:r>
            <a:endParaRPr sz="1800"/>
          </a:p>
          <a:p>
            <a:pPr marL="0" lvl="0" indent="0" algn="l" rtl="0">
              <a:spcBef>
                <a:spcPts val="1400"/>
              </a:spcBef>
              <a:spcAft>
                <a:spcPts val="0"/>
              </a:spcAft>
              <a:buNone/>
            </a:pPr>
            <a:endParaRPr sz="1800"/>
          </a:p>
          <a:p>
            <a:pPr marL="0" lvl="0" indent="0" algn="l" rtl="0">
              <a:spcBef>
                <a:spcPts val="1400"/>
              </a:spcBef>
              <a:spcAft>
                <a:spcPts val="0"/>
              </a:spcAft>
              <a:buNone/>
            </a:pPr>
            <a:endParaRPr sz="1800"/>
          </a:p>
          <a:p>
            <a:pPr marL="0" lvl="0" indent="0" algn="l" rtl="0">
              <a:spcBef>
                <a:spcPts val="1400"/>
              </a:spcBef>
              <a:spcAft>
                <a:spcPts val="0"/>
              </a:spcAft>
              <a:buNone/>
            </a:pPr>
            <a:endParaRPr sz="1800"/>
          </a:p>
          <a:p>
            <a:pPr marL="0" lvl="0" indent="0" algn="l" rtl="0">
              <a:spcBef>
                <a:spcPts val="1400"/>
              </a:spcBef>
              <a:spcAft>
                <a:spcPts val="0"/>
              </a:spcAft>
              <a:buNone/>
            </a:pPr>
            <a:endParaRPr sz="1800"/>
          </a:p>
          <a:p>
            <a:pPr marL="0" lvl="0" indent="0" algn="l" rtl="0">
              <a:spcBef>
                <a:spcPts val="1400"/>
              </a:spcBef>
              <a:spcAft>
                <a:spcPts val="0"/>
              </a:spcAft>
              <a:buNone/>
            </a:pPr>
            <a:endParaRPr sz="1800"/>
          </a:p>
          <a:p>
            <a:pPr marL="6858000" lvl="0" indent="457200" algn="l" rtl="0">
              <a:spcBef>
                <a:spcPts val="1400"/>
              </a:spcBef>
              <a:spcAft>
                <a:spcPts val="1400"/>
              </a:spcAft>
              <a:buNone/>
            </a:pPr>
            <a:r>
              <a:rPr lang="es" sz="1800" u="sng">
                <a:solidFill>
                  <a:schemeClr val="hlink"/>
                </a:solidFill>
                <a:hlinkClick r:id="rId4"/>
              </a:rPr>
              <a:t>link1</a:t>
            </a:r>
            <a:r>
              <a:rPr lang="es"/>
              <a:t>															</a:t>
            </a:r>
            <a:endParaRPr sz="18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51"/>
          <p:cNvSpPr txBox="1">
            <a:spLocks noGrp="1"/>
          </p:cNvSpPr>
          <p:nvPr>
            <p:ph type="title"/>
          </p:nvPr>
        </p:nvSpPr>
        <p:spPr>
          <a:xfrm>
            <a:off x="311700" y="315925"/>
            <a:ext cx="88323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Algunas propiedades de v.a. y su distribución</a:t>
            </a:r>
            <a:endParaRPr/>
          </a:p>
        </p:txBody>
      </p:sp>
      <p:sp>
        <p:nvSpPr>
          <p:cNvPr id="364" name="Google Shape;364;p51"/>
          <p:cNvSpPr txBox="1">
            <a:spLocks noGrp="1"/>
          </p:cNvSpPr>
          <p:nvPr>
            <p:ph type="body" idx="1"/>
          </p:nvPr>
        </p:nvSpPr>
        <p:spPr>
          <a:xfrm>
            <a:off x="311700" y="1834825"/>
            <a:ext cx="8520600" cy="13896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Clr>
                <a:srgbClr val="000000"/>
              </a:buClr>
              <a:buSzPts val="2400"/>
              <a:buChar char="●"/>
            </a:pPr>
            <a:r>
              <a:rPr lang="es" sz="2400">
                <a:solidFill>
                  <a:srgbClr val="000000"/>
                </a:solidFill>
              </a:rPr>
              <a:t>Si </a:t>
            </a:r>
            <a:r>
              <a:rPr lang="es" sz="2400"/>
              <a:t>X〜N(μ,σ</a:t>
            </a:r>
            <a:r>
              <a:rPr lang="es" sz="2400" baseline="30000"/>
              <a:t>2</a:t>
            </a:r>
            <a:r>
              <a:rPr lang="es" sz="2400"/>
              <a:t>) y Z=(X-μ)/σ, entonces Z〜N(0,1)</a:t>
            </a:r>
            <a:endParaRPr sz="2400"/>
          </a:p>
          <a:p>
            <a:pPr marL="457200" lvl="0" indent="0" algn="l" rtl="0">
              <a:spcBef>
                <a:spcPts val="0"/>
              </a:spcBef>
              <a:spcAft>
                <a:spcPts val="0"/>
              </a:spcAft>
              <a:buNone/>
            </a:pPr>
            <a:endParaRPr sz="2400"/>
          </a:p>
          <a:p>
            <a:pPr marL="457200" lvl="0" indent="0" algn="l" rtl="0">
              <a:spcBef>
                <a:spcPts val="0"/>
              </a:spcBef>
              <a:spcAft>
                <a:spcPts val="0"/>
              </a:spcAft>
              <a:buNone/>
            </a:pPr>
            <a:endParaRPr sz="2400"/>
          </a:p>
          <a:p>
            <a:pPr marL="457200" lvl="0" indent="-381000" algn="l" rtl="0">
              <a:spcBef>
                <a:spcPts val="0"/>
              </a:spcBef>
              <a:spcAft>
                <a:spcPts val="0"/>
              </a:spcAft>
              <a:buClr>
                <a:srgbClr val="000000"/>
              </a:buClr>
              <a:buSzPts val="2400"/>
              <a:buChar char="●"/>
            </a:pPr>
            <a:r>
              <a:rPr lang="es" sz="2400">
                <a:solidFill>
                  <a:srgbClr val="000000"/>
                </a:solidFill>
              </a:rPr>
              <a:t>Si </a:t>
            </a:r>
            <a:r>
              <a:rPr lang="es" sz="2400"/>
              <a:t>Z〜N(0,1), entonces Z</a:t>
            </a:r>
            <a:r>
              <a:rPr lang="es" sz="2400" baseline="30000"/>
              <a:t>2</a:t>
            </a:r>
            <a:r>
              <a:rPr lang="es" sz="2400"/>
              <a:t>〜</a:t>
            </a:r>
            <a:r>
              <a:rPr lang="es" sz="2800"/>
              <a:t>𝝌</a:t>
            </a:r>
            <a:r>
              <a:rPr lang="es" sz="2800" baseline="-25000"/>
              <a:t>1</a:t>
            </a:r>
            <a:r>
              <a:rPr lang="es" sz="2800" baseline="30000"/>
              <a:t>2</a:t>
            </a:r>
            <a:r>
              <a:rPr lang="es" sz="2400"/>
              <a:t> Chi cuadrado con 1 gl</a:t>
            </a:r>
            <a:endParaRPr sz="2400"/>
          </a:p>
          <a:p>
            <a:pPr marL="0" lvl="0" indent="0" algn="l" rtl="0">
              <a:spcBef>
                <a:spcPts val="0"/>
              </a:spcBef>
              <a:spcAft>
                <a:spcPts val="0"/>
              </a:spcAft>
              <a:buNone/>
            </a:pPr>
            <a:endParaRPr sz="2400"/>
          </a:p>
          <a:p>
            <a:pPr marL="457200" lvl="0" indent="0" algn="l" rtl="0">
              <a:spcBef>
                <a:spcPts val="0"/>
              </a:spcBef>
              <a:spcAft>
                <a:spcPts val="0"/>
              </a:spcAft>
              <a:buNone/>
            </a:pPr>
            <a:endParaRPr sz="2000"/>
          </a:p>
          <a:p>
            <a:pPr marL="0" lvl="0" indent="0" algn="l" rtl="0">
              <a:spcBef>
                <a:spcPts val="1600"/>
              </a:spcBef>
              <a:spcAft>
                <a:spcPts val="0"/>
              </a:spcAft>
              <a:buNone/>
            </a:pPr>
            <a:endParaRPr sz="2600"/>
          </a:p>
          <a:p>
            <a:pPr marL="0" lvl="0" indent="0" algn="l" rtl="0">
              <a:spcBef>
                <a:spcPts val="0"/>
              </a:spcBef>
              <a:spcAft>
                <a:spcPts val="0"/>
              </a:spcAft>
              <a:buNone/>
            </a:pPr>
            <a:endParaRPr sz="2600"/>
          </a:p>
          <a:p>
            <a:pPr marL="457200" lvl="0" indent="0" algn="l" rtl="0">
              <a:spcBef>
                <a:spcPts val="0"/>
              </a:spcBef>
              <a:spcAft>
                <a:spcPts val="0"/>
              </a:spcAft>
              <a:buNone/>
            </a:pPr>
            <a:endParaRPr sz="2600">
              <a:solidFill>
                <a:srgbClr val="000000"/>
              </a:solidFill>
            </a:endParaRPr>
          </a:p>
          <a:p>
            <a:pPr marL="0" lvl="0" indent="0" algn="l" rtl="0">
              <a:spcBef>
                <a:spcPts val="0"/>
              </a:spcBef>
              <a:spcAft>
                <a:spcPts val="0"/>
              </a:spcAft>
              <a:buNone/>
            </a:pPr>
            <a:endParaRPr sz="2600">
              <a:solidFill>
                <a:srgbClr val="000000"/>
              </a:solidFill>
            </a:endParaRPr>
          </a:p>
          <a:p>
            <a:pPr marL="0" lvl="0" indent="0" algn="l" rtl="0">
              <a:spcBef>
                <a:spcPts val="0"/>
              </a:spcBef>
              <a:spcAft>
                <a:spcPts val="0"/>
              </a:spcAft>
              <a:buNone/>
            </a:pPr>
            <a:endParaRPr sz="2600">
              <a:solidFill>
                <a:srgbClr val="000000"/>
              </a:solidFill>
            </a:endParaRPr>
          </a:p>
          <a:p>
            <a:pPr marL="0" lvl="0" indent="0" algn="l" rtl="0">
              <a:spcBef>
                <a:spcPts val="0"/>
              </a:spcBef>
              <a:spcAft>
                <a:spcPts val="1600"/>
              </a:spcAft>
              <a:buNone/>
            </a:pPr>
            <a:endParaRPr sz="2600">
              <a:solidFill>
                <a:srgbClr val="000000"/>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52"/>
          <p:cNvSpPr txBox="1">
            <a:spLocks noGrp="1"/>
          </p:cNvSpPr>
          <p:nvPr>
            <p:ph type="title"/>
          </p:nvPr>
        </p:nvSpPr>
        <p:spPr>
          <a:xfrm>
            <a:off x="751000" y="663725"/>
            <a:ext cx="8693100" cy="75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Población y muestra</a:t>
            </a:r>
            <a:endParaRPr/>
          </a:p>
        </p:txBody>
      </p:sp>
      <p:pic>
        <p:nvPicPr>
          <p:cNvPr id="370" name="Google Shape;370;p52"/>
          <p:cNvPicPr preferRelativeResize="0"/>
          <p:nvPr/>
        </p:nvPicPr>
        <p:blipFill>
          <a:blip r:embed="rId3">
            <a:alphaModFix/>
          </a:blip>
          <a:stretch>
            <a:fillRect/>
          </a:stretch>
        </p:blipFill>
        <p:spPr>
          <a:xfrm>
            <a:off x="6513438" y="2582675"/>
            <a:ext cx="2143125" cy="2143125"/>
          </a:xfrm>
          <a:prstGeom prst="rect">
            <a:avLst/>
          </a:prstGeom>
          <a:noFill/>
          <a:ln>
            <a:noFill/>
          </a:ln>
        </p:spPr>
      </p:pic>
      <p:sp>
        <p:nvSpPr>
          <p:cNvPr id="371" name="Google Shape;371;p52"/>
          <p:cNvSpPr txBox="1"/>
          <p:nvPr/>
        </p:nvSpPr>
        <p:spPr>
          <a:xfrm>
            <a:off x="696325" y="1632425"/>
            <a:ext cx="6694800" cy="2736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2000" b="1">
                <a:solidFill>
                  <a:srgbClr val="1B786E"/>
                </a:solidFill>
                <a:latin typeface="Open Sans"/>
                <a:ea typeface="Open Sans"/>
                <a:cs typeface="Open Sans"/>
                <a:sym typeface="Open Sans"/>
              </a:rPr>
              <a:t>Cuando recogemos los datos muchas veces es imposible relevar la característica de interés de todo el grupo entero (población) o universo, se examina una pequeña parte del grupo, llamada muestra.</a:t>
            </a:r>
            <a:endParaRPr sz="2000" b="1">
              <a:solidFill>
                <a:srgbClr val="1B786E"/>
              </a:solidFill>
              <a:latin typeface="Open Sans"/>
              <a:ea typeface="Open Sans"/>
              <a:cs typeface="Open Sans"/>
              <a:sym typeface="Open Sans"/>
            </a:endParaRPr>
          </a:p>
          <a:p>
            <a:pPr marL="0" lvl="0" indent="0" algn="l" rtl="0">
              <a:lnSpc>
                <a:spcPct val="115000"/>
              </a:lnSpc>
              <a:spcBef>
                <a:spcPts val="0"/>
              </a:spcBef>
              <a:spcAft>
                <a:spcPts val="1600"/>
              </a:spcAft>
              <a:buNone/>
            </a:pPr>
            <a:r>
              <a:rPr lang="es" sz="2000">
                <a:solidFill>
                  <a:schemeClr val="dk1"/>
                </a:solidFill>
                <a:latin typeface="Open Sans"/>
                <a:ea typeface="Open Sans"/>
                <a:cs typeface="Open Sans"/>
                <a:sym typeface="Open Sans"/>
              </a:rPr>
              <a:t>Se denotan los n datos de una muestra: x</a:t>
            </a:r>
            <a:r>
              <a:rPr lang="es" sz="2000" baseline="-25000">
                <a:solidFill>
                  <a:schemeClr val="dk1"/>
                </a:solidFill>
                <a:latin typeface="Open Sans"/>
                <a:ea typeface="Open Sans"/>
                <a:cs typeface="Open Sans"/>
                <a:sym typeface="Open Sans"/>
              </a:rPr>
              <a:t>1</a:t>
            </a:r>
            <a:r>
              <a:rPr lang="es" sz="2000">
                <a:solidFill>
                  <a:schemeClr val="dk1"/>
                </a:solidFill>
                <a:latin typeface="Open Sans"/>
                <a:ea typeface="Open Sans"/>
                <a:cs typeface="Open Sans"/>
                <a:sym typeface="Open Sans"/>
              </a:rPr>
              <a:t>,...x</a:t>
            </a:r>
            <a:r>
              <a:rPr lang="es" sz="2000" baseline="-25000">
                <a:solidFill>
                  <a:schemeClr val="dk1"/>
                </a:solidFill>
                <a:latin typeface="Open Sans"/>
                <a:ea typeface="Open Sans"/>
                <a:cs typeface="Open Sans"/>
                <a:sym typeface="Open Sans"/>
              </a:rPr>
              <a:t>n</a:t>
            </a:r>
            <a:r>
              <a:rPr lang="es" sz="2000">
                <a:solidFill>
                  <a:schemeClr val="dk1"/>
                </a:solidFill>
                <a:latin typeface="Open Sans"/>
                <a:ea typeface="Open Sans"/>
                <a:cs typeface="Open Sans"/>
                <a:sym typeface="Open Sans"/>
              </a:rPr>
              <a:t> (observaciones/realizaciones de la v.a. X)</a:t>
            </a:r>
            <a:endParaRPr sz="2000">
              <a:latin typeface="Open Sans"/>
              <a:ea typeface="Open Sans"/>
              <a:cs typeface="Open Sans"/>
              <a:sym typeface="Open Sans"/>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53"/>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sz="2800" dirty="0">
                <a:latin typeface="+mn-lt"/>
              </a:rPr>
              <a:t>Medidas a partir de datos↔️Medidas </a:t>
            </a:r>
            <a:r>
              <a:rPr lang="es" sz="2800" u="sng" dirty="0">
                <a:latin typeface="+mn-lt"/>
              </a:rPr>
              <a:t>muestrales</a:t>
            </a:r>
            <a:endParaRPr sz="2800" u="sng" dirty="0">
              <a:latin typeface="+mn-lt"/>
            </a:endParaRPr>
          </a:p>
        </p:txBody>
      </p:sp>
      <p:sp>
        <p:nvSpPr>
          <p:cNvPr id="377" name="Google Shape;377;p53"/>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dirty="0"/>
              <a:t>Sean los n datos de una muestra: x</a:t>
            </a:r>
            <a:r>
              <a:rPr lang="es" baseline="-25000" dirty="0"/>
              <a:t>1</a:t>
            </a:r>
            <a:r>
              <a:rPr lang="es" dirty="0"/>
              <a:t>,...x</a:t>
            </a:r>
            <a:r>
              <a:rPr lang="es" baseline="-25000" dirty="0"/>
              <a:t>n</a:t>
            </a:r>
            <a:r>
              <a:rPr lang="es" dirty="0"/>
              <a:t> (observaciones de la v.a.)</a:t>
            </a:r>
            <a:endParaRPr dirty="0"/>
          </a:p>
          <a:p>
            <a:pPr marL="0" lvl="0" indent="0" algn="l" rtl="0">
              <a:spcBef>
                <a:spcPts val="1600"/>
              </a:spcBef>
              <a:spcAft>
                <a:spcPts val="0"/>
              </a:spcAft>
              <a:buNone/>
            </a:pPr>
            <a:r>
              <a:rPr lang="es" b="1" dirty="0">
                <a:solidFill>
                  <a:srgbClr val="1B786E"/>
                </a:solidFill>
              </a:rPr>
              <a:t>Media muestral</a:t>
            </a:r>
            <a:r>
              <a:rPr lang="es" dirty="0"/>
              <a:t> (promedio): x</a:t>
            </a:r>
            <a:r>
              <a:rPr lang="es" baseline="-25000" dirty="0"/>
              <a:t>M</a:t>
            </a:r>
            <a:r>
              <a:rPr lang="es" dirty="0"/>
              <a:t>=∑</a:t>
            </a:r>
            <a:r>
              <a:rPr lang="es" baseline="-25000" dirty="0"/>
              <a:t>i=1</a:t>
            </a:r>
            <a:r>
              <a:rPr lang="es" baseline="30000" dirty="0"/>
              <a:t>n</a:t>
            </a:r>
            <a:r>
              <a:rPr lang="es" dirty="0"/>
              <a:t> x</a:t>
            </a:r>
            <a:r>
              <a:rPr lang="es" baseline="-25000" dirty="0"/>
              <a:t>i</a:t>
            </a:r>
            <a:r>
              <a:rPr lang="es" dirty="0"/>
              <a:t> /n=</a:t>
            </a:r>
            <a:endParaRPr dirty="0"/>
          </a:p>
          <a:p>
            <a:pPr marL="0" lvl="0" indent="0" algn="l" rtl="0">
              <a:spcBef>
                <a:spcPts val="1600"/>
              </a:spcBef>
              <a:spcAft>
                <a:spcPts val="0"/>
              </a:spcAft>
              <a:buNone/>
            </a:pPr>
            <a:r>
              <a:rPr lang="es" b="1" dirty="0">
                <a:solidFill>
                  <a:srgbClr val="1B786E"/>
                </a:solidFill>
              </a:rPr>
              <a:t>Varianza muestral</a:t>
            </a:r>
            <a:r>
              <a:rPr lang="es" dirty="0"/>
              <a:t> : ∑</a:t>
            </a:r>
            <a:r>
              <a:rPr lang="es" baseline="-25000" dirty="0"/>
              <a:t>i=1</a:t>
            </a:r>
            <a:r>
              <a:rPr lang="es" baseline="30000" dirty="0"/>
              <a:t>n</a:t>
            </a:r>
            <a:r>
              <a:rPr lang="es" dirty="0"/>
              <a:t> (x</a:t>
            </a:r>
            <a:r>
              <a:rPr lang="es" baseline="-25000" dirty="0"/>
              <a:t>i</a:t>
            </a:r>
            <a:r>
              <a:rPr lang="es" dirty="0"/>
              <a:t> -x</a:t>
            </a:r>
            <a:r>
              <a:rPr lang="es" baseline="-25000" dirty="0"/>
              <a:t>M</a:t>
            </a:r>
            <a:r>
              <a:rPr lang="es" dirty="0"/>
              <a:t>)</a:t>
            </a:r>
            <a:r>
              <a:rPr lang="es" baseline="30000" dirty="0"/>
              <a:t>2</a:t>
            </a:r>
            <a:r>
              <a:rPr lang="es" dirty="0"/>
              <a:t>/n</a:t>
            </a:r>
            <a:endParaRPr dirty="0"/>
          </a:p>
          <a:p>
            <a:pPr marL="0" lvl="0" indent="0" algn="l" rtl="0">
              <a:spcBef>
                <a:spcPts val="1600"/>
              </a:spcBef>
              <a:spcAft>
                <a:spcPts val="1600"/>
              </a:spcAft>
              <a:buClr>
                <a:schemeClr val="dk1"/>
              </a:buClr>
              <a:buSzPts val="1100"/>
              <a:buFont typeface="Arial"/>
              <a:buNone/>
            </a:pPr>
            <a:endParaRPr dirty="0"/>
          </a:p>
        </p:txBody>
      </p:sp>
      <p:pic>
        <p:nvPicPr>
          <p:cNvPr id="378" name="Google Shape;378;p53" title="This is the rendered form of the equation. You can not edit this directly. Right click will give you the option to save the image, and in most browsers you can drag the image onto your desktop or another program."/>
          <p:cNvPicPr preferRelativeResize="0"/>
          <p:nvPr/>
        </p:nvPicPr>
        <p:blipFill>
          <a:blip r:embed="rId3">
            <a:alphaModFix/>
          </a:blip>
          <a:stretch>
            <a:fillRect/>
          </a:stretch>
        </p:blipFill>
        <p:spPr>
          <a:xfrm>
            <a:off x="5129901" y="1862250"/>
            <a:ext cx="194550" cy="171650"/>
          </a:xfrm>
          <a:prstGeom prst="rect">
            <a:avLst/>
          </a:prstGeom>
          <a:noFill/>
          <a:ln>
            <a:noFill/>
          </a:ln>
        </p:spPr>
      </p:pic>
      <p:pic>
        <p:nvPicPr>
          <p:cNvPr id="379" name="Google Shape;379;p53"/>
          <p:cNvPicPr preferRelativeResize="0"/>
          <p:nvPr/>
        </p:nvPicPr>
        <p:blipFill>
          <a:blip r:embed="rId4">
            <a:alphaModFix/>
          </a:blip>
          <a:stretch>
            <a:fillRect/>
          </a:stretch>
        </p:blipFill>
        <p:spPr>
          <a:xfrm>
            <a:off x="2577725" y="3436338"/>
            <a:ext cx="4392050" cy="1542725"/>
          </a:xfrm>
          <a:prstGeom prst="rect">
            <a:avLst/>
          </a:prstGeom>
          <a:noFill/>
          <a:ln>
            <a:noFill/>
          </a:ln>
        </p:spPr>
      </p:pic>
      <p:pic>
        <p:nvPicPr>
          <p:cNvPr id="380" name="Google Shape;380;p53"/>
          <p:cNvPicPr preferRelativeResize="0"/>
          <p:nvPr/>
        </p:nvPicPr>
        <p:blipFill rotWithShape="1">
          <a:blip r:embed="rId5">
            <a:alphaModFix/>
          </a:blip>
          <a:srcRect l="20745" t="-6070" r="18736" b="48585"/>
          <a:stretch/>
        </p:blipFill>
        <p:spPr>
          <a:xfrm>
            <a:off x="2951700" y="2737800"/>
            <a:ext cx="2763300" cy="721650"/>
          </a:xfrm>
          <a:prstGeom prst="rect">
            <a:avLst/>
          </a:prstGeom>
          <a:noFill/>
          <a:ln>
            <a:noFill/>
          </a:ln>
        </p:spPr>
      </p:pic>
      <p:sp>
        <p:nvSpPr>
          <p:cNvPr id="381" name="Google Shape;381;p53"/>
          <p:cNvSpPr txBox="1">
            <a:spLocks noGrp="1"/>
          </p:cNvSpPr>
          <p:nvPr>
            <p:ph type="body" idx="1"/>
          </p:nvPr>
        </p:nvSpPr>
        <p:spPr>
          <a:xfrm>
            <a:off x="311700" y="2977825"/>
            <a:ext cx="8520600" cy="1542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b="1">
                <a:solidFill>
                  <a:srgbClr val="1B786E"/>
                </a:solidFill>
              </a:rPr>
              <a:t>Asimetría muestral</a:t>
            </a:r>
            <a:endParaRPr b="1">
              <a:solidFill>
                <a:srgbClr val="1B786E"/>
              </a:solidFill>
            </a:endParaRPr>
          </a:p>
          <a:p>
            <a:pPr marL="0" lvl="0" indent="0" algn="l" rtl="0">
              <a:spcBef>
                <a:spcPts val="1600"/>
              </a:spcBef>
              <a:spcAft>
                <a:spcPts val="0"/>
              </a:spcAft>
              <a:buNone/>
            </a:pPr>
            <a:endParaRPr b="1">
              <a:solidFill>
                <a:srgbClr val="1B786E"/>
              </a:solidFill>
            </a:endParaRPr>
          </a:p>
          <a:p>
            <a:pPr marL="0" lvl="0" indent="0" algn="l" rtl="0">
              <a:spcBef>
                <a:spcPts val="1600"/>
              </a:spcBef>
              <a:spcAft>
                <a:spcPts val="0"/>
              </a:spcAft>
              <a:buNone/>
            </a:pPr>
            <a:r>
              <a:rPr lang="es" b="1">
                <a:solidFill>
                  <a:srgbClr val="1B786E"/>
                </a:solidFill>
              </a:rPr>
              <a:t>Curtosis muestral</a:t>
            </a:r>
            <a:endParaRPr b="1">
              <a:solidFill>
                <a:srgbClr val="1B786E"/>
              </a:solidFill>
            </a:endParaRPr>
          </a:p>
          <a:p>
            <a:pPr marL="0" lvl="0" indent="0" algn="l" rtl="0">
              <a:spcBef>
                <a:spcPts val="1600"/>
              </a:spcBef>
              <a:spcAft>
                <a:spcPts val="1600"/>
              </a:spcAft>
              <a:buClr>
                <a:schemeClr val="dk1"/>
              </a:buClr>
              <a:buSzPts val="1100"/>
              <a:buFont typeface="Arial"/>
              <a:buNone/>
            </a:pP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54"/>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Tendencia</a:t>
            </a:r>
            <a:endParaRPr/>
          </a:p>
        </p:txBody>
      </p:sp>
      <p:pic>
        <p:nvPicPr>
          <p:cNvPr id="387" name="Google Shape;387;p54" title="This is the rendered form of the equation. You can not edit this directly. Right click will give you the option to save the image, and in most browsers you can drag the image onto your desktop or another program."/>
          <p:cNvPicPr preferRelativeResize="0"/>
          <p:nvPr/>
        </p:nvPicPr>
        <p:blipFill>
          <a:blip r:embed="rId3">
            <a:alphaModFix/>
          </a:blip>
          <a:stretch>
            <a:fillRect/>
          </a:stretch>
        </p:blipFill>
        <p:spPr>
          <a:xfrm>
            <a:off x="8236176" y="1369175"/>
            <a:ext cx="194550" cy="171650"/>
          </a:xfrm>
          <a:prstGeom prst="rect">
            <a:avLst/>
          </a:prstGeom>
          <a:noFill/>
          <a:ln>
            <a:noFill/>
          </a:ln>
        </p:spPr>
      </p:pic>
      <p:sp>
        <p:nvSpPr>
          <p:cNvPr id="388" name="Google Shape;388;p54"/>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sz="2000">
                <a:latin typeface="Roboto"/>
                <a:ea typeface="Roboto"/>
                <a:cs typeface="Roboto"/>
                <a:sym typeface="Roboto"/>
              </a:rPr>
              <a:t>La tendencia habitual, si los datos están descritos en los términos de     y </a:t>
            </a:r>
            <a:r>
              <a:rPr lang="es" sz="2400"/>
              <a:t>s</a:t>
            </a:r>
            <a:r>
              <a:rPr lang="es" sz="2400" baseline="-25000"/>
              <a:t>X</a:t>
            </a:r>
            <a:r>
              <a:rPr lang="es" sz="2000"/>
              <a:t> (desvío),</a:t>
            </a:r>
            <a:r>
              <a:rPr lang="es" sz="2400"/>
              <a:t> </a:t>
            </a:r>
            <a:r>
              <a:rPr lang="es" sz="2000">
                <a:latin typeface="Roboto"/>
                <a:ea typeface="Roboto"/>
                <a:cs typeface="Roboto"/>
                <a:sym typeface="Roboto"/>
              </a:rPr>
              <a:t>es hacer aquellas típicas inferencias que </a:t>
            </a:r>
            <a:r>
              <a:rPr lang="es" sz="2000" b="1" u="sng">
                <a:solidFill>
                  <a:srgbClr val="1B786E"/>
                </a:solidFill>
                <a:latin typeface="Roboto"/>
                <a:ea typeface="Roboto"/>
                <a:cs typeface="Roboto"/>
                <a:sym typeface="Roboto"/>
              </a:rPr>
              <a:t>sólo son ciertas si la distribución de los datos se ajusta bien a la distribución norma</a:t>
            </a:r>
            <a:r>
              <a:rPr lang="es" sz="2000" u="sng">
                <a:latin typeface="Roboto"/>
                <a:ea typeface="Roboto"/>
                <a:cs typeface="Roboto"/>
                <a:sym typeface="Roboto"/>
              </a:rPr>
              <a:t>l</a:t>
            </a:r>
            <a:r>
              <a:rPr lang="es" sz="2000">
                <a:latin typeface="Roboto"/>
                <a:ea typeface="Roboto"/>
                <a:cs typeface="Roboto"/>
                <a:sym typeface="Roboto"/>
              </a:rPr>
              <a:t>:</a:t>
            </a:r>
            <a:endParaRPr sz="2000">
              <a:latin typeface="Roboto"/>
              <a:ea typeface="Roboto"/>
              <a:cs typeface="Roboto"/>
              <a:sym typeface="Roboto"/>
            </a:endParaRPr>
          </a:p>
          <a:p>
            <a:pPr marL="0" lvl="0" indent="0" algn="l" rtl="0">
              <a:spcBef>
                <a:spcPts val="0"/>
              </a:spcBef>
              <a:spcAft>
                <a:spcPts val="0"/>
              </a:spcAft>
              <a:buClr>
                <a:schemeClr val="dk1"/>
              </a:buClr>
              <a:buSzPts val="1100"/>
              <a:buFont typeface="Arial"/>
              <a:buNone/>
            </a:pPr>
            <a:r>
              <a:rPr lang="es" sz="2000">
                <a:latin typeface="Roboto"/>
                <a:ea typeface="Roboto"/>
                <a:cs typeface="Roboto"/>
                <a:sym typeface="Roboto"/>
              </a:rPr>
              <a:t>● </a:t>
            </a:r>
            <a:r>
              <a:rPr lang="es" sz="2400"/>
              <a:t>  </a:t>
            </a:r>
            <a:r>
              <a:rPr lang="es" sz="2000">
                <a:latin typeface="Roboto"/>
                <a:ea typeface="Roboto"/>
                <a:cs typeface="Roboto"/>
                <a:sym typeface="Roboto"/>
              </a:rPr>
              <a:t>±</a:t>
            </a:r>
            <a:r>
              <a:rPr lang="es" sz="2400"/>
              <a:t>s</a:t>
            </a:r>
            <a:r>
              <a:rPr lang="es" sz="2400" baseline="-25000"/>
              <a:t>X</a:t>
            </a:r>
            <a:r>
              <a:rPr lang="es" sz="2000">
                <a:latin typeface="Roboto"/>
                <a:ea typeface="Roboto"/>
                <a:cs typeface="Roboto"/>
                <a:sym typeface="Roboto"/>
              </a:rPr>
              <a:t> supone el 68.5% aproximadamente de la población,</a:t>
            </a:r>
            <a:endParaRPr sz="2000">
              <a:latin typeface="Roboto"/>
              <a:ea typeface="Roboto"/>
              <a:cs typeface="Roboto"/>
              <a:sym typeface="Roboto"/>
            </a:endParaRPr>
          </a:p>
          <a:p>
            <a:pPr marL="0" lvl="0" indent="0" algn="l" rtl="0">
              <a:spcBef>
                <a:spcPts val="0"/>
              </a:spcBef>
              <a:spcAft>
                <a:spcPts val="0"/>
              </a:spcAft>
              <a:buClr>
                <a:schemeClr val="dk1"/>
              </a:buClr>
              <a:buSzPts val="1100"/>
              <a:buFont typeface="Arial"/>
              <a:buNone/>
            </a:pPr>
            <a:r>
              <a:rPr lang="es" sz="2000">
                <a:latin typeface="Roboto"/>
                <a:ea typeface="Roboto"/>
                <a:cs typeface="Roboto"/>
                <a:sym typeface="Roboto"/>
              </a:rPr>
              <a:t>● </a:t>
            </a:r>
            <a:r>
              <a:rPr lang="es" sz="2400"/>
              <a:t>  </a:t>
            </a:r>
            <a:r>
              <a:rPr lang="es" sz="2000">
                <a:latin typeface="Roboto"/>
                <a:ea typeface="Roboto"/>
                <a:cs typeface="Roboto"/>
                <a:sym typeface="Roboto"/>
              </a:rPr>
              <a:t>±2</a:t>
            </a:r>
            <a:r>
              <a:rPr lang="es" sz="2400"/>
              <a:t>s</a:t>
            </a:r>
            <a:r>
              <a:rPr lang="es" sz="2400" baseline="-25000"/>
              <a:t>X</a:t>
            </a:r>
            <a:r>
              <a:rPr lang="es" sz="2000">
                <a:latin typeface="Roboto"/>
                <a:ea typeface="Roboto"/>
                <a:cs typeface="Roboto"/>
                <a:sym typeface="Roboto"/>
              </a:rPr>
              <a:t> supone el 95% aproximadamente de la población</a:t>
            </a:r>
            <a:endParaRPr sz="2000">
              <a:latin typeface="Roboto"/>
              <a:ea typeface="Roboto"/>
              <a:cs typeface="Roboto"/>
              <a:sym typeface="Roboto"/>
            </a:endParaRPr>
          </a:p>
          <a:p>
            <a:pPr marL="0" lvl="0" indent="0" algn="l" rtl="0">
              <a:spcBef>
                <a:spcPts val="0"/>
              </a:spcBef>
              <a:spcAft>
                <a:spcPts val="0"/>
              </a:spcAft>
              <a:buClr>
                <a:schemeClr val="dk1"/>
              </a:buClr>
              <a:buSzPts val="1100"/>
              <a:buFont typeface="Arial"/>
              <a:buNone/>
            </a:pPr>
            <a:r>
              <a:rPr lang="es" sz="2000">
                <a:latin typeface="Roboto"/>
                <a:ea typeface="Roboto"/>
                <a:cs typeface="Roboto"/>
                <a:sym typeface="Roboto"/>
              </a:rPr>
              <a:t>● </a:t>
            </a:r>
            <a:r>
              <a:rPr lang="es" sz="2400"/>
              <a:t>  </a:t>
            </a:r>
            <a:r>
              <a:rPr lang="es" sz="2000">
                <a:latin typeface="Roboto"/>
                <a:ea typeface="Roboto"/>
                <a:cs typeface="Roboto"/>
                <a:sym typeface="Roboto"/>
              </a:rPr>
              <a:t>±3</a:t>
            </a:r>
            <a:r>
              <a:rPr lang="es" sz="2400"/>
              <a:t>s</a:t>
            </a:r>
            <a:r>
              <a:rPr lang="es" sz="2400" baseline="-25000"/>
              <a:t>X</a:t>
            </a:r>
            <a:r>
              <a:rPr lang="es" sz="2000">
                <a:latin typeface="Roboto"/>
                <a:ea typeface="Roboto"/>
                <a:cs typeface="Roboto"/>
                <a:sym typeface="Roboto"/>
              </a:rPr>
              <a:t> supone el 99.5% aproximadamente de la población</a:t>
            </a:r>
            <a:endParaRPr sz="2000">
              <a:latin typeface="Roboto"/>
              <a:ea typeface="Roboto"/>
              <a:cs typeface="Roboto"/>
              <a:sym typeface="Roboto"/>
            </a:endParaRPr>
          </a:p>
          <a:p>
            <a:pPr marL="0" lvl="0" indent="0" algn="l" rtl="0">
              <a:spcBef>
                <a:spcPts val="0"/>
              </a:spcBef>
              <a:spcAft>
                <a:spcPts val="1600"/>
              </a:spcAft>
              <a:buNone/>
            </a:pPr>
            <a:endParaRPr sz="2000"/>
          </a:p>
        </p:txBody>
      </p:sp>
      <p:pic>
        <p:nvPicPr>
          <p:cNvPr id="389" name="Google Shape;389;p54" title="This is the rendered form of the equation. You can not edit this directly. Right click will give you the option to save the image, and in most browsers you can drag the image onto your desktop or another program."/>
          <p:cNvPicPr preferRelativeResize="0"/>
          <p:nvPr/>
        </p:nvPicPr>
        <p:blipFill>
          <a:blip r:embed="rId3">
            <a:alphaModFix/>
          </a:blip>
          <a:stretch>
            <a:fillRect/>
          </a:stretch>
        </p:blipFill>
        <p:spPr>
          <a:xfrm>
            <a:off x="575851" y="2592850"/>
            <a:ext cx="194550" cy="171650"/>
          </a:xfrm>
          <a:prstGeom prst="rect">
            <a:avLst/>
          </a:prstGeom>
          <a:noFill/>
          <a:ln>
            <a:noFill/>
          </a:ln>
        </p:spPr>
      </p:pic>
      <p:pic>
        <p:nvPicPr>
          <p:cNvPr id="390" name="Google Shape;390;p54" title="This is the rendered form of the equation. You can not edit this directly. Right click will give you the option to save the image, and in most browsers you can drag the image onto your desktop or another program."/>
          <p:cNvPicPr preferRelativeResize="0"/>
          <p:nvPr/>
        </p:nvPicPr>
        <p:blipFill>
          <a:blip r:embed="rId3">
            <a:alphaModFix/>
          </a:blip>
          <a:stretch>
            <a:fillRect/>
          </a:stretch>
        </p:blipFill>
        <p:spPr>
          <a:xfrm>
            <a:off x="575851" y="2973850"/>
            <a:ext cx="194550" cy="171650"/>
          </a:xfrm>
          <a:prstGeom prst="rect">
            <a:avLst/>
          </a:prstGeom>
          <a:noFill/>
          <a:ln>
            <a:noFill/>
          </a:ln>
        </p:spPr>
      </p:pic>
      <p:pic>
        <p:nvPicPr>
          <p:cNvPr id="391" name="Google Shape;391;p54" title="This is the rendered form of the equation. You can not edit this directly. Right click will give you the option to save the image, and in most browsers you can drag the image onto your desktop or another program."/>
          <p:cNvPicPr preferRelativeResize="0"/>
          <p:nvPr/>
        </p:nvPicPr>
        <p:blipFill>
          <a:blip r:embed="rId3">
            <a:alphaModFix/>
          </a:blip>
          <a:stretch>
            <a:fillRect/>
          </a:stretch>
        </p:blipFill>
        <p:spPr>
          <a:xfrm>
            <a:off x="575851" y="3431050"/>
            <a:ext cx="194550" cy="17165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p55"/>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dirty="0">
                <a:latin typeface="+mn-lt"/>
              </a:rPr>
              <a:t>Bondad de ajuste</a:t>
            </a:r>
            <a:endParaRPr dirty="0">
              <a:latin typeface="+mn-lt"/>
            </a:endParaRPr>
          </a:p>
        </p:txBody>
      </p:sp>
      <p:sp>
        <p:nvSpPr>
          <p:cNvPr id="397" name="Google Shape;397;p55"/>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sz="2000" dirty="0">
                <a:latin typeface="Roboto"/>
                <a:ea typeface="Roboto"/>
                <a:cs typeface="Roboto"/>
                <a:sym typeface="Roboto"/>
              </a:rPr>
              <a:t>Resumen la discrepancia entre los valores observados y los valores esperados en el modelo de estudio.</a:t>
            </a:r>
            <a:endParaRPr sz="2000" dirty="0">
              <a:latin typeface="Roboto"/>
              <a:ea typeface="Roboto"/>
              <a:cs typeface="Roboto"/>
              <a:sym typeface="Roboto"/>
            </a:endParaRPr>
          </a:p>
          <a:p>
            <a:pPr marL="457200" lvl="0" indent="-355600" algn="l" rtl="0">
              <a:spcBef>
                <a:spcPts val="0"/>
              </a:spcBef>
              <a:spcAft>
                <a:spcPts val="0"/>
              </a:spcAft>
              <a:buSzPts val="2000"/>
              <a:buFont typeface="Roboto"/>
              <a:buChar char="●"/>
            </a:pPr>
            <a:r>
              <a:rPr lang="es" sz="2000" dirty="0">
                <a:latin typeface="Roboto"/>
                <a:ea typeface="Roboto"/>
                <a:cs typeface="Roboto"/>
                <a:sym typeface="Roboto"/>
              </a:rPr>
              <a:t>Gráficos QQ </a:t>
            </a:r>
            <a:r>
              <a:rPr lang="es" sz="2000" dirty="0">
                <a:solidFill>
                  <a:srgbClr val="999999"/>
                </a:solidFill>
                <a:latin typeface="Roboto"/>
                <a:ea typeface="Roboto"/>
                <a:cs typeface="Roboto"/>
                <a:sym typeface="Roboto"/>
              </a:rPr>
              <a:t>( Quantil muestral vs Quantil modelo)</a:t>
            </a:r>
            <a:endParaRPr sz="2000" dirty="0">
              <a:solidFill>
                <a:srgbClr val="999999"/>
              </a:solidFill>
              <a:latin typeface="Roboto"/>
              <a:ea typeface="Roboto"/>
              <a:cs typeface="Roboto"/>
              <a:sym typeface="Roboto"/>
            </a:endParaRPr>
          </a:p>
          <a:p>
            <a:pPr marL="457200" lvl="0" indent="0" algn="l" rtl="0">
              <a:spcBef>
                <a:spcPts val="0"/>
              </a:spcBef>
              <a:spcAft>
                <a:spcPts val="0"/>
              </a:spcAft>
              <a:buNone/>
            </a:pPr>
            <a:endParaRPr sz="2000" dirty="0">
              <a:latin typeface="Roboto"/>
              <a:ea typeface="Roboto"/>
              <a:cs typeface="Roboto"/>
              <a:sym typeface="Roboto"/>
            </a:endParaRPr>
          </a:p>
          <a:p>
            <a:pPr marL="0" lvl="0" indent="0" algn="l" rtl="0">
              <a:spcBef>
                <a:spcPts val="0"/>
              </a:spcBef>
              <a:spcAft>
                <a:spcPts val="0"/>
              </a:spcAft>
              <a:buClr>
                <a:schemeClr val="dk1"/>
              </a:buClr>
              <a:buSzPts val="1100"/>
              <a:buFont typeface="Arial"/>
              <a:buNone/>
            </a:pPr>
            <a:r>
              <a:rPr lang="es" sz="2000" dirty="0">
                <a:latin typeface="Roboto"/>
                <a:ea typeface="Roboto"/>
                <a:cs typeface="Roboto"/>
                <a:sym typeface="Roboto"/>
              </a:rPr>
              <a:t>Dentro de los test más usados para normalidad: </a:t>
            </a:r>
            <a:endParaRPr sz="2000" dirty="0">
              <a:solidFill>
                <a:srgbClr val="B7B7B7"/>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2000" dirty="0">
              <a:solidFill>
                <a:srgbClr val="B7B7B7"/>
              </a:solidFill>
              <a:latin typeface="Roboto"/>
              <a:ea typeface="Roboto"/>
              <a:cs typeface="Roboto"/>
              <a:sym typeface="Roboto"/>
            </a:endParaRPr>
          </a:p>
          <a:p>
            <a:pPr marL="457200" lvl="0" indent="-355600" algn="l" rtl="0">
              <a:spcBef>
                <a:spcPts val="0"/>
              </a:spcBef>
              <a:spcAft>
                <a:spcPts val="0"/>
              </a:spcAft>
              <a:buSzPts val="2000"/>
              <a:buFont typeface="Roboto"/>
              <a:buChar char="●"/>
            </a:pPr>
            <a:r>
              <a:rPr lang="es" sz="2000" dirty="0">
                <a:latin typeface="Roboto"/>
                <a:ea typeface="Roboto"/>
                <a:cs typeface="Roboto"/>
                <a:sym typeface="Roboto"/>
              </a:rPr>
              <a:t>Test de Kolmogorov-Smirnov (Test KS)</a:t>
            </a:r>
            <a:endParaRPr sz="2000" dirty="0">
              <a:latin typeface="Roboto"/>
              <a:ea typeface="Roboto"/>
              <a:cs typeface="Roboto"/>
              <a:sym typeface="Roboto"/>
            </a:endParaRPr>
          </a:p>
          <a:p>
            <a:pPr marL="0" lvl="0" indent="0" algn="l" rtl="0">
              <a:spcBef>
                <a:spcPts val="0"/>
              </a:spcBef>
              <a:spcAft>
                <a:spcPts val="0"/>
              </a:spcAft>
              <a:buNone/>
            </a:pPr>
            <a:endParaRPr sz="2000" dirty="0">
              <a:latin typeface="Roboto"/>
              <a:ea typeface="Roboto"/>
              <a:cs typeface="Roboto"/>
              <a:sym typeface="Roboto"/>
            </a:endParaRPr>
          </a:p>
          <a:p>
            <a:pPr marL="0" lvl="0" indent="0" algn="l" rtl="0">
              <a:spcBef>
                <a:spcPts val="0"/>
              </a:spcBef>
              <a:spcAft>
                <a:spcPts val="0"/>
              </a:spcAft>
              <a:buClr>
                <a:schemeClr val="dk1"/>
              </a:buClr>
              <a:buSzPts val="1100"/>
              <a:buFont typeface="Arial"/>
              <a:buNone/>
            </a:pPr>
            <a:r>
              <a:rPr lang="es" sz="2000" dirty="0">
                <a:solidFill>
                  <a:srgbClr val="B7B7B7"/>
                </a:solidFill>
                <a:latin typeface="Roboto"/>
                <a:ea typeface="Roboto"/>
                <a:cs typeface="Roboto"/>
                <a:sym typeface="Roboto"/>
              </a:rPr>
              <a:t>(En próxima semana veremos Test de Hipótesis)</a:t>
            </a:r>
            <a:endParaRPr sz="2000" dirty="0">
              <a:latin typeface="Roboto"/>
              <a:ea typeface="Roboto"/>
              <a:cs typeface="Roboto"/>
              <a:sym typeface="Roboto"/>
            </a:endParaRPr>
          </a:p>
          <a:p>
            <a:pPr marL="0" lvl="0" indent="0" algn="l" rtl="0">
              <a:spcBef>
                <a:spcPts val="0"/>
              </a:spcBef>
              <a:spcAft>
                <a:spcPts val="0"/>
              </a:spcAft>
              <a:buNone/>
            </a:pPr>
            <a:endParaRPr sz="2000" dirty="0">
              <a:latin typeface="Roboto"/>
              <a:ea typeface="Roboto"/>
              <a:cs typeface="Roboto"/>
              <a:sym typeface="Roboto"/>
            </a:endParaRPr>
          </a:p>
          <a:p>
            <a:pPr marL="0" lvl="0" indent="0" algn="l" rtl="0">
              <a:spcBef>
                <a:spcPts val="0"/>
              </a:spcBef>
              <a:spcAft>
                <a:spcPts val="1600"/>
              </a:spcAft>
              <a:buNone/>
            </a:pPr>
            <a:endParaRPr sz="2000" dirty="0"/>
          </a:p>
        </p:txBody>
      </p:sp>
    </p:spTree>
  </p:cSld>
  <p:clrMapOvr>
    <a:masterClrMapping/>
  </p:clrMapOvr>
</p:sld>
</file>

<file path=ppt/theme/theme1.xml><?xml version="1.0" encoding="utf-8"?>
<a:theme xmlns:a="http://schemas.openxmlformats.org/drawingml/2006/main" name="Luxe">
  <a:themeElements>
    <a:clrScheme name="Luxe">
      <a:dk1>
        <a:srgbClr val="000000"/>
      </a:dk1>
      <a:lt1>
        <a:srgbClr val="FFFFFF"/>
      </a:lt1>
      <a:dk2>
        <a:srgbClr val="B7B7B7"/>
      </a:dk2>
      <a:lt2>
        <a:srgbClr val="CCA677"/>
      </a:lt2>
      <a:accent1>
        <a:srgbClr val="5D4037"/>
      </a:accent1>
      <a:accent2>
        <a:srgbClr val="455A64"/>
      </a:accent2>
      <a:accent3>
        <a:srgbClr val="607D8B"/>
      </a:accent3>
      <a:accent4>
        <a:srgbClr val="78909C"/>
      </a:accent4>
      <a:accent5>
        <a:srgbClr val="57BB8A"/>
      </a:accent5>
      <a:accent6>
        <a:srgbClr val="DCE755"/>
      </a:accent6>
      <a:hlink>
        <a:srgbClr val="57BB8A"/>
      </a:hlink>
      <a:folHlink>
        <a:srgbClr val="57BB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98</TotalTime>
  <Words>2965</Words>
  <Application>Microsoft Office PowerPoint</Application>
  <PresentationFormat>Presentación en pantalla (16:9)</PresentationFormat>
  <Paragraphs>259</Paragraphs>
  <Slides>42</Slides>
  <Notes>41</Notes>
  <HiddenSlides>1</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42</vt:i4>
      </vt:variant>
    </vt:vector>
  </HeadingPairs>
  <TitlesOfParts>
    <vt:vector size="50" baseType="lpstr">
      <vt:lpstr>Trebuchet MS</vt:lpstr>
      <vt:lpstr>Arial</vt:lpstr>
      <vt:lpstr>Roboto</vt:lpstr>
      <vt:lpstr>Open Sans</vt:lpstr>
      <vt:lpstr>Gill Sans MT</vt:lpstr>
      <vt:lpstr>system-ui</vt:lpstr>
      <vt:lpstr>Economica</vt:lpstr>
      <vt:lpstr>Luxe</vt:lpstr>
      <vt:lpstr>Presentación de PowerPoint</vt:lpstr>
      <vt:lpstr>Presentación de PowerPoint</vt:lpstr>
      <vt:lpstr>Estadística Descriptiva</vt:lpstr>
      <vt:lpstr>Presentación de PowerPoint</vt:lpstr>
      <vt:lpstr>Medidas de tendencia central</vt:lpstr>
      <vt:lpstr>Medidas de tendencia central</vt:lpstr>
      <vt:lpstr>Medidas de tendencia central</vt:lpstr>
      <vt:lpstr>Medidas de posición</vt:lpstr>
      <vt:lpstr>Medidas de dispersión</vt:lpstr>
      <vt:lpstr>Medidas de dispersión</vt:lpstr>
      <vt:lpstr>Usos de los percentiles y rangos</vt:lpstr>
      <vt:lpstr>Demo con Notebook  EL460_Datos_y_Modelos_2025.ipynb</vt:lpstr>
      <vt:lpstr>En una frase: ¿Cuánto cobran l@s programadores en un país como Argentina o Colombia?</vt:lpstr>
      <vt:lpstr>¿Respuestas? ¿Qué pregunta respondimos en realidad?</vt:lpstr>
      <vt:lpstr>¿Cuánto cobran l@s programadores experimentados en un país como Argentina?</vt:lpstr>
      <vt:lpstr>¿Afecta el nivel de estudios en el salario de l@s programador@s en un país como Argentina? ¿Cómo? </vt:lpstr>
      <vt:lpstr>Teoría, datos, experimentos, simulación...  ¿Que es todo esto y cómo se combinan? </vt:lpstr>
      <vt:lpstr>Variable Aleatoria (discreta numérica) </vt:lpstr>
      <vt:lpstr>Variable Aleatoria (repetición del experimento)</vt:lpstr>
      <vt:lpstr>Variable Aleatoria (repetición del experimento)</vt:lpstr>
      <vt:lpstr>Variable Aleatoria (modelo matemático)</vt:lpstr>
      <vt:lpstr>Variable binomial </vt:lpstr>
      <vt:lpstr>Función de Distribución Acumulada </vt:lpstr>
      <vt:lpstr>Función de densidad</vt:lpstr>
      <vt:lpstr>Propiedades de función de densidad</vt:lpstr>
      <vt:lpstr>Distribución Uniforme</vt:lpstr>
      <vt:lpstr>Distribución Normal o Gaussiana</vt:lpstr>
      <vt:lpstr>Distribución Normal o Gaussiana</vt:lpstr>
      <vt:lpstr>Distribución Exponencial (caso especial de Gamma)</vt:lpstr>
      <vt:lpstr>Distribución Chi Cuadrado </vt:lpstr>
      <vt:lpstr>Medidas estadísticas de una v.a. o de una densidad</vt:lpstr>
      <vt:lpstr>Media</vt:lpstr>
      <vt:lpstr>Mediana</vt:lpstr>
      <vt:lpstr>Moda</vt:lpstr>
      <vt:lpstr>Comparación de Medidas</vt:lpstr>
      <vt:lpstr>Otras Medidas, del modelo (de una v.a.)</vt:lpstr>
      <vt:lpstr>Percentiles</vt:lpstr>
      <vt:lpstr>Algunas propiedades de v.a. y su distribución</vt:lpstr>
      <vt:lpstr>Población y muestra</vt:lpstr>
      <vt:lpstr>Medidas a partir de datos↔️Medidas muestrales</vt:lpstr>
      <vt:lpstr>Tendencia</vt:lpstr>
      <vt:lpstr>Bondad de ajuste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cp:lastModifiedBy>José Ramon Iglesias Gamarra</cp:lastModifiedBy>
  <cp:revision>6</cp:revision>
  <dcterms:modified xsi:type="dcterms:W3CDTF">2026-07-07T17:28:24Z</dcterms:modified>
</cp:coreProperties>
</file>